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72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12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3.png"/><Relationship Id="rId14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50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712595" cy="161505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612392" cy="147827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09103" y="0"/>
            <a:ext cx="1834896" cy="157543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82255" y="0"/>
            <a:ext cx="1761744" cy="143865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70903" y="0"/>
            <a:ext cx="2099691" cy="104203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42658" y="0"/>
            <a:ext cx="1925561" cy="906487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3087653"/>
            <a:ext cx="2148459" cy="205737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3124047"/>
            <a:ext cx="2046338" cy="2020975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037831" y="3547927"/>
            <a:ext cx="2106168" cy="1597096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10983" y="3584447"/>
            <a:ext cx="2033016" cy="1560576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0" y="3160792"/>
            <a:ext cx="1008494" cy="1984231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0" y="3199342"/>
            <a:ext cx="907986" cy="1945682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96695" y="569912"/>
            <a:ext cx="6904990" cy="38296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79244" y="813333"/>
            <a:ext cx="5536565" cy="2908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FFDDB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FFDDB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FFDDB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FFDDB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FFDDB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027544" y="1876805"/>
            <a:ext cx="2004059" cy="3013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FFDDB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5405"/>
          </a:xfrm>
          <a:custGeom>
            <a:avLst/>
            <a:gdLst/>
            <a:ahLst/>
            <a:cxnLst/>
            <a:rect l="l" t="t" r="r" b="b"/>
            <a:pathLst>
              <a:path w="9144000" h="5145405">
                <a:moveTo>
                  <a:pt x="9144000" y="0"/>
                </a:moveTo>
                <a:lnTo>
                  <a:pt x="0" y="0"/>
                </a:lnTo>
                <a:lnTo>
                  <a:pt x="0" y="5145024"/>
                </a:lnTo>
                <a:lnTo>
                  <a:pt x="9144000" y="5145024"/>
                </a:lnTo>
                <a:lnTo>
                  <a:pt x="9144000" y="0"/>
                </a:lnTo>
                <a:close/>
              </a:path>
            </a:pathLst>
          </a:custGeom>
          <a:solidFill>
            <a:srgbClr val="52341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60697"/>
            <a:ext cx="1855851" cy="148432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697223"/>
            <a:ext cx="1755648" cy="14478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09103" y="0"/>
            <a:ext cx="1834896" cy="157543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82255" y="0"/>
            <a:ext cx="1761744" cy="143865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70903" y="0"/>
            <a:ext cx="2099691" cy="104203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42658" y="0"/>
            <a:ext cx="1925561" cy="906487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3160792"/>
            <a:ext cx="1008494" cy="1984231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3199342"/>
            <a:ext cx="907986" cy="194568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3087653"/>
            <a:ext cx="2148459" cy="205737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3124047"/>
            <a:ext cx="2046338" cy="2020975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3631" y="0"/>
            <a:ext cx="755484" cy="1468881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4828" y="0"/>
            <a:ext cx="581927" cy="133223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90143" y="417575"/>
            <a:ext cx="7840853" cy="30431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50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57147" y="426846"/>
            <a:ext cx="7029704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FFDDB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6259" y="1018692"/>
            <a:ext cx="7143115" cy="25770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FFDDB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12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" Type="http://schemas.openxmlformats.org/officeDocument/2006/relationships/image" Target="../media/image40.pn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29" Type="http://schemas.openxmlformats.org/officeDocument/2006/relationships/image" Target="../media/image6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61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28" Type="http://schemas.openxmlformats.org/officeDocument/2006/relationships/image" Target="../media/image65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31" Type="http://schemas.openxmlformats.org/officeDocument/2006/relationships/image" Target="../media/image68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png"/><Relationship Id="rId30" Type="http://schemas.openxmlformats.org/officeDocument/2006/relationships/image" Target="../media/image6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5" Type="http://schemas.openxmlformats.org/officeDocument/2006/relationships/image" Target="../media/image70.png"/><Relationship Id="rId10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12.pn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10" Type="http://schemas.openxmlformats.org/officeDocument/2006/relationships/image" Target="../media/image80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82.png"/><Relationship Id="rId7" Type="http://schemas.openxmlformats.org/officeDocument/2006/relationships/image" Target="../media/image74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8.png"/><Relationship Id="rId10" Type="http://schemas.openxmlformats.org/officeDocument/2006/relationships/image" Target="../media/image85.png"/><Relationship Id="rId4" Type="http://schemas.openxmlformats.org/officeDocument/2006/relationships/image" Target="../media/image77.png"/><Relationship Id="rId9" Type="http://schemas.openxmlformats.org/officeDocument/2006/relationships/image" Target="../media/image8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12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image" Target="../media/image87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3.png"/><Relationship Id="rId14" Type="http://schemas.openxmlformats.org/officeDocument/2006/relationships/image" Target="../media/image8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18" Type="http://schemas.openxmlformats.org/officeDocument/2006/relationships/image" Target="../media/image104.png"/><Relationship Id="rId3" Type="http://schemas.openxmlformats.org/officeDocument/2006/relationships/image" Target="../media/image89.png"/><Relationship Id="rId21" Type="http://schemas.openxmlformats.org/officeDocument/2006/relationships/image" Target="../media/image107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" Type="http://schemas.openxmlformats.org/officeDocument/2006/relationships/image" Target="../media/image88.png"/><Relationship Id="rId16" Type="http://schemas.openxmlformats.org/officeDocument/2006/relationships/image" Target="../media/image102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19" Type="http://schemas.openxmlformats.org/officeDocument/2006/relationships/image" Target="../media/image105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Relationship Id="rId22" Type="http://schemas.openxmlformats.org/officeDocument/2006/relationships/image" Target="../media/image10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18" Type="http://schemas.openxmlformats.org/officeDocument/2006/relationships/image" Target="../media/image125.png"/><Relationship Id="rId26" Type="http://schemas.openxmlformats.org/officeDocument/2006/relationships/image" Target="../media/image133.png"/><Relationship Id="rId3" Type="http://schemas.openxmlformats.org/officeDocument/2006/relationships/image" Target="../media/image110.png"/><Relationship Id="rId21" Type="http://schemas.openxmlformats.org/officeDocument/2006/relationships/image" Target="../media/image128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17" Type="http://schemas.openxmlformats.org/officeDocument/2006/relationships/image" Target="../media/image124.png"/><Relationship Id="rId25" Type="http://schemas.openxmlformats.org/officeDocument/2006/relationships/image" Target="../media/image132.png"/><Relationship Id="rId2" Type="http://schemas.openxmlformats.org/officeDocument/2006/relationships/image" Target="../media/image109.png"/><Relationship Id="rId16" Type="http://schemas.openxmlformats.org/officeDocument/2006/relationships/image" Target="../media/image123.png"/><Relationship Id="rId20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24" Type="http://schemas.openxmlformats.org/officeDocument/2006/relationships/image" Target="../media/image131.pn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23" Type="http://schemas.openxmlformats.org/officeDocument/2006/relationships/image" Target="../media/image130.png"/><Relationship Id="rId28" Type="http://schemas.openxmlformats.org/officeDocument/2006/relationships/image" Target="../media/image135.png"/><Relationship Id="rId10" Type="http://schemas.openxmlformats.org/officeDocument/2006/relationships/image" Target="../media/image117.png"/><Relationship Id="rId19" Type="http://schemas.openxmlformats.org/officeDocument/2006/relationships/image" Target="../media/image126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Relationship Id="rId22" Type="http://schemas.openxmlformats.org/officeDocument/2006/relationships/image" Target="../media/image129.png"/><Relationship Id="rId27" Type="http://schemas.openxmlformats.org/officeDocument/2006/relationships/image" Target="../media/image1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12" Type="http://schemas.openxmlformats.org/officeDocument/2006/relationships/image" Target="../media/image146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0.png"/><Relationship Id="rId11" Type="http://schemas.openxmlformats.org/officeDocument/2006/relationships/image" Target="../media/image145.png"/><Relationship Id="rId5" Type="http://schemas.openxmlformats.org/officeDocument/2006/relationships/image" Target="../media/image139.png"/><Relationship Id="rId10" Type="http://schemas.openxmlformats.org/officeDocument/2006/relationships/image" Target="../media/image144.png"/><Relationship Id="rId4" Type="http://schemas.openxmlformats.org/officeDocument/2006/relationships/image" Target="../media/image138.png"/><Relationship Id="rId9" Type="http://schemas.openxmlformats.org/officeDocument/2006/relationships/image" Target="../media/image1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1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15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149.png"/><Relationship Id="rId5" Type="http://schemas.openxmlformats.org/officeDocument/2006/relationships/image" Target="../media/image74.png"/><Relationship Id="rId10" Type="http://schemas.openxmlformats.org/officeDocument/2006/relationships/image" Target="../media/image148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62.png"/><Relationship Id="rId3" Type="http://schemas.openxmlformats.org/officeDocument/2006/relationships/image" Target="../media/image152.png"/><Relationship Id="rId7" Type="http://schemas.openxmlformats.org/officeDocument/2006/relationships/image" Target="../media/image156.png"/><Relationship Id="rId12" Type="http://schemas.openxmlformats.org/officeDocument/2006/relationships/image" Target="../media/image161.png"/><Relationship Id="rId17" Type="http://schemas.openxmlformats.org/officeDocument/2006/relationships/image" Target="../media/image163.png"/><Relationship Id="rId2" Type="http://schemas.openxmlformats.org/officeDocument/2006/relationships/image" Target="../media/image151.png"/><Relationship Id="rId16" Type="http://schemas.openxmlformats.org/officeDocument/2006/relationships/hyperlink" Target="http://bit.ly/2TtBDfr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11" Type="http://schemas.openxmlformats.org/officeDocument/2006/relationships/image" Target="../media/image160.png"/><Relationship Id="rId5" Type="http://schemas.openxmlformats.org/officeDocument/2006/relationships/image" Target="../media/image154.png"/><Relationship Id="rId15" Type="http://schemas.openxmlformats.org/officeDocument/2006/relationships/hyperlink" Target="http://bit.ly/2TyoMsr" TargetMode="External"/><Relationship Id="rId10" Type="http://schemas.openxmlformats.org/officeDocument/2006/relationships/image" Target="../media/image159.png"/><Relationship Id="rId4" Type="http://schemas.openxmlformats.org/officeDocument/2006/relationships/image" Target="../media/image153.png"/><Relationship Id="rId9" Type="http://schemas.openxmlformats.org/officeDocument/2006/relationships/image" Target="../media/image158.png"/><Relationship Id="rId14" Type="http://schemas.openxmlformats.org/officeDocument/2006/relationships/hyperlink" Target="https://bit.ly/3A1uf1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12700" marR="5080" algn="ctr">
              <a:lnSpc>
                <a:spcPct val="85100"/>
              </a:lnSpc>
              <a:spcBef>
                <a:spcPts val="1365"/>
              </a:spcBef>
            </a:pPr>
            <a:r>
              <a:rPr sz="7000" spc="355" dirty="0"/>
              <a:t>BrightLearn </a:t>
            </a:r>
            <a:r>
              <a:rPr sz="7000" spc="455" dirty="0"/>
              <a:t>Coffee </a:t>
            </a:r>
            <a:r>
              <a:rPr sz="7000" spc="325" dirty="0"/>
              <a:t>Analysis</a:t>
            </a:r>
            <a:endParaRPr sz="7000"/>
          </a:p>
        </p:txBody>
      </p:sp>
      <p:sp>
        <p:nvSpPr>
          <p:cNvPr id="3" name="object 3"/>
          <p:cNvSpPr txBox="1"/>
          <p:nvPr/>
        </p:nvSpPr>
        <p:spPr>
          <a:xfrm>
            <a:off x="3308096" y="3994810"/>
            <a:ext cx="2075814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3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600" b="1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55" dirty="0">
                <a:solidFill>
                  <a:srgbClr val="FFFFFF"/>
                </a:solidFill>
                <a:latin typeface="Tahoma"/>
                <a:cs typeface="Tahoma"/>
              </a:rPr>
              <a:t>Ramovha</a:t>
            </a:r>
            <a:r>
              <a:rPr sz="1600" b="1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25" dirty="0">
                <a:solidFill>
                  <a:srgbClr val="FFFFFF"/>
                </a:solidFill>
                <a:latin typeface="Tahoma"/>
                <a:cs typeface="Tahoma"/>
              </a:rPr>
              <a:t>Rotondwa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07807" y="0"/>
            <a:ext cx="1536192" cy="123101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0959" y="0"/>
            <a:ext cx="1463040" cy="109423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4084320"/>
            <a:ext cx="1344295" cy="1061085"/>
            <a:chOff x="0" y="4084320"/>
            <a:chExt cx="1344295" cy="106108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4084320"/>
              <a:ext cx="1343787" cy="10607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120896"/>
              <a:ext cx="1243584" cy="1024128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848600" y="3813103"/>
            <a:ext cx="1295400" cy="1332230"/>
            <a:chOff x="7848600" y="3813103"/>
            <a:chExt cx="1295400" cy="133223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48600" y="3813103"/>
              <a:ext cx="1295400" cy="13319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19872" y="3850538"/>
              <a:ext cx="1224127" cy="1294484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0" y="18287"/>
            <a:ext cx="1532890" cy="1359535"/>
            <a:chOff x="0" y="18287"/>
            <a:chExt cx="1532890" cy="1359535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18287"/>
              <a:ext cx="1532763" cy="13590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55371"/>
              <a:ext cx="1431608" cy="1187246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632959" y="3026663"/>
            <a:ext cx="972185" cy="972185"/>
            <a:chOff x="4632959" y="3026663"/>
            <a:chExt cx="972185" cy="972185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32959" y="3026663"/>
              <a:ext cx="972019" cy="97201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28971" y="3092195"/>
              <a:ext cx="759460" cy="759460"/>
            </a:xfrm>
            <a:custGeom>
              <a:avLst/>
              <a:gdLst/>
              <a:ahLst/>
              <a:cxnLst/>
              <a:rect l="l" t="t" r="r" b="b"/>
              <a:pathLst>
                <a:path w="759460" h="759460">
                  <a:moveTo>
                    <a:pt x="379475" y="0"/>
                  </a:moveTo>
                  <a:lnTo>
                    <a:pt x="331881" y="2957"/>
                  </a:lnTo>
                  <a:lnTo>
                    <a:pt x="286048" y="11591"/>
                  </a:lnTo>
                  <a:lnTo>
                    <a:pt x="242334" y="25546"/>
                  </a:lnTo>
                  <a:lnTo>
                    <a:pt x="201095" y="44467"/>
                  </a:lnTo>
                  <a:lnTo>
                    <a:pt x="162685" y="67997"/>
                  </a:lnTo>
                  <a:lnTo>
                    <a:pt x="127462" y="95781"/>
                  </a:lnTo>
                  <a:lnTo>
                    <a:pt x="95781" y="127462"/>
                  </a:lnTo>
                  <a:lnTo>
                    <a:pt x="67997" y="162685"/>
                  </a:lnTo>
                  <a:lnTo>
                    <a:pt x="44467" y="201095"/>
                  </a:lnTo>
                  <a:lnTo>
                    <a:pt x="25546" y="242334"/>
                  </a:lnTo>
                  <a:lnTo>
                    <a:pt x="11591" y="286048"/>
                  </a:lnTo>
                  <a:lnTo>
                    <a:pt x="2957" y="331881"/>
                  </a:lnTo>
                  <a:lnTo>
                    <a:pt x="0" y="379475"/>
                  </a:lnTo>
                  <a:lnTo>
                    <a:pt x="2957" y="427070"/>
                  </a:lnTo>
                  <a:lnTo>
                    <a:pt x="11591" y="472903"/>
                  </a:lnTo>
                  <a:lnTo>
                    <a:pt x="25546" y="516617"/>
                  </a:lnTo>
                  <a:lnTo>
                    <a:pt x="44467" y="557856"/>
                  </a:lnTo>
                  <a:lnTo>
                    <a:pt x="67997" y="596266"/>
                  </a:lnTo>
                  <a:lnTo>
                    <a:pt x="95781" y="631489"/>
                  </a:lnTo>
                  <a:lnTo>
                    <a:pt x="127462" y="663170"/>
                  </a:lnTo>
                  <a:lnTo>
                    <a:pt x="162685" y="690954"/>
                  </a:lnTo>
                  <a:lnTo>
                    <a:pt x="201095" y="714484"/>
                  </a:lnTo>
                  <a:lnTo>
                    <a:pt x="242334" y="733405"/>
                  </a:lnTo>
                  <a:lnTo>
                    <a:pt x="286048" y="747360"/>
                  </a:lnTo>
                  <a:lnTo>
                    <a:pt x="331881" y="755994"/>
                  </a:lnTo>
                  <a:lnTo>
                    <a:pt x="379475" y="758951"/>
                  </a:lnTo>
                  <a:lnTo>
                    <a:pt x="427070" y="755994"/>
                  </a:lnTo>
                  <a:lnTo>
                    <a:pt x="472903" y="747360"/>
                  </a:lnTo>
                  <a:lnTo>
                    <a:pt x="516617" y="733405"/>
                  </a:lnTo>
                  <a:lnTo>
                    <a:pt x="557856" y="714484"/>
                  </a:lnTo>
                  <a:lnTo>
                    <a:pt x="596266" y="690954"/>
                  </a:lnTo>
                  <a:lnTo>
                    <a:pt x="631489" y="663170"/>
                  </a:lnTo>
                  <a:lnTo>
                    <a:pt x="663170" y="631489"/>
                  </a:lnTo>
                  <a:lnTo>
                    <a:pt x="690954" y="596266"/>
                  </a:lnTo>
                  <a:lnTo>
                    <a:pt x="714484" y="557856"/>
                  </a:lnTo>
                  <a:lnTo>
                    <a:pt x="733405" y="516617"/>
                  </a:lnTo>
                  <a:lnTo>
                    <a:pt x="747360" y="472903"/>
                  </a:lnTo>
                  <a:lnTo>
                    <a:pt x="755994" y="427070"/>
                  </a:lnTo>
                  <a:lnTo>
                    <a:pt x="758951" y="379475"/>
                  </a:lnTo>
                  <a:lnTo>
                    <a:pt x="755994" y="331881"/>
                  </a:lnTo>
                  <a:lnTo>
                    <a:pt x="747360" y="286048"/>
                  </a:lnTo>
                  <a:lnTo>
                    <a:pt x="733405" y="242334"/>
                  </a:lnTo>
                  <a:lnTo>
                    <a:pt x="714484" y="201095"/>
                  </a:lnTo>
                  <a:lnTo>
                    <a:pt x="690954" y="162685"/>
                  </a:lnTo>
                  <a:lnTo>
                    <a:pt x="663170" y="127462"/>
                  </a:lnTo>
                  <a:lnTo>
                    <a:pt x="631489" y="95781"/>
                  </a:lnTo>
                  <a:lnTo>
                    <a:pt x="596266" y="67997"/>
                  </a:lnTo>
                  <a:lnTo>
                    <a:pt x="557856" y="44467"/>
                  </a:lnTo>
                  <a:lnTo>
                    <a:pt x="516617" y="25546"/>
                  </a:lnTo>
                  <a:lnTo>
                    <a:pt x="472903" y="11591"/>
                  </a:lnTo>
                  <a:lnTo>
                    <a:pt x="427070" y="2957"/>
                  </a:lnTo>
                  <a:lnTo>
                    <a:pt x="379475" y="0"/>
                  </a:lnTo>
                  <a:close/>
                </a:path>
              </a:pathLst>
            </a:custGeom>
            <a:solidFill>
              <a:srgbClr val="FFD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28971" y="3092195"/>
              <a:ext cx="759460" cy="759460"/>
            </a:xfrm>
            <a:custGeom>
              <a:avLst/>
              <a:gdLst/>
              <a:ahLst/>
              <a:cxnLst/>
              <a:rect l="l" t="t" r="r" b="b"/>
              <a:pathLst>
                <a:path w="759460" h="759460">
                  <a:moveTo>
                    <a:pt x="0" y="379475"/>
                  </a:moveTo>
                  <a:lnTo>
                    <a:pt x="2957" y="331881"/>
                  </a:lnTo>
                  <a:lnTo>
                    <a:pt x="11591" y="286048"/>
                  </a:lnTo>
                  <a:lnTo>
                    <a:pt x="25546" y="242334"/>
                  </a:lnTo>
                  <a:lnTo>
                    <a:pt x="44467" y="201095"/>
                  </a:lnTo>
                  <a:lnTo>
                    <a:pt x="67997" y="162685"/>
                  </a:lnTo>
                  <a:lnTo>
                    <a:pt x="95781" y="127462"/>
                  </a:lnTo>
                  <a:lnTo>
                    <a:pt x="127462" y="95781"/>
                  </a:lnTo>
                  <a:lnTo>
                    <a:pt x="162685" y="67997"/>
                  </a:lnTo>
                  <a:lnTo>
                    <a:pt x="201095" y="44467"/>
                  </a:lnTo>
                  <a:lnTo>
                    <a:pt x="242334" y="25546"/>
                  </a:lnTo>
                  <a:lnTo>
                    <a:pt x="286048" y="11591"/>
                  </a:lnTo>
                  <a:lnTo>
                    <a:pt x="331881" y="2957"/>
                  </a:lnTo>
                  <a:lnTo>
                    <a:pt x="379475" y="0"/>
                  </a:lnTo>
                  <a:lnTo>
                    <a:pt x="427070" y="2957"/>
                  </a:lnTo>
                  <a:lnTo>
                    <a:pt x="472903" y="11591"/>
                  </a:lnTo>
                  <a:lnTo>
                    <a:pt x="516617" y="25546"/>
                  </a:lnTo>
                  <a:lnTo>
                    <a:pt x="557856" y="44467"/>
                  </a:lnTo>
                  <a:lnTo>
                    <a:pt x="596266" y="67997"/>
                  </a:lnTo>
                  <a:lnTo>
                    <a:pt x="631489" y="95781"/>
                  </a:lnTo>
                  <a:lnTo>
                    <a:pt x="663170" y="127462"/>
                  </a:lnTo>
                  <a:lnTo>
                    <a:pt x="690954" y="162685"/>
                  </a:lnTo>
                  <a:lnTo>
                    <a:pt x="714484" y="201095"/>
                  </a:lnTo>
                  <a:lnTo>
                    <a:pt x="733405" y="242334"/>
                  </a:lnTo>
                  <a:lnTo>
                    <a:pt x="747360" y="286048"/>
                  </a:lnTo>
                  <a:lnTo>
                    <a:pt x="755994" y="331881"/>
                  </a:lnTo>
                  <a:lnTo>
                    <a:pt x="758951" y="379475"/>
                  </a:lnTo>
                  <a:lnTo>
                    <a:pt x="755994" y="427070"/>
                  </a:lnTo>
                  <a:lnTo>
                    <a:pt x="747360" y="472903"/>
                  </a:lnTo>
                  <a:lnTo>
                    <a:pt x="733405" y="516617"/>
                  </a:lnTo>
                  <a:lnTo>
                    <a:pt x="714484" y="557856"/>
                  </a:lnTo>
                  <a:lnTo>
                    <a:pt x="690954" y="596266"/>
                  </a:lnTo>
                  <a:lnTo>
                    <a:pt x="663170" y="631489"/>
                  </a:lnTo>
                  <a:lnTo>
                    <a:pt x="631489" y="663170"/>
                  </a:lnTo>
                  <a:lnTo>
                    <a:pt x="596266" y="690954"/>
                  </a:lnTo>
                  <a:lnTo>
                    <a:pt x="557856" y="714484"/>
                  </a:lnTo>
                  <a:lnTo>
                    <a:pt x="516617" y="733405"/>
                  </a:lnTo>
                  <a:lnTo>
                    <a:pt x="472903" y="747360"/>
                  </a:lnTo>
                  <a:lnTo>
                    <a:pt x="427070" y="755994"/>
                  </a:lnTo>
                  <a:lnTo>
                    <a:pt x="379475" y="758951"/>
                  </a:lnTo>
                  <a:lnTo>
                    <a:pt x="331881" y="755994"/>
                  </a:lnTo>
                  <a:lnTo>
                    <a:pt x="286048" y="747360"/>
                  </a:lnTo>
                  <a:lnTo>
                    <a:pt x="242334" y="733405"/>
                  </a:lnTo>
                  <a:lnTo>
                    <a:pt x="201095" y="714484"/>
                  </a:lnTo>
                  <a:lnTo>
                    <a:pt x="162685" y="690954"/>
                  </a:lnTo>
                  <a:lnTo>
                    <a:pt x="127462" y="663170"/>
                  </a:lnTo>
                  <a:lnTo>
                    <a:pt x="95781" y="631489"/>
                  </a:lnTo>
                  <a:lnTo>
                    <a:pt x="67997" y="596266"/>
                  </a:lnTo>
                  <a:lnTo>
                    <a:pt x="44467" y="557856"/>
                  </a:lnTo>
                  <a:lnTo>
                    <a:pt x="25546" y="516617"/>
                  </a:lnTo>
                  <a:lnTo>
                    <a:pt x="11591" y="472903"/>
                  </a:lnTo>
                  <a:lnTo>
                    <a:pt x="2957" y="427070"/>
                  </a:lnTo>
                  <a:lnTo>
                    <a:pt x="0" y="379475"/>
                  </a:lnTo>
                  <a:close/>
                </a:path>
              </a:pathLst>
            </a:custGeom>
            <a:ln w="39624">
              <a:solidFill>
                <a:srgbClr val="FFEF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063752" y="3026663"/>
            <a:ext cx="972185" cy="972185"/>
            <a:chOff x="1063752" y="3026663"/>
            <a:chExt cx="972185" cy="972185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3752" y="3026663"/>
              <a:ext cx="972019" cy="97201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159764" y="3092195"/>
              <a:ext cx="759460" cy="759460"/>
            </a:xfrm>
            <a:custGeom>
              <a:avLst/>
              <a:gdLst/>
              <a:ahLst/>
              <a:cxnLst/>
              <a:rect l="l" t="t" r="r" b="b"/>
              <a:pathLst>
                <a:path w="759460" h="759460">
                  <a:moveTo>
                    <a:pt x="379476" y="0"/>
                  </a:moveTo>
                  <a:lnTo>
                    <a:pt x="331881" y="2957"/>
                  </a:lnTo>
                  <a:lnTo>
                    <a:pt x="286048" y="11591"/>
                  </a:lnTo>
                  <a:lnTo>
                    <a:pt x="242334" y="25546"/>
                  </a:lnTo>
                  <a:lnTo>
                    <a:pt x="201095" y="44467"/>
                  </a:lnTo>
                  <a:lnTo>
                    <a:pt x="162685" y="67997"/>
                  </a:lnTo>
                  <a:lnTo>
                    <a:pt x="127462" y="95781"/>
                  </a:lnTo>
                  <a:lnTo>
                    <a:pt x="95781" y="127462"/>
                  </a:lnTo>
                  <a:lnTo>
                    <a:pt x="67997" y="162685"/>
                  </a:lnTo>
                  <a:lnTo>
                    <a:pt x="44467" y="201095"/>
                  </a:lnTo>
                  <a:lnTo>
                    <a:pt x="25546" y="242334"/>
                  </a:lnTo>
                  <a:lnTo>
                    <a:pt x="11591" y="286048"/>
                  </a:lnTo>
                  <a:lnTo>
                    <a:pt x="2957" y="331881"/>
                  </a:lnTo>
                  <a:lnTo>
                    <a:pt x="0" y="379475"/>
                  </a:lnTo>
                  <a:lnTo>
                    <a:pt x="2957" y="427070"/>
                  </a:lnTo>
                  <a:lnTo>
                    <a:pt x="11591" y="472903"/>
                  </a:lnTo>
                  <a:lnTo>
                    <a:pt x="25546" y="516617"/>
                  </a:lnTo>
                  <a:lnTo>
                    <a:pt x="44467" y="557856"/>
                  </a:lnTo>
                  <a:lnTo>
                    <a:pt x="67997" y="596266"/>
                  </a:lnTo>
                  <a:lnTo>
                    <a:pt x="95781" y="631489"/>
                  </a:lnTo>
                  <a:lnTo>
                    <a:pt x="127462" y="663170"/>
                  </a:lnTo>
                  <a:lnTo>
                    <a:pt x="162685" y="690954"/>
                  </a:lnTo>
                  <a:lnTo>
                    <a:pt x="201095" y="714484"/>
                  </a:lnTo>
                  <a:lnTo>
                    <a:pt x="242334" y="733405"/>
                  </a:lnTo>
                  <a:lnTo>
                    <a:pt x="286048" y="747360"/>
                  </a:lnTo>
                  <a:lnTo>
                    <a:pt x="331881" y="755994"/>
                  </a:lnTo>
                  <a:lnTo>
                    <a:pt x="379476" y="758951"/>
                  </a:lnTo>
                  <a:lnTo>
                    <a:pt x="427070" y="755994"/>
                  </a:lnTo>
                  <a:lnTo>
                    <a:pt x="472903" y="747360"/>
                  </a:lnTo>
                  <a:lnTo>
                    <a:pt x="516617" y="733405"/>
                  </a:lnTo>
                  <a:lnTo>
                    <a:pt x="557856" y="714484"/>
                  </a:lnTo>
                  <a:lnTo>
                    <a:pt x="596266" y="690954"/>
                  </a:lnTo>
                  <a:lnTo>
                    <a:pt x="631489" y="663170"/>
                  </a:lnTo>
                  <a:lnTo>
                    <a:pt x="663170" y="631489"/>
                  </a:lnTo>
                  <a:lnTo>
                    <a:pt x="690954" y="596266"/>
                  </a:lnTo>
                  <a:lnTo>
                    <a:pt x="714484" y="557856"/>
                  </a:lnTo>
                  <a:lnTo>
                    <a:pt x="733405" y="516617"/>
                  </a:lnTo>
                  <a:lnTo>
                    <a:pt x="747360" y="472903"/>
                  </a:lnTo>
                  <a:lnTo>
                    <a:pt x="755994" y="427070"/>
                  </a:lnTo>
                  <a:lnTo>
                    <a:pt x="758952" y="379475"/>
                  </a:lnTo>
                  <a:lnTo>
                    <a:pt x="755994" y="331881"/>
                  </a:lnTo>
                  <a:lnTo>
                    <a:pt x="747360" y="286048"/>
                  </a:lnTo>
                  <a:lnTo>
                    <a:pt x="733405" y="242334"/>
                  </a:lnTo>
                  <a:lnTo>
                    <a:pt x="714484" y="201095"/>
                  </a:lnTo>
                  <a:lnTo>
                    <a:pt x="690954" y="162685"/>
                  </a:lnTo>
                  <a:lnTo>
                    <a:pt x="663170" y="127462"/>
                  </a:lnTo>
                  <a:lnTo>
                    <a:pt x="631489" y="95781"/>
                  </a:lnTo>
                  <a:lnTo>
                    <a:pt x="596266" y="67997"/>
                  </a:lnTo>
                  <a:lnTo>
                    <a:pt x="557856" y="44467"/>
                  </a:lnTo>
                  <a:lnTo>
                    <a:pt x="516617" y="25546"/>
                  </a:lnTo>
                  <a:lnTo>
                    <a:pt x="472903" y="11591"/>
                  </a:lnTo>
                  <a:lnTo>
                    <a:pt x="427070" y="2957"/>
                  </a:lnTo>
                  <a:lnTo>
                    <a:pt x="379476" y="0"/>
                  </a:lnTo>
                  <a:close/>
                </a:path>
              </a:pathLst>
            </a:custGeom>
            <a:solidFill>
              <a:srgbClr val="FFD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59764" y="3092195"/>
              <a:ext cx="759460" cy="759460"/>
            </a:xfrm>
            <a:custGeom>
              <a:avLst/>
              <a:gdLst/>
              <a:ahLst/>
              <a:cxnLst/>
              <a:rect l="l" t="t" r="r" b="b"/>
              <a:pathLst>
                <a:path w="759460" h="759460">
                  <a:moveTo>
                    <a:pt x="0" y="379475"/>
                  </a:moveTo>
                  <a:lnTo>
                    <a:pt x="2957" y="331881"/>
                  </a:lnTo>
                  <a:lnTo>
                    <a:pt x="11591" y="286048"/>
                  </a:lnTo>
                  <a:lnTo>
                    <a:pt x="25546" y="242334"/>
                  </a:lnTo>
                  <a:lnTo>
                    <a:pt x="44467" y="201095"/>
                  </a:lnTo>
                  <a:lnTo>
                    <a:pt x="67997" y="162685"/>
                  </a:lnTo>
                  <a:lnTo>
                    <a:pt x="95781" y="127462"/>
                  </a:lnTo>
                  <a:lnTo>
                    <a:pt x="127462" y="95781"/>
                  </a:lnTo>
                  <a:lnTo>
                    <a:pt x="162685" y="67997"/>
                  </a:lnTo>
                  <a:lnTo>
                    <a:pt x="201095" y="44467"/>
                  </a:lnTo>
                  <a:lnTo>
                    <a:pt x="242334" y="25546"/>
                  </a:lnTo>
                  <a:lnTo>
                    <a:pt x="286048" y="11591"/>
                  </a:lnTo>
                  <a:lnTo>
                    <a:pt x="331881" y="2957"/>
                  </a:lnTo>
                  <a:lnTo>
                    <a:pt x="379476" y="0"/>
                  </a:lnTo>
                  <a:lnTo>
                    <a:pt x="427070" y="2957"/>
                  </a:lnTo>
                  <a:lnTo>
                    <a:pt x="472903" y="11591"/>
                  </a:lnTo>
                  <a:lnTo>
                    <a:pt x="516617" y="25546"/>
                  </a:lnTo>
                  <a:lnTo>
                    <a:pt x="557856" y="44467"/>
                  </a:lnTo>
                  <a:lnTo>
                    <a:pt x="596266" y="67997"/>
                  </a:lnTo>
                  <a:lnTo>
                    <a:pt x="631489" y="95781"/>
                  </a:lnTo>
                  <a:lnTo>
                    <a:pt x="663170" y="127462"/>
                  </a:lnTo>
                  <a:lnTo>
                    <a:pt x="690954" y="162685"/>
                  </a:lnTo>
                  <a:lnTo>
                    <a:pt x="714484" y="201095"/>
                  </a:lnTo>
                  <a:lnTo>
                    <a:pt x="733405" y="242334"/>
                  </a:lnTo>
                  <a:lnTo>
                    <a:pt x="747360" y="286048"/>
                  </a:lnTo>
                  <a:lnTo>
                    <a:pt x="755994" y="331881"/>
                  </a:lnTo>
                  <a:lnTo>
                    <a:pt x="758952" y="379475"/>
                  </a:lnTo>
                  <a:lnTo>
                    <a:pt x="755994" y="427070"/>
                  </a:lnTo>
                  <a:lnTo>
                    <a:pt x="747360" y="472903"/>
                  </a:lnTo>
                  <a:lnTo>
                    <a:pt x="733405" y="516617"/>
                  </a:lnTo>
                  <a:lnTo>
                    <a:pt x="714484" y="557856"/>
                  </a:lnTo>
                  <a:lnTo>
                    <a:pt x="690954" y="596266"/>
                  </a:lnTo>
                  <a:lnTo>
                    <a:pt x="663170" y="631489"/>
                  </a:lnTo>
                  <a:lnTo>
                    <a:pt x="631489" y="663170"/>
                  </a:lnTo>
                  <a:lnTo>
                    <a:pt x="596266" y="690954"/>
                  </a:lnTo>
                  <a:lnTo>
                    <a:pt x="557856" y="714484"/>
                  </a:lnTo>
                  <a:lnTo>
                    <a:pt x="516617" y="733405"/>
                  </a:lnTo>
                  <a:lnTo>
                    <a:pt x="472903" y="747360"/>
                  </a:lnTo>
                  <a:lnTo>
                    <a:pt x="427070" y="755994"/>
                  </a:lnTo>
                  <a:lnTo>
                    <a:pt x="379476" y="758951"/>
                  </a:lnTo>
                  <a:lnTo>
                    <a:pt x="331881" y="755994"/>
                  </a:lnTo>
                  <a:lnTo>
                    <a:pt x="286048" y="747360"/>
                  </a:lnTo>
                  <a:lnTo>
                    <a:pt x="242334" y="733405"/>
                  </a:lnTo>
                  <a:lnTo>
                    <a:pt x="201095" y="714484"/>
                  </a:lnTo>
                  <a:lnTo>
                    <a:pt x="162685" y="690954"/>
                  </a:lnTo>
                  <a:lnTo>
                    <a:pt x="127462" y="663170"/>
                  </a:lnTo>
                  <a:lnTo>
                    <a:pt x="95781" y="631489"/>
                  </a:lnTo>
                  <a:lnTo>
                    <a:pt x="67997" y="596266"/>
                  </a:lnTo>
                  <a:lnTo>
                    <a:pt x="44467" y="557856"/>
                  </a:lnTo>
                  <a:lnTo>
                    <a:pt x="25546" y="516617"/>
                  </a:lnTo>
                  <a:lnTo>
                    <a:pt x="11591" y="472903"/>
                  </a:lnTo>
                  <a:lnTo>
                    <a:pt x="2957" y="427070"/>
                  </a:lnTo>
                  <a:lnTo>
                    <a:pt x="0" y="379475"/>
                  </a:lnTo>
                  <a:close/>
                </a:path>
              </a:pathLst>
            </a:custGeom>
            <a:ln w="39624">
              <a:solidFill>
                <a:srgbClr val="FFEF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4632959" y="1569758"/>
            <a:ext cx="972185" cy="972185"/>
            <a:chOff x="4632959" y="1569758"/>
            <a:chExt cx="972185" cy="972185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32959" y="1569758"/>
              <a:ext cx="972019" cy="97201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728971" y="1635251"/>
              <a:ext cx="759460" cy="759460"/>
            </a:xfrm>
            <a:custGeom>
              <a:avLst/>
              <a:gdLst/>
              <a:ahLst/>
              <a:cxnLst/>
              <a:rect l="l" t="t" r="r" b="b"/>
              <a:pathLst>
                <a:path w="759460" h="759460">
                  <a:moveTo>
                    <a:pt x="379475" y="0"/>
                  </a:moveTo>
                  <a:lnTo>
                    <a:pt x="331881" y="2957"/>
                  </a:lnTo>
                  <a:lnTo>
                    <a:pt x="286048" y="11591"/>
                  </a:lnTo>
                  <a:lnTo>
                    <a:pt x="242334" y="25546"/>
                  </a:lnTo>
                  <a:lnTo>
                    <a:pt x="201095" y="44467"/>
                  </a:lnTo>
                  <a:lnTo>
                    <a:pt x="162685" y="67997"/>
                  </a:lnTo>
                  <a:lnTo>
                    <a:pt x="127462" y="95781"/>
                  </a:lnTo>
                  <a:lnTo>
                    <a:pt x="95781" y="127462"/>
                  </a:lnTo>
                  <a:lnTo>
                    <a:pt x="67997" y="162685"/>
                  </a:lnTo>
                  <a:lnTo>
                    <a:pt x="44467" y="201095"/>
                  </a:lnTo>
                  <a:lnTo>
                    <a:pt x="25546" y="242334"/>
                  </a:lnTo>
                  <a:lnTo>
                    <a:pt x="11591" y="286048"/>
                  </a:lnTo>
                  <a:lnTo>
                    <a:pt x="2957" y="331881"/>
                  </a:lnTo>
                  <a:lnTo>
                    <a:pt x="0" y="379476"/>
                  </a:lnTo>
                  <a:lnTo>
                    <a:pt x="2957" y="427070"/>
                  </a:lnTo>
                  <a:lnTo>
                    <a:pt x="11591" y="472903"/>
                  </a:lnTo>
                  <a:lnTo>
                    <a:pt x="25546" y="516617"/>
                  </a:lnTo>
                  <a:lnTo>
                    <a:pt x="44467" y="557856"/>
                  </a:lnTo>
                  <a:lnTo>
                    <a:pt x="67997" y="596266"/>
                  </a:lnTo>
                  <a:lnTo>
                    <a:pt x="95781" y="631489"/>
                  </a:lnTo>
                  <a:lnTo>
                    <a:pt x="127462" y="663170"/>
                  </a:lnTo>
                  <a:lnTo>
                    <a:pt x="162685" y="690954"/>
                  </a:lnTo>
                  <a:lnTo>
                    <a:pt x="201095" y="714484"/>
                  </a:lnTo>
                  <a:lnTo>
                    <a:pt x="242334" y="733405"/>
                  </a:lnTo>
                  <a:lnTo>
                    <a:pt x="286048" y="747360"/>
                  </a:lnTo>
                  <a:lnTo>
                    <a:pt x="331881" y="755994"/>
                  </a:lnTo>
                  <a:lnTo>
                    <a:pt x="379475" y="758952"/>
                  </a:lnTo>
                  <a:lnTo>
                    <a:pt x="427070" y="755994"/>
                  </a:lnTo>
                  <a:lnTo>
                    <a:pt x="472903" y="747360"/>
                  </a:lnTo>
                  <a:lnTo>
                    <a:pt x="516617" y="733405"/>
                  </a:lnTo>
                  <a:lnTo>
                    <a:pt x="557856" y="714484"/>
                  </a:lnTo>
                  <a:lnTo>
                    <a:pt x="596266" y="690954"/>
                  </a:lnTo>
                  <a:lnTo>
                    <a:pt x="631489" y="663170"/>
                  </a:lnTo>
                  <a:lnTo>
                    <a:pt x="663170" y="631489"/>
                  </a:lnTo>
                  <a:lnTo>
                    <a:pt x="690954" y="596266"/>
                  </a:lnTo>
                  <a:lnTo>
                    <a:pt x="714484" y="557856"/>
                  </a:lnTo>
                  <a:lnTo>
                    <a:pt x="733405" y="516617"/>
                  </a:lnTo>
                  <a:lnTo>
                    <a:pt x="747360" y="472903"/>
                  </a:lnTo>
                  <a:lnTo>
                    <a:pt x="755994" y="427070"/>
                  </a:lnTo>
                  <a:lnTo>
                    <a:pt x="758951" y="379476"/>
                  </a:lnTo>
                  <a:lnTo>
                    <a:pt x="755994" y="331881"/>
                  </a:lnTo>
                  <a:lnTo>
                    <a:pt x="747360" y="286048"/>
                  </a:lnTo>
                  <a:lnTo>
                    <a:pt x="733405" y="242334"/>
                  </a:lnTo>
                  <a:lnTo>
                    <a:pt x="714484" y="201095"/>
                  </a:lnTo>
                  <a:lnTo>
                    <a:pt x="690954" y="162685"/>
                  </a:lnTo>
                  <a:lnTo>
                    <a:pt x="663170" y="127462"/>
                  </a:lnTo>
                  <a:lnTo>
                    <a:pt x="631489" y="95781"/>
                  </a:lnTo>
                  <a:lnTo>
                    <a:pt x="596266" y="67997"/>
                  </a:lnTo>
                  <a:lnTo>
                    <a:pt x="557856" y="44467"/>
                  </a:lnTo>
                  <a:lnTo>
                    <a:pt x="516617" y="25546"/>
                  </a:lnTo>
                  <a:lnTo>
                    <a:pt x="472903" y="11591"/>
                  </a:lnTo>
                  <a:lnTo>
                    <a:pt x="427070" y="2957"/>
                  </a:lnTo>
                  <a:lnTo>
                    <a:pt x="379475" y="0"/>
                  </a:lnTo>
                  <a:close/>
                </a:path>
              </a:pathLst>
            </a:custGeom>
            <a:solidFill>
              <a:srgbClr val="FFD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28971" y="1635251"/>
              <a:ext cx="759460" cy="759460"/>
            </a:xfrm>
            <a:custGeom>
              <a:avLst/>
              <a:gdLst/>
              <a:ahLst/>
              <a:cxnLst/>
              <a:rect l="l" t="t" r="r" b="b"/>
              <a:pathLst>
                <a:path w="759460" h="759460">
                  <a:moveTo>
                    <a:pt x="0" y="379476"/>
                  </a:moveTo>
                  <a:lnTo>
                    <a:pt x="2957" y="331881"/>
                  </a:lnTo>
                  <a:lnTo>
                    <a:pt x="11591" y="286048"/>
                  </a:lnTo>
                  <a:lnTo>
                    <a:pt x="25546" y="242334"/>
                  </a:lnTo>
                  <a:lnTo>
                    <a:pt x="44467" y="201095"/>
                  </a:lnTo>
                  <a:lnTo>
                    <a:pt x="67997" y="162685"/>
                  </a:lnTo>
                  <a:lnTo>
                    <a:pt x="95781" y="127462"/>
                  </a:lnTo>
                  <a:lnTo>
                    <a:pt x="127462" y="95781"/>
                  </a:lnTo>
                  <a:lnTo>
                    <a:pt x="162685" y="67997"/>
                  </a:lnTo>
                  <a:lnTo>
                    <a:pt x="201095" y="44467"/>
                  </a:lnTo>
                  <a:lnTo>
                    <a:pt x="242334" y="25546"/>
                  </a:lnTo>
                  <a:lnTo>
                    <a:pt x="286048" y="11591"/>
                  </a:lnTo>
                  <a:lnTo>
                    <a:pt x="331881" y="2957"/>
                  </a:lnTo>
                  <a:lnTo>
                    <a:pt x="379475" y="0"/>
                  </a:lnTo>
                  <a:lnTo>
                    <a:pt x="427070" y="2957"/>
                  </a:lnTo>
                  <a:lnTo>
                    <a:pt x="472903" y="11591"/>
                  </a:lnTo>
                  <a:lnTo>
                    <a:pt x="516617" y="25546"/>
                  </a:lnTo>
                  <a:lnTo>
                    <a:pt x="557856" y="44467"/>
                  </a:lnTo>
                  <a:lnTo>
                    <a:pt x="596266" y="67997"/>
                  </a:lnTo>
                  <a:lnTo>
                    <a:pt x="631489" y="95781"/>
                  </a:lnTo>
                  <a:lnTo>
                    <a:pt x="663170" y="127462"/>
                  </a:lnTo>
                  <a:lnTo>
                    <a:pt x="690954" y="162685"/>
                  </a:lnTo>
                  <a:lnTo>
                    <a:pt x="714484" y="201095"/>
                  </a:lnTo>
                  <a:lnTo>
                    <a:pt x="733405" y="242334"/>
                  </a:lnTo>
                  <a:lnTo>
                    <a:pt x="747360" y="286048"/>
                  </a:lnTo>
                  <a:lnTo>
                    <a:pt x="755994" y="331881"/>
                  </a:lnTo>
                  <a:lnTo>
                    <a:pt x="758951" y="379476"/>
                  </a:lnTo>
                  <a:lnTo>
                    <a:pt x="755994" y="427070"/>
                  </a:lnTo>
                  <a:lnTo>
                    <a:pt x="747360" y="472903"/>
                  </a:lnTo>
                  <a:lnTo>
                    <a:pt x="733405" y="516617"/>
                  </a:lnTo>
                  <a:lnTo>
                    <a:pt x="714484" y="557856"/>
                  </a:lnTo>
                  <a:lnTo>
                    <a:pt x="690954" y="596266"/>
                  </a:lnTo>
                  <a:lnTo>
                    <a:pt x="663170" y="631489"/>
                  </a:lnTo>
                  <a:lnTo>
                    <a:pt x="631489" y="663170"/>
                  </a:lnTo>
                  <a:lnTo>
                    <a:pt x="596266" y="690954"/>
                  </a:lnTo>
                  <a:lnTo>
                    <a:pt x="557856" y="714484"/>
                  </a:lnTo>
                  <a:lnTo>
                    <a:pt x="516617" y="733405"/>
                  </a:lnTo>
                  <a:lnTo>
                    <a:pt x="472903" y="747360"/>
                  </a:lnTo>
                  <a:lnTo>
                    <a:pt x="427070" y="755994"/>
                  </a:lnTo>
                  <a:lnTo>
                    <a:pt x="379475" y="758952"/>
                  </a:lnTo>
                  <a:lnTo>
                    <a:pt x="331881" y="755994"/>
                  </a:lnTo>
                  <a:lnTo>
                    <a:pt x="286048" y="747360"/>
                  </a:lnTo>
                  <a:lnTo>
                    <a:pt x="242334" y="733405"/>
                  </a:lnTo>
                  <a:lnTo>
                    <a:pt x="201095" y="714484"/>
                  </a:lnTo>
                  <a:lnTo>
                    <a:pt x="162685" y="690954"/>
                  </a:lnTo>
                  <a:lnTo>
                    <a:pt x="127462" y="663170"/>
                  </a:lnTo>
                  <a:lnTo>
                    <a:pt x="95781" y="631489"/>
                  </a:lnTo>
                  <a:lnTo>
                    <a:pt x="67997" y="596266"/>
                  </a:lnTo>
                  <a:lnTo>
                    <a:pt x="44467" y="557856"/>
                  </a:lnTo>
                  <a:lnTo>
                    <a:pt x="25546" y="516617"/>
                  </a:lnTo>
                  <a:lnTo>
                    <a:pt x="11591" y="472903"/>
                  </a:lnTo>
                  <a:lnTo>
                    <a:pt x="2957" y="427070"/>
                  </a:lnTo>
                  <a:lnTo>
                    <a:pt x="0" y="379476"/>
                  </a:lnTo>
                  <a:close/>
                </a:path>
              </a:pathLst>
            </a:custGeom>
            <a:ln w="39624">
              <a:solidFill>
                <a:srgbClr val="FFEF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1063752" y="1569758"/>
            <a:ext cx="972185" cy="972185"/>
            <a:chOff x="1063752" y="1569758"/>
            <a:chExt cx="972185" cy="972185"/>
          </a:xfrm>
        </p:grpSpPr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3752" y="1569758"/>
              <a:ext cx="972019" cy="97201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159764" y="1635251"/>
              <a:ext cx="759460" cy="759460"/>
            </a:xfrm>
            <a:custGeom>
              <a:avLst/>
              <a:gdLst/>
              <a:ahLst/>
              <a:cxnLst/>
              <a:rect l="l" t="t" r="r" b="b"/>
              <a:pathLst>
                <a:path w="759460" h="759460">
                  <a:moveTo>
                    <a:pt x="379476" y="0"/>
                  </a:moveTo>
                  <a:lnTo>
                    <a:pt x="331881" y="2957"/>
                  </a:lnTo>
                  <a:lnTo>
                    <a:pt x="286048" y="11591"/>
                  </a:lnTo>
                  <a:lnTo>
                    <a:pt x="242334" y="25546"/>
                  </a:lnTo>
                  <a:lnTo>
                    <a:pt x="201095" y="44467"/>
                  </a:lnTo>
                  <a:lnTo>
                    <a:pt x="162685" y="67997"/>
                  </a:lnTo>
                  <a:lnTo>
                    <a:pt x="127462" y="95781"/>
                  </a:lnTo>
                  <a:lnTo>
                    <a:pt x="95781" y="127462"/>
                  </a:lnTo>
                  <a:lnTo>
                    <a:pt x="67997" y="162685"/>
                  </a:lnTo>
                  <a:lnTo>
                    <a:pt x="44467" y="201095"/>
                  </a:lnTo>
                  <a:lnTo>
                    <a:pt x="25546" y="242334"/>
                  </a:lnTo>
                  <a:lnTo>
                    <a:pt x="11591" y="286048"/>
                  </a:lnTo>
                  <a:lnTo>
                    <a:pt x="2957" y="331881"/>
                  </a:lnTo>
                  <a:lnTo>
                    <a:pt x="0" y="379476"/>
                  </a:lnTo>
                  <a:lnTo>
                    <a:pt x="2957" y="427070"/>
                  </a:lnTo>
                  <a:lnTo>
                    <a:pt x="11591" y="472903"/>
                  </a:lnTo>
                  <a:lnTo>
                    <a:pt x="25546" y="516617"/>
                  </a:lnTo>
                  <a:lnTo>
                    <a:pt x="44467" y="557856"/>
                  </a:lnTo>
                  <a:lnTo>
                    <a:pt x="67997" y="596266"/>
                  </a:lnTo>
                  <a:lnTo>
                    <a:pt x="95781" y="631489"/>
                  </a:lnTo>
                  <a:lnTo>
                    <a:pt x="127462" y="663170"/>
                  </a:lnTo>
                  <a:lnTo>
                    <a:pt x="162685" y="690954"/>
                  </a:lnTo>
                  <a:lnTo>
                    <a:pt x="201095" y="714484"/>
                  </a:lnTo>
                  <a:lnTo>
                    <a:pt x="242334" y="733405"/>
                  </a:lnTo>
                  <a:lnTo>
                    <a:pt x="286048" y="747360"/>
                  </a:lnTo>
                  <a:lnTo>
                    <a:pt x="331881" y="755994"/>
                  </a:lnTo>
                  <a:lnTo>
                    <a:pt x="379476" y="758952"/>
                  </a:lnTo>
                  <a:lnTo>
                    <a:pt x="427070" y="755994"/>
                  </a:lnTo>
                  <a:lnTo>
                    <a:pt x="472903" y="747360"/>
                  </a:lnTo>
                  <a:lnTo>
                    <a:pt x="516617" y="733405"/>
                  </a:lnTo>
                  <a:lnTo>
                    <a:pt x="557856" y="714484"/>
                  </a:lnTo>
                  <a:lnTo>
                    <a:pt x="596266" y="690954"/>
                  </a:lnTo>
                  <a:lnTo>
                    <a:pt x="631489" y="663170"/>
                  </a:lnTo>
                  <a:lnTo>
                    <a:pt x="663170" y="631489"/>
                  </a:lnTo>
                  <a:lnTo>
                    <a:pt x="690954" y="596266"/>
                  </a:lnTo>
                  <a:lnTo>
                    <a:pt x="714484" y="557856"/>
                  </a:lnTo>
                  <a:lnTo>
                    <a:pt x="733405" y="516617"/>
                  </a:lnTo>
                  <a:lnTo>
                    <a:pt x="747360" y="472903"/>
                  </a:lnTo>
                  <a:lnTo>
                    <a:pt x="755994" y="427070"/>
                  </a:lnTo>
                  <a:lnTo>
                    <a:pt x="758952" y="379476"/>
                  </a:lnTo>
                  <a:lnTo>
                    <a:pt x="755994" y="331881"/>
                  </a:lnTo>
                  <a:lnTo>
                    <a:pt x="747360" y="286048"/>
                  </a:lnTo>
                  <a:lnTo>
                    <a:pt x="733405" y="242334"/>
                  </a:lnTo>
                  <a:lnTo>
                    <a:pt x="714484" y="201095"/>
                  </a:lnTo>
                  <a:lnTo>
                    <a:pt x="690954" y="162685"/>
                  </a:lnTo>
                  <a:lnTo>
                    <a:pt x="663170" y="127462"/>
                  </a:lnTo>
                  <a:lnTo>
                    <a:pt x="631489" y="95781"/>
                  </a:lnTo>
                  <a:lnTo>
                    <a:pt x="596266" y="67997"/>
                  </a:lnTo>
                  <a:lnTo>
                    <a:pt x="557856" y="44467"/>
                  </a:lnTo>
                  <a:lnTo>
                    <a:pt x="516617" y="25546"/>
                  </a:lnTo>
                  <a:lnTo>
                    <a:pt x="472903" y="11591"/>
                  </a:lnTo>
                  <a:lnTo>
                    <a:pt x="427070" y="2957"/>
                  </a:lnTo>
                  <a:lnTo>
                    <a:pt x="379476" y="0"/>
                  </a:lnTo>
                  <a:close/>
                </a:path>
              </a:pathLst>
            </a:custGeom>
            <a:solidFill>
              <a:srgbClr val="FFD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59764" y="1635251"/>
              <a:ext cx="759460" cy="759460"/>
            </a:xfrm>
            <a:custGeom>
              <a:avLst/>
              <a:gdLst/>
              <a:ahLst/>
              <a:cxnLst/>
              <a:rect l="l" t="t" r="r" b="b"/>
              <a:pathLst>
                <a:path w="759460" h="759460">
                  <a:moveTo>
                    <a:pt x="0" y="379476"/>
                  </a:moveTo>
                  <a:lnTo>
                    <a:pt x="2957" y="331881"/>
                  </a:lnTo>
                  <a:lnTo>
                    <a:pt x="11591" y="286048"/>
                  </a:lnTo>
                  <a:lnTo>
                    <a:pt x="25546" y="242334"/>
                  </a:lnTo>
                  <a:lnTo>
                    <a:pt x="44467" y="201095"/>
                  </a:lnTo>
                  <a:lnTo>
                    <a:pt x="67997" y="162685"/>
                  </a:lnTo>
                  <a:lnTo>
                    <a:pt x="95781" y="127462"/>
                  </a:lnTo>
                  <a:lnTo>
                    <a:pt x="127462" y="95781"/>
                  </a:lnTo>
                  <a:lnTo>
                    <a:pt x="162685" y="67997"/>
                  </a:lnTo>
                  <a:lnTo>
                    <a:pt x="201095" y="44467"/>
                  </a:lnTo>
                  <a:lnTo>
                    <a:pt x="242334" y="25546"/>
                  </a:lnTo>
                  <a:lnTo>
                    <a:pt x="286048" y="11591"/>
                  </a:lnTo>
                  <a:lnTo>
                    <a:pt x="331881" y="2957"/>
                  </a:lnTo>
                  <a:lnTo>
                    <a:pt x="379476" y="0"/>
                  </a:lnTo>
                  <a:lnTo>
                    <a:pt x="427070" y="2957"/>
                  </a:lnTo>
                  <a:lnTo>
                    <a:pt x="472903" y="11591"/>
                  </a:lnTo>
                  <a:lnTo>
                    <a:pt x="516617" y="25546"/>
                  </a:lnTo>
                  <a:lnTo>
                    <a:pt x="557856" y="44467"/>
                  </a:lnTo>
                  <a:lnTo>
                    <a:pt x="596266" y="67997"/>
                  </a:lnTo>
                  <a:lnTo>
                    <a:pt x="631489" y="95781"/>
                  </a:lnTo>
                  <a:lnTo>
                    <a:pt x="663170" y="127462"/>
                  </a:lnTo>
                  <a:lnTo>
                    <a:pt x="690954" y="162685"/>
                  </a:lnTo>
                  <a:lnTo>
                    <a:pt x="714484" y="201095"/>
                  </a:lnTo>
                  <a:lnTo>
                    <a:pt x="733405" y="242334"/>
                  </a:lnTo>
                  <a:lnTo>
                    <a:pt x="747360" y="286048"/>
                  </a:lnTo>
                  <a:lnTo>
                    <a:pt x="755994" y="331881"/>
                  </a:lnTo>
                  <a:lnTo>
                    <a:pt x="758952" y="379476"/>
                  </a:lnTo>
                  <a:lnTo>
                    <a:pt x="755994" y="427070"/>
                  </a:lnTo>
                  <a:lnTo>
                    <a:pt x="747360" y="472903"/>
                  </a:lnTo>
                  <a:lnTo>
                    <a:pt x="733405" y="516617"/>
                  </a:lnTo>
                  <a:lnTo>
                    <a:pt x="714484" y="557856"/>
                  </a:lnTo>
                  <a:lnTo>
                    <a:pt x="690954" y="596266"/>
                  </a:lnTo>
                  <a:lnTo>
                    <a:pt x="663170" y="631489"/>
                  </a:lnTo>
                  <a:lnTo>
                    <a:pt x="631489" y="663170"/>
                  </a:lnTo>
                  <a:lnTo>
                    <a:pt x="596266" y="690954"/>
                  </a:lnTo>
                  <a:lnTo>
                    <a:pt x="557856" y="714484"/>
                  </a:lnTo>
                  <a:lnTo>
                    <a:pt x="516617" y="733405"/>
                  </a:lnTo>
                  <a:lnTo>
                    <a:pt x="472903" y="747360"/>
                  </a:lnTo>
                  <a:lnTo>
                    <a:pt x="427070" y="755994"/>
                  </a:lnTo>
                  <a:lnTo>
                    <a:pt x="379476" y="758952"/>
                  </a:lnTo>
                  <a:lnTo>
                    <a:pt x="331881" y="755994"/>
                  </a:lnTo>
                  <a:lnTo>
                    <a:pt x="286048" y="747360"/>
                  </a:lnTo>
                  <a:lnTo>
                    <a:pt x="242334" y="733405"/>
                  </a:lnTo>
                  <a:lnTo>
                    <a:pt x="201095" y="714484"/>
                  </a:lnTo>
                  <a:lnTo>
                    <a:pt x="162685" y="690954"/>
                  </a:lnTo>
                  <a:lnTo>
                    <a:pt x="127462" y="663170"/>
                  </a:lnTo>
                  <a:lnTo>
                    <a:pt x="95781" y="631489"/>
                  </a:lnTo>
                  <a:lnTo>
                    <a:pt x="67997" y="596266"/>
                  </a:lnTo>
                  <a:lnTo>
                    <a:pt x="44467" y="557856"/>
                  </a:lnTo>
                  <a:lnTo>
                    <a:pt x="25546" y="516617"/>
                  </a:lnTo>
                  <a:lnTo>
                    <a:pt x="11591" y="472903"/>
                  </a:lnTo>
                  <a:lnTo>
                    <a:pt x="2957" y="427070"/>
                  </a:lnTo>
                  <a:lnTo>
                    <a:pt x="0" y="379476"/>
                  </a:lnTo>
                  <a:close/>
                </a:path>
              </a:pathLst>
            </a:custGeom>
            <a:ln w="39624">
              <a:solidFill>
                <a:srgbClr val="FFEF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46632" y="1755584"/>
              <a:ext cx="577392" cy="68103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462786" y="1837131"/>
            <a:ext cx="14986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65" dirty="0">
                <a:solidFill>
                  <a:srgbClr val="52341A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639567" y="310845"/>
            <a:ext cx="3890517" cy="949248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071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Table</a:t>
            </a:r>
            <a:r>
              <a:rPr spc="-15" dirty="0"/>
              <a:t> </a:t>
            </a:r>
            <a:r>
              <a:rPr spc="200" dirty="0"/>
              <a:t>of</a:t>
            </a:r>
            <a:r>
              <a:rPr spc="-30" dirty="0"/>
              <a:t> </a:t>
            </a:r>
            <a:r>
              <a:rPr spc="120" dirty="0"/>
              <a:t>contents</a:t>
            </a:r>
          </a:p>
        </p:txBody>
      </p:sp>
      <p:pic>
        <p:nvPicPr>
          <p:cNvPr id="33" name="object 3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20239" y="1176578"/>
            <a:ext cx="2130170" cy="1011631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2153157" y="1271981"/>
            <a:ext cx="1998345" cy="1319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24485">
              <a:lnSpc>
                <a:spcPct val="100000"/>
              </a:lnSpc>
              <a:spcBef>
                <a:spcPts val="95"/>
              </a:spcBef>
            </a:pPr>
            <a:r>
              <a:rPr sz="2000" b="1" spc="80" dirty="0">
                <a:solidFill>
                  <a:srgbClr val="FFDDBD"/>
                </a:solidFill>
                <a:latin typeface="Cambria"/>
                <a:cs typeface="Cambria"/>
              </a:rPr>
              <a:t>Store </a:t>
            </a:r>
            <a:r>
              <a:rPr sz="2000" b="1" spc="75" dirty="0">
                <a:solidFill>
                  <a:srgbClr val="FFDDBD"/>
                </a:solidFill>
                <a:latin typeface="Cambria"/>
                <a:cs typeface="Cambria"/>
              </a:rPr>
              <a:t>performance</a:t>
            </a:r>
            <a:endParaRPr sz="2000">
              <a:latin typeface="Cambria"/>
              <a:cs typeface="Cambria"/>
            </a:endParaRPr>
          </a:p>
          <a:p>
            <a:pPr marL="12700" marR="5080">
              <a:lnSpc>
                <a:spcPct val="100000"/>
              </a:lnSpc>
              <a:spcBef>
                <a:spcPts val="350"/>
              </a:spcBef>
            </a:pPr>
            <a:r>
              <a:rPr sz="1400" b="1" spc="-145" dirty="0">
                <a:solidFill>
                  <a:srgbClr val="FFFFFF"/>
                </a:solidFill>
                <a:latin typeface="Tahoma"/>
                <a:cs typeface="Tahoma"/>
              </a:rPr>
              <a:t>What</a:t>
            </a:r>
            <a:r>
              <a:rPr sz="1400" b="1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FFFFFF"/>
                </a:solidFill>
                <a:latin typeface="Tahoma"/>
                <a:cs typeface="Tahoma"/>
              </a:rPr>
              <a:t>store</a:t>
            </a:r>
            <a:r>
              <a:rPr sz="140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400" b="1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really </a:t>
            </a:r>
            <a:r>
              <a:rPr sz="1400" b="1" spc="-110" dirty="0">
                <a:solidFill>
                  <a:srgbClr val="FFFFFF"/>
                </a:solidFill>
                <a:latin typeface="Tahoma"/>
                <a:cs typeface="Tahoma"/>
              </a:rPr>
              <a:t>performing</a:t>
            </a:r>
            <a:r>
              <a:rPr sz="1400" b="1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400" b="1" spc="-90" dirty="0">
                <a:solidFill>
                  <a:srgbClr val="FFFFFF"/>
                </a:solidFill>
                <a:latin typeface="Tahoma"/>
                <a:cs typeface="Tahoma"/>
              </a:rPr>
              <a:t> best</a:t>
            </a: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90" dirty="0">
                <a:solidFill>
                  <a:srgbClr val="FFFFFF"/>
                </a:solidFill>
                <a:latin typeface="Tahoma"/>
                <a:cs typeface="Tahoma"/>
              </a:rPr>
              <a:t>from </a:t>
            </a:r>
            <a:r>
              <a:rPr sz="1400" b="1" spc="-120" dirty="0">
                <a:solidFill>
                  <a:srgbClr val="FFFFFF"/>
                </a:solidFill>
                <a:latin typeface="Tahoma"/>
                <a:cs typeface="Tahoma"/>
              </a:rPr>
              <a:t>weekly,</a:t>
            </a:r>
            <a:r>
              <a:rPr sz="14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30" dirty="0">
                <a:solidFill>
                  <a:srgbClr val="FFFFFF"/>
                </a:solidFill>
                <a:latin typeface="Tahoma"/>
                <a:cs typeface="Tahoma"/>
              </a:rPr>
              <a:t>monthly</a:t>
            </a:r>
            <a:r>
              <a:rPr sz="140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492496" y="1176578"/>
            <a:ext cx="2130171" cy="1011631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5726429" y="1271981"/>
            <a:ext cx="1904364" cy="1106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29870">
              <a:lnSpc>
                <a:spcPct val="100000"/>
              </a:lnSpc>
              <a:spcBef>
                <a:spcPts val="95"/>
              </a:spcBef>
            </a:pPr>
            <a:r>
              <a:rPr sz="2000" b="1" spc="100" dirty="0">
                <a:solidFill>
                  <a:srgbClr val="FFDDBD"/>
                </a:solidFill>
                <a:latin typeface="Cambria"/>
                <a:cs typeface="Cambria"/>
              </a:rPr>
              <a:t>Product </a:t>
            </a:r>
            <a:r>
              <a:rPr sz="2000" b="1" spc="75" dirty="0">
                <a:solidFill>
                  <a:srgbClr val="FFDDBD"/>
                </a:solidFill>
                <a:latin typeface="Cambria"/>
                <a:cs typeface="Cambria"/>
              </a:rPr>
              <a:t>performance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400" b="1" spc="-150" dirty="0">
                <a:solidFill>
                  <a:srgbClr val="FFFFFF"/>
                </a:solidFill>
                <a:latin typeface="Tahoma"/>
                <a:cs typeface="Tahoma"/>
              </a:rPr>
              <a:t>What</a:t>
            </a:r>
            <a:r>
              <a:rPr sz="140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90" dirty="0">
                <a:solidFill>
                  <a:srgbClr val="FFFFFF"/>
                </a:solidFill>
                <a:latin typeface="Tahoma"/>
                <a:cs typeface="Tahoma"/>
              </a:rPr>
              <a:t>products</a:t>
            </a:r>
            <a:r>
              <a:rPr sz="140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1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400" b="1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most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b="1" spc="-95" dirty="0">
                <a:solidFill>
                  <a:srgbClr val="FFFFFF"/>
                </a:solidFill>
                <a:latin typeface="Tahoma"/>
                <a:cs typeface="Tahoma"/>
              </a:rPr>
              <a:t>customers</a:t>
            </a:r>
            <a:r>
              <a:rPr sz="14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buying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7" name="object 3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32432" y="2907817"/>
            <a:ext cx="1749170" cy="706856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2055114" y="2897133"/>
            <a:ext cx="1612900" cy="93980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3189">
              <a:lnSpc>
                <a:spcPct val="100000"/>
              </a:lnSpc>
              <a:spcBef>
                <a:spcPts val="950"/>
              </a:spcBef>
            </a:pPr>
            <a:r>
              <a:rPr sz="2000" b="1" spc="65" dirty="0">
                <a:solidFill>
                  <a:srgbClr val="FFDDBD"/>
                </a:solidFill>
                <a:latin typeface="Cambria"/>
                <a:cs typeface="Cambria"/>
              </a:rPr>
              <a:t>Initatives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00" b="1" spc="-150" dirty="0">
                <a:solidFill>
                  <a:srgbClr val="FFFFFF"/>
                </a:solidFill>
                <a:latin typeface="Tahoma"/>
                <a:cs typeface="Tahoma"/>
              </a:rPr>
              <a:t>What</a:t>
            </a:r>
            <a:r>
              <a:rPr sz="1400" b="1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4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14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4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20" dirty="0">
                <a:solidFill>
                  <a:srgbClr val="FFFFFF"/>
                </a:solidFill>
                <a:latin typeface="Tahoma"/>
                <a:cs typeface="Tahoma"/>
              </a:rPr>
              <a:t>done</a:t>
            </a:r>
            <a:r>
              <a:rPr sz="14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b="1" spc="-90" dirty="0">
                <a:solidFill>
                  <a:srgbClr val="FFFFFF"/>
                </a:solidFill>
                <a:latin typeface="Tahoma"/>
                <a:cs typeface="Tahoma"/>
              </a:rPr>
              <a:t>increase</a:t>
            </a:r>
            <a:r>
              <a:rPr sz="14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sales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492496" y="2633522"/>
            <a:ext cx="2614803" cy="1011631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5726429" y="2729941"/>
            <a:ext cx="2161540" cy="1320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85" dirty="0">
                <a:solidFill>
                  <a:srgbClr val="FFDDBD"/>
                </a:solidFill>
                <a:latin typeface="Cambria"/>
                <a:cs typeface="Cambria"/>
              </a:rPr>
              <a:t>Factors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000" b="1" spc="90" dirty="0">
                <a:solidFill>
                  <a:srgbClr val="FFDDBD"/>
                </a:solidFill>
                <a:latin typeface="Cambria"/>
                <a:cs typeface="Cambria"/>
              </a:rPr>
              <a:t>influencing</a:t>
            </a:r>
            <a:r>
              <a:rPr sz="2000" b="1" spc="30" dirty="0">
                <a:solidFill>
                  <a:srgbClr val="FFDDBD"/>
                </a:solidFill>
                <a:latin typeface="Cambria"/>
                <a:cs typeface="Cambria"/>
              </a:rPr>
              <a:t> </a:t>
            </a:r>
            <a:r>
              <a:rPr sz="2000" b="1" spc="40" dirty="0">
                <a:solidFill>
                  <a:srgbClr val="FFDDBD"/>
                </a:solidFill>
                <a:latin typeface="Cambria"/>
                <a:cs typeface="Cambria"/>
              </a:rPr>
              <a:t>sales</a:t>
            </a:r>
            <a:endParaRPr sz="2000">
              <a:latin typeface="Cambria"/>
              <a:cs typeface="Cambria"/>
            </a:endParaRPr>
          </a:p>
          <a:p>
            <a:pPr marL="12700" marR="85090">
              <a:lnSpc>
                <a:spcPct val="100000"/>
              </a:lnSpc>
              <a:spcBef>
                <a:spcPts val="359"/>
              </a:spcBef>
            </a:pPr>
            <a:r>
              <a:rPr sz="1400" b="1" spc="-145" dirty="0">
                <a:solidFill>
                  <a:srgbClr val="FFFFFF"/>
                </a:solidFill>
                <a:latin typeface="Tahoma"/>
                <a:cs typeface="Tahoma"/>
              </a:rPr>
              <a:t>What</a:t>
            </a:r>
            <a:r>
              <a:rPr sz="140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5" dirty="0">
                <a:solidFill>
                  <a:srgbClr val="FFFFFF"/>
                </a:solidFill>
                <a:latin typeface="Tahoma"/>
                <a:cs typeface="Tahoma"/>
              </a:rPr>
              <a:t>things</a:t>
            </a:r>
            <a:r>
              <a:rPr sz="1400" b="1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10" dirty="0">
                <a:solidFill>
                  <a:srgbClr val="FFFFFF"/>
                </a:solidFill>
                <a:latin typeface="Tahoma"/>
                <a:cs typeface="Tahoma"/>
              </a:rPr>
              <a:t>that </a:t>
            </a:r>
            <a:r>
              <a:rPr sz="1400" b="1" spc="-80" dirty="0">
                <a:solidFill>
                  <a:srgbClr val="FFFFFF"/>
                </a:solidFill>
                <a:latin typeface="Tahoma"/>
                <a:cs typeface="Tahoma"/>
              </a:rPr>
              <a:t>influence </a:t>
            </a:r>
            <a:r>
              <a:rPr sz="1400" b="1" spc="-95" dirty="0">
                <a:solidFill>
                  <a:srgbClr val="FFFFFF"/>
                </a:solidFill>
                <a:latin typeface="Tahoma"/>
                <a:cs typeface="Tahoma"/>
              </a:rPr>
              <a:t>customers</a:t>
            </a: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9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400" b="1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40" dirty="0">
                <a:solidFill>
                  <a:srgbClr val="FFFFFF"/>
                </a:solidFill>
                <a:latin typeface="Tahoma"/>
                <a:cs typeface="Tahoma"/>
              </a:rPr>
              <a:t>buy</a:t>
            </a: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95" dirty="0">
                <a:solidFill>
                  <a:srgbClr val="FFFFFF"/>
                </a:solidFill>
                <a:latin typeface="Tahoma"/>
                <a:cs typeface="Tahoma"/>
              </a:rPr>
              <a:t>e.g </a:t>
            </a:r>
            <a:r>
              <a:rPr sz="1400" b="1" spc="-2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weather.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1" name="object 4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234439" y="3212591"/>
            <a:ext cx="601814" cy="681037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1450594" y="3295903"/>
            <a:ext cx="17526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50" dirty="0">
                <a:solidFill>
                  <a:srgbClr val="52341A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797552" y="1755584"/>
            <a:ext cx="613981" cy="681037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5015865" y="1837131"/>
            <a:ext cx="18796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30" dirty="0">
                <a:solidFill>
                  <a:srgbClr val="52341A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45" name="object 4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794503" y="3212591"/>
            <a:ext cx="620102" cy="681037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5012816" y="3295903"/>
            <a:ext cx="19304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80" dirty="0">
                <a:solidFill>
                  <a:srgbClr val="52341A"/>
                </a:solidFill>
                <a:latin typeface="Cambria"/>
                <a:cs typeface="Cambria"/>
              </a:rPr>
              <a:t>4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5405"/>
            <a:chOff x="0" y="0"/>
            <a:chExt cx="9144000" cy="5145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160792"/>
              <a:ext cx="1008494" cy="198423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199342"/>
              <a:ext cx="907986" cy="194568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712595" cy="161505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1612392" cy="14782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37832" y="3547927"/>
              <a:ext cx="2106168" cy="15970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10983" y="3584447"/>
              <a:ext cx="2033016" cy="15605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09104" y="0"/>
              <a:ext cx="1834896" cy="157543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82256" y="0"/>
              <a:ext cx="1761744" cy="1438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3087653"/>
              <a:ext cx="2148459" cy="20573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3124047"/>
              <a:ext cx="2046338" cy="20209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70904" y="0"/>
              <a:ext cx="2099691" cy="104203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42658" y="0"/>
              <a:ext cx="1925561" cy="90648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7848" y="975423"/>
              <a:ext cx="8554085" cy="3347974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270508" y="1378077"/>
            <a:ext cx="6603365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600" spc="1505" dirty="0" smtClean="0"/>
              <a:t>6</a:t>
            </a:r>
            <a:r>
              <a:rPr lang="en-ZA" sz="9600" spc="1505" dirty="0" smtClean="0"/>
              <a:t>98</a:t>
            </a:r>
            <a:r>
              <a:rPr sz="9600" spc="1505" dirty="0" smtClean="0"/>
              <a:t>,</a:t>
            </a:r>
            <a:r>
              <a:rPr lang="en-ZA" sz="9600" spc="1505" dirty="0" smtClean="0"/>
              <a:t>8</a:t>
            </a:r>
            <a:r>
              <a:rPr sz="9600" spc="1505" dirty="0" smtClean="0"/>
              <a:t>00</a:t>
            </a:r>
            <a:endParaRPr sz="9600" dirty="0"/>
          </a:p>
        </p:txBody>
      </p:sp>
      <p:sp>
        <p:nvSpPr>
          <p:cNvPr id="17" name="object 17"/>
          <p:cNvSpPr txBox="1"/>
          <p:nvPr/>
        </p:nvSpPr>
        <p:spPr>
          <a:xfrm>
            <a:off x="2164460" y="3486353"/>
            <a:ext cx="481266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0"/>
              </a:spcBef>
              <a:buClr>
                <a:srgbClr val="FFFFFF"/>
              </a:buClr>
              <a:buFont typeface="Arial MT"/>
              <a:buChar char="•"/>
              <a:tabLst>
                <a:tab pos="299085" algn="l"/>
              </a:tabLst>
            </a:pPr>
            <a:r>
              <a:rPr sz="1600" b="1" spc="-100" dirty="0">
                <a:solidFill>
                  <a:srgbClr val="ECDAD0"/>
                </a:solidFill>
                <a:latin typeface="Tahoma"/>
                <a:cs typeface="Tahoma"/>
              </a:rPr>
              <a:t>Total</a:t>
            </a:r>
            <a:r>
              <a:rPr sz="1600" b="1" spc="-120" dirty="0">
                <a:solidFill>
                  <a:srgbClr val="ECDAD0"/>
                </a:solidFill>
                <a:latin typeface="Tahoma"/>
                <a:cs typeface="Tahoma"/>
              </a:rPr>
              <a:t> </a:t>
            </a:r>
            <a:r>
              <a:rPr sz="1600" b="1" spc="-135" dirty="0">
                <a:solidFill>
                  <a:srgbClr val="ECDAD0"/>
                </a:solidFill>
                <a:latin typeface="Tahoma"/>
                <a:cs typeface="Tahoma"/>
              </a:rPr>
              <a:t>Revenue</a:t>
            </a:r>
            <a:r>
              <a:rPr sz="1600" b="1" spc="-125" dirty="0">
                <a:solidFill>
                  <a:srgbClr val="ECDAD0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solidFill>
                  <a:srgbClr val="ECDAD0"/>
                </a:solidFill>
                <a:latin typeface="Tahoma"/>
                <a:cs typeface="Tahoma"/>
              </a:rPr>
              <a:t>for</a:t>
            </a:r>
            <a:r>
              <a:rPr sz="1600" b="1" spc="-95" dirty="0">
                <a:solidFill>
                  <a:srgbClr val="ECDAD0"/>
                </a:solidFill>
                <a:latin typeface="Tahoma"/>
                <a:cs typeface="Tahoma"/>
              </a:rPr>
              <a:t> </a:t>
            </a:r>
            <a:r>
              <a:rPr sz="1600" b="1" spc="-114" dirty="0">
                <a:solidFill>
                  <a:srgbClr val="ECDAD0"/>
                </a:solidFill>
                <a:latin typeface="Tahoma"/>
                <a:cs typeface="Tahoma"/>
              </a:rPr>
              <a:t>the</a:t>
            </a:r>
            <a:r>
              <a:rPr sz="1600" b="1" spc="-100" dirty="0">
                <a:solidFill>
                  <a:srgbClr val="ECDAD0"/>
                </a:solidFill>
                <a:latin typeface="Tahoma"/>
                <a:cs typeface="Tahoma"/>
              </a:rPr>
              <a:t> </a:t>
            </a:r>
            <a:r>
              <a:rPr sz="1600" b="1" spc="-114" dirty="0">
                <a:solidFill>
                  <a:srgbClr val="ECDAD0"/>
                </a:solidFill>
                <a:latin typeface="Tahoma"/>
                <a:cs typeface="Tahoma"/>
              </a:rPr>
              <a:t>overall</a:t>
            </a:r>
            <a:r>
              <a:rPr sz="1600" b="1" spc="-120" dirty="0">
                <a:solidFill>
                  <a:srgbClr val="ECDAD0"/>
                </a:solidFill>
                <a:latin typeface="Tahoma"/>
                <a:cs typeface="Tahoma"/>
              </a:rPr>
              <a:t> </a:t>
            </a:r>
            <a:r>
              <a:rPr sz="1600" b="1" spc="-110" dirty="0">
                <a:solidFill>
                  <a:srgbClr val="ECDAD0"/>
                </a:solidFill>
                <a:latin typeface="Tahoma"/>
                <a:cs typeface="Tahoma"/>
              </a:rPr>
              <a:t>BrightLight</a:t>
            </a:r>
            <a:r>
              <a:rPr sz="1600" b="1" spc="-95" dirty="0">
                <a:solidFill>
                  <a:srgbClr val="ECDAD0"/>
                </a:solidFill>
                <a:latin typeface="Tahoma"/>
                <a:cs typeface="Tahoma"/>
              </a:rPr>
              <a:t> </a:t>
            </a:r>
            <a:r>
              <a:rPr sz="1600" b="1" spc="-85" dirty="0">
                <a:solidFill>
                  <a:srgbClr val="ECDAD0"/>
                </a:solidFill>
                <a:latin typeface="Tahoma"/>
                <a:cs typeface="Tahoma"/>
              </a:rPr>
              <a:t>company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0272" y="557860"/>
            <a:ext cx="7009130" cy="2466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b="1" spc="-25" dirty="0">
                <a:solidFill>
                  <a:srgbClr val="D5C5BE"/>
                </a:solidFill>
                <a:latin typeface="Cambria"/>
                <a:cs typeface="Cambria"/>
              </a:rPr>
              <a:t>01:</a:t>
            </a:r>
            <a:endParaRPr sz="4000">
              <a:latin typeface="Cambria"/>
              <a:cs typeface="Cambria"/>
            </a:endParaRPr>
          </a:p>
          <a:p>
            <a:pPr marL="12700" marR="5080">
              <a:lnSpc>
                <a:spcPct val="100000"/>
              </a:lnSpc>
            </a:pPr>
            <a:r>
              <a:rPr sz="4000" b="1" spc="420" dirty="0">
                <a:solidFill>
                  <a:srgbClr val="D5C5BE"/>
                </a:solidFill>
                <a:latin typeface="Cambria"/>
                <a:cs typeface="Cambria"/>
              </a:rPr>
              <a:t>OVERALL</a:t>
            </a:r>
            <a:r>
              <a:rPr sz="4000" b="1" spc="-70" dirty="0">
                <a:solidFill>
                  <a:srgbClr val="D5C5BE"/>
                </a:solidFill>
                <a:latin typeface="Cambria"/>
                <a:cs typeface="Cambria"/>
              </a:rPr>
              <a:t> </a:t>
            </a:r>
            <a:r>
              <a:rPr sz="4000" b="1" spc="400" dirty="0">
                <a:solidFill>
                  <a:srgbClr val="D5C5BE"/>
                </a:solidFill>
                <a:latin typeface="Cambria"/>
                <a:cs typeface="Cambria"/>
              </a:rPr>
              <a:t>BRIGHTCOFFEE </a:t>
            </a:r>
            <a:r>
              <a:rPr sz="4000" b="1" spc="420" dirty="0">
                <a:solidFill>
                  <a:srgbClr val="D5C5BE"/>
                </a:solidFill>
                <a:latin typeface="Cambria"/>
                <a:cs typeface="Cambria"/>
              </a:rPr>
              <a:t>SALES</a:t>
            </a:r>
            <a:r>
              <a:rPr sz="4000" b="1" spc="-45" dirty="0">
                <a:solidFill>
                  <a:srgbClr val="D5C5BE"/>
                </a:solidFill>
                <a:latin typeface="Cambria"/>
                <a:cs typeface="Cambria"/>
              </a:rPr>
              <a:t> </a:t>
            </a:r>
            <a:r>
              <a:rPr sz="4000" b="1" spc="415" dirty="0">
                <a:solidFill>
                  <a:srgbClr val="D5C5BE"/>
                </a:solidFill>
                <a:latin typeface="Cambria"/>
                <a:cs typeface="Cambria"/>
              </a:rPr>
              <a:t>PERFORMANCE </a:t>
            </a:r>
            <a:r>
              <a:rPr sz="4000" b="1" spc="395" dirty="0">
                <a:solidFill>
                  <a:srgbClr val="D5C5BE"/>
                </a:solidFill>
                <a:latin typeface="Cambria"/>
                <a:cs typeface="Cambria"/>
              </a:rPr>
              <a:t>ANALYSIS</a:t>
            </a:r>
            <a:endParaRPr sz="4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5405"/>
            <a:chOff x="0" y="0"/>
            <a:chExt cx="9144000" cy="5145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160792"/>
              <a:ext cx="1261491" cy="198423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197351"/>
              <a:ext cx="1161288" cy="19476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72271" y="0"/>
              <a:ext cx="871727" cy="203568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5424" y="0"/>
              <a:ext cx="798576" cy="18989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3631" y="3962401"/>
              <a:ext cx="1420368" cy="118262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94523" y="4000715"/>
              <a:ext cx="1349476" cy="114430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349883" cy="146570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0"/>
              <a:ext cx="1248918" cy="132905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1623" y="335343"/>
              <a:ext cx="7572629" cy="918781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  <a:tabLst>
                <a:tab pos="5078730" algn="l"/>
              </a:tabLst>
            </a:pPr>
            <a:r>
              <a:rPr spc="300" dirty="0"/>
              <a:t>MONTHLY</a:t>
            </a:r>
            <a:r>
              <a:rPr spc="-35" dirty="0"/>
              <a:t> </a:t>
            </a:r>
            <a:r>
              <a:rPr spc="305" dirty="0"/>
              <a:t>AND</a:t>
            </a:r>
            <a:r>
              <a:rPr spc="5" dirty="0"/>
              <a:t> </a:t>
            </a:r>
            <a:r>
              <a:rPr spc="305" dirty="0"/>
              <a:t>WEEKLY</a:t>
            </a:r>
            <a:r>
              <a:rPr dirty="0"/>
              <a:t>	</a:t>
            </a:r>
            <a:r>
              <a:rPr spc="280" dirty="0"/>
              <a:t>REVENUE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075944" y="1574291"/>
            <a:ext cx="2208530" cy="2505710"/>
            <a:chOff x="1075944" y="1574291"/>
            <a:chExt cx="2208530" cy="2505710"/>
          </a:xfrm>
        </p:grpSpPr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36647" y="1871535"/>
              <a:ext cx="924902" cy="114738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36647" y="2286050"/>
              <a:ext cx="1147381" cy="98280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36647" y="2932175"/>
              <a:ext cx="1116914" cy="104985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52016" y="2932175"/>
              <a:ext cx="1013269" cy="114738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94232" y="2932175"/>
              <a:ext cx="1129093" cy="102848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75944" y="2258618"/>
              <a:ext cx="1147381" cy="95537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16736" y="1871535"/>
              <a:ext cx="906602" cy="114738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21368" y="1894458"/>
              <a:ext cx="2121154" cy="212079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650108" y="1574291"/>
              <a:ext cx="412115" cy="428625"/>
            </a:xfrm>
            <a:custGeom>
              <a:avLst/>
              <a:gdLst/>
              <a:ahLst/>
              <a:cxnLst/>
              <a:rect l="l" t="t" r="r" b="b"/>
              <a:pathLst>
                <a:path w="412114" h="428625">
                  <a:moveTo>
                    <a:pt x="411607" y="0"/>
                  </a:moveTo>
                  <a:lnTo>
                    <a:pt x="27559" y="0"/>
                  </a:lnTo>
                  <a:lnTo>
                    <a:pt x="27559" y="390144"/>
                  </a:lnTo>
                  <a:lnTo>
                    <a:pt x="91567" y="390144"/>
                  </a:lnTo>
                  <a:lnTo>
                    <a:pt x="0" y="428117"/>
                  </a:lnTo>
                  <a:lnTo>
                    <a:pt x="187579" y="390144"/>
                  </a:lnTo>
                  <a:lnTo>
                    <a:pt x="411607" y="390144"/>
                  </a:lnTo>
                  <a:lnTo>
                    <a:pt x="411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677667" y="1574291"/>
            <a:ext cx="384175" cy="390525"/>
          </a:xfrm>
          <a:prstGeom prst="rect">
            <a:avLst/>
          </a:prstGeom>
          <a:ln w="9144">
            <a:solidFill>
              <a:srgbClr val="FFF6EE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38735" marR="30480" indent="5715">
              <a:lnSpc>
                <a:spcPts val="1370"/>
              </a:lnSpc>
              <a:spcBef>
                <a:spcPts val="200"/>
              </a:spcBef>
            </a:pPr>
            <a:r>
              <a:rPr sz="1200" spc="-25" dirty="0">
                <a:solidFill>
                  <a:srgbClr val="3D2712"/>
                </a:solidFill>
                <a:latin typeface="Arial MT"/>
                <a:cs typeface="Arial MT"/>
              </a:rPr>
              <a:t>Mon 15%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213798" y="2483929"/>
            <a:ext cx="450215" cy="400050"/>
            <a:chOff x="3213798" y="2483929"/>
            <a:chExt cx="450215" cy="400050"/>
          </a:xfrm>
        </p:grpSpPr>
        <p:sp>
          <p:nvSpPr>
            <p:cNvPr id="25" name="object 25"/>
            <p:cNvSpPr/>
            <p:nvPr/>
          </p:nvSpPr>
          <p:spPr>
            <a:xfrm>
              <a:off x="3218560" y="2488691"/>
              <a:ext cx="440690" cy="390525"/>
            </a:xfrm>
            <a:custGeom>
              <a:avLst/>
              <a:gdLst/>
              <a:ahLst/>
              <a:cxnLst/>
              <a:rect l="l" t="t" r="r" b="b"/>
              <a:pathLst>
                <a:path w="440689" h="390525">
                  <a:moveTo>
                    <a:pt x="440563" y="0"/>
                  </a:moveTo>
                  <a:lnTo>
                    <a:pt x="56514" y="0"/>
                  </a:lnTo>
                  <a:lnTo>
                    <a:pt x="56514" y="227583"/>
                  </a:lnTo>
                  <a:lnTo>
                    <a:pt x="0" y="245363"/>
                  </a:lnTo>
                  <a:lnTo>
                    <a:pt x="56514" y="325119"/>
                  </a:lnTo>
                  <a:lnTo>
                    <a:pt x="56514" y="390144"/>
                  </a:lnTo>
                  <a:lnTo>
                    <a:pt x="440563" y="390144"/>
                  </a:lnTo>
                  <a:lnTo>
                    <a:pt x="4405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18560" y="2488691"/>
              <a:ext cx="440690" cy="390525"/>
            </a:xfrm>
            <a:custGeom>
              <a:avLst/>
              <a:gdLst/>
              <a:ahLst/>
              <a:cxnLst/>
              <a:rect l="l" t="t" r="r" b="b"/>
              <a:pathLst>
                <a:path w="440689" h="390525">
                  <a:moveTo>
                    <a:pt x="56514" y="0"/>
                  </a:moveTo>
                  <a:lnTo>
                    <a:pt x="120523" y="0"/>
                  </a:lnTo>
                  <a:lnTo>
                    <a:pt x="216535" y="0"/>
                  </a:lnTo>
                  <a:lnTo>
                    <a:pt x="440563" y="0"/>
                  </a:lnTo>
                  <a:lnTo>
                    <a:pt x="440563" y="227583"/>
                  </a:lnTo>
                  <a:lnTo>
                    <a:pt x="440563" y="325119"/>
                  </a:lnTo>
                  <a:lnTo>
                    <a:pt x="440563" y="390144"/>
                  </a:lnTo>
                  <a:lnTo>
                    <a:pt x="216535" y="390144"/>
                  </a:lnTo>
                  <a:lnTo>
                    <a:pt x="120523" y="390144"/>
                  </a:lnTo>
                  <a:lnTo>
                    <a:pt x="56514" y="390144"/>
                  </a:lnTo>
                  <a:lnTo>
                    <a:pt x="56514" y="325119"/>
                  </a:lnTo>
                  <a:lnTo>
                    <a:pt x="0" y="245363"/>
                  </a:lnTo>
                  <a:lnTo>
                    <a:pt x="56514" y="227583"/>
                  </a:lnTo>
                  <a:lnTo>
                    <a:pt x="56514" y="0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302253" y="2489072"/>
            <a:ext cx="332740" cy="38227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20955">
              <a:lnSpc>
                <a:spcPts val="1370"/>
              </a:lnSpc>
              <a:spcBef>
                <a:spcPts val="200"/>
              </a:spcBef>
            </a:pPr>
            <a:r>
              <a:rPr sz="1200" spc="-25" dirty="0">
                <a:solidFill>
                  <a:srgbClr val="3D2712"/>
                </a:solidFill>
                <a:latin typeface="Arial MT"/>
                <a:cs typeface="Arial MT"/>
              </a:rPr>
              <a:t>Tue 14%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996120" y="3617785"/>
            <a:ext cx="448309" cy="400050"/>
            <a:chOff x="2996120" y="3617785"/>
            <a:chExt cx="448309" cy="400050"/>
          </a:xfrm>
        </p:grpSpPr>
        <p:sp>
          <p:nvSpPr>
            <p:cNvPr id="29" name="object 29"/>
            <p:cNvSpPr/>
            <p:nvPr/>
          </p:nvSpPr>
          <p:spPr>
            <a:xfrm>
              <a:off x="3000882" y="3622547"/>
              <a:ext cx="438784" cy="390525"/>
            </a:xfrm>
            <a:custGeom>
              <a:avLst/>
              <a:gdLst/>
              <a:ahLst/>
              <a:cxnLst/>
              <a:rect l="l" t="t" r="r" b="b"/>
              <a:pathLst>
                <a:path w="438785" h="390525">
                  <a:moveTo>
                    <a:pt x="438784" y="0"/>
                  </a:moveTo>
                  <a:lnTo>
                    <a:pt x="45593" y="0"/>
                  </a:lnTo>
                  <a:lnTo>
                    <a:pt x="45593" y="65023"/>
                  </a:lnTo>
                  <a:lnTo>
                    <a:pt x="0" y="7619"/>
                  </a:lnTo>
                  <a:lnTo>
                    <a:pt x="45593" y="162559"/>
                  </a:lnTo>
                  <a:lnTo>
                    <a:pt x="45593" y="390144"/>
                  </a:lnTo>
                  <a:lnTo>
                    <a:pt x="438784" y="390144"/>
                  </a:lnTo>
                  <a:lnTo>
                    <a:pt x="4387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00882" y="3622547"/>
              <a:ext cx="438784" cy="390525"/>
            </a:xfrm>
            <a:custGeom>
              <a:avLst/>
              <a:gdLst/>
              <a:ahLst/>
              <a:cxnLst/>
              <a:rect l="l" t="t" r="r" b="b"/>
              <a:pathLst>
                <a:path w="438785" h="390525">
                  <a:moveTo>
                    <a:pt x="45593" y="0"/>
                  </a:moveTo>
                  <a:lnTo>
                    <a:pt x="111125" y="0"/>
                  </a:lnTo>
                  <a:lnTo>
                    <a:pt x="209423" y="0"/>
                  </a:lnTo>
                  <a:lnTo>
                    <a:pt x="438784" y="0"/>
                  </a:lnTo>
                  <a:lnTo>
                    <a:pt x="438784" y="65023"/>
                  </a:lnTo>
                  <a:lnTo>
                    <a:pt x="438784" y="162559"/>
                  </a:lnTo>
                  <a:lnTo>
                    <a:pt x="438784" y="390144"/>
                  </a:lnTo>
                  <a:lnTo>
                    <a:pt x="209423" y="390144"/>
                  </a:lnTo>
                  <a:lnTo>
                    <a:pt x="111125" y="390144"/>
                  </a:lnTo>
                  <a:lnTo>
                    <a:pt x="45593" y="390144"/>
                  </a:lnTo>
                  <a:lnTo>
                    <a:pt x="45593" y="162559"/>
                  </a:lnTo>
                  <a:lnTo>
                    <a:pt x="0" y="7619"/>
                  </a:lnTo>
                  <a:lnTo>
                    <a:pt x="45593" y="65023"/>
                  </a:lnTo>
                  <a:lnTo>
                    <a:pt x="45593" y="0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072764" y="3622675"/>
            <a:ext cx="344805" cy="38227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8415" marR="5080" indent="-6350">
              <a:lnSpc>
                <a:spcPts val="1370"/>
              </a:lnSpc>
              <a:spcBef>
                <a:spcPts val="204"/>
              </a:spcBef>
            </a:pPr>
            <a:r>
              <a:rPr sz="1200" spc="-25" dirty="0">
                <a:solidFill>
                  <a:srgbClr val="3D2712"/>
                </a:solidFill>
                <a:latin typeface="Arial MT"/>
                <a:cs typeface="Arial MT"/>
              </a:rPr>
              <a:t>Wed 14%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947481" y="3931729"/>
            <a:ext cx="393700" cy="400050"/>
            <a:chOff x="1947481" y="3931729"/>
            <a:chExt cx="393700" cy="400050"/>
          </a:xfrm>
        </p:grpSpPr>
        <p:sp>
          <p:nvSpPr>
            <p:cNvPr id="33" name="object 33"/>
            <p:cNvSpPr/>
            <p:nvPr/>
          </p:nvSpPr>
          <p:spPr>
            <a:xfrm>
              <a:off x="1952244" y="3936491"/>
              <a:ext cx="384175" cy="390525"/>
            </a:xfrm>
            <a:custGeom>
              <a:avLst/>
              <a:gdLst/>
              <a:ahLst/>
              <a:cxnLst/>
              <a:rect l="l" t="t" r="r" b="b"/>
              <a:pathLst>
                <a:path w="384175" h="390525">
                  <a:moveTo>
                    <a:pt x="384048" y="0"/>
                  </a:moveTo>
                  <a:lnTo>
                    <a:pt x="205994" y="0"/>
                  </a:lnTo>
                  <a:lnTo>
                    <a:pt x="224028" y="0"/>
                  </a:lnTo>
                  <a:lnTo>
                    <a:pt x="0" y="0"/>
                  </a:lnTo>
                  <a:lnTo>
                    <a:pt x="0" y="390143"/>
                  </a:lnTo>
                  <a:lnTo>
                    <a:pt x="384048" y="390143"/>
                  </a:lnTo>
                  <a:lnTo>
                    <a:pt x="3840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52244" y="3936491"/>
              <a:ext cx="384175" cy="390525"/>
            </a:xfrm>
            <a:custGeom>
              <a:avLst/>
              <a:gdLst/>
              <a:ahLst/>
              <a:cxnLst/>
              <a:rect l="l" t="t" r="r" b="b"/>
              <a:pathLst>
                <a:path w="384175" h="390525">
                  <a:moveTo>
                    <a:pt x="0" y="0"/>
                  </a:moveTo>
                  <a:lnTo>
                    <a:pt x="224028" y="0"/>
                  </a:lnTo>
                  <a:lnTo>
                    <a:pt x="205994" y="0"/>
                  </a:lnTo>
                  <a:lnTo>
                    <a:pt x="320039" y="0"/>
                  </a:lnTo>
                  <a:lnTo>
                    <a:pt x="384048" y="0"/>
                  </a:lnTo>
                  <a:lnTo>
                    <a:pt x="384048" y="65023"/>
                  </a:lnTo>
                  <a:lnTo>
                    <a:pt x="384048" y="162559"/>
                  </a:lnTo>
                  <a:lnTo>
                    <a:pt x="384048" y="390143"/>
                  </a:lnTo>
                  <a:lnTo>
                    <a:pt x="320039" y="390143"/>
                  </a:lnTo>
                  <a:lnTo>
                    <a:pt x="224028" y="390143"/>
                  </a:lnTo>
                  <a:lnTo>
                    <a:pt x="0" y="390143"/>
                  </a:lnTo>
                  <a:lnTo>
                    <a:pt x="0" y="162559"/>
                  </a:lnTo>
                  <a:lnTo>
                    <a:pt x="0" y="65023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956816" y="3936898"/>
            <a:ext cx="375285" cy="38227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4290" marR="25400" indent="20955">
              <a:lnSpc>
                <a:spcPts val="1370"/>
              </a:lnSpc>
              <a:spcBef>
                <a:spcPts val="204"/>
              </a:spcBef>
            </a:pPr>
            <a:r>
              <a:rPr sz="1200" spc="-25" dirty="0">
                <a:solidFill>
                  <a:srgbClr val="3D2712"/>
                </a:solidFill>
                <a:latin typeface="Arial MT"/>
                <a:cs typeface="Arial MT"/>
              </a:rPr>
              <a:t>Thu 14%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95921" y="3559873"/>
            <a:ext cx="440690" cy="400050"/>
            <a:chOff x="895921" y="3559873"/>
            <a:chExt cx="440690" cy="400050"/>
          </a:xfrm>
        </p:grpSpPr>
        <p:sp>
          <p:nvSpPr>
            <p:cNvPr id="37" name="object 37"/>
            <p:cNvSpPr/>
            <p:nvPr/>
          </p:nvSpPr>
          <p:spPr>
            <a:xfrm>
              <a:off x="900683" y="3564635"/>
              <a:ext cx="431165" cy="390525"/>
            </a:xfrm>
            <a:custGeom>
              <a:avLst/>
              <a:gdLst/>
              <a:ahLst/>
              <a:cxnLst/>
              <a:rect l="l" t="t" r="r" b="b"/>
              <a:pathLst>
                <a:path w="431165" h="390525">
                  <a:moveTo>
                    <a:pt x="384047" y="0"/>
                  </a:moveTo>
                  <a:lnTo>
                    <a:pt x="0" y="0"/>
                  </a:lnTo>
                  <a:lnTo>
                    <a:pt x="0" y="390144"/>
                  </a:lnTo>
                  <a:lnTo>
                    <a:pt x="384047" y="390144"/>
                  </a:lnTo>
                  <a:lnTo>
                    <a:pt x="384047" y="162559"/>
                  </a:lnTo>
                  <a:lnTo>
                    <a:pt x="431038" y="24510"/>
                  </a:lnTo>
                  <a:lnTo>
                    <a:pt x="384047" y="65024"/>
                  </a:lnTo>
                  <a:lnTo>
                    <a:pt x="3840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00683" y="3564635"/>
              <a:ext cx="431165" cy="390525"/>
            </a:xfrm>
            <a:custGeom>
              <a:avLst/>
              <a:gdLst/>
              <a:ahLst/>
              <a:cxnLst/>
              <a:rect l="l" t="t" r="r" b="b"/>
              <a:pathLst>
                <a:path w="431165" h="390525">
                  <a:moveTo>
                    <a:pt x="0" y="0"/>
                  </a:moveTo>
                  <a:lnTo>
                    <a:pt x="224028" y="0"/>
                  </a:lnTo>
                  <a:lnTo>
                    <a:pt x="320040" y="0"/>
                  </a:lnTo>
                  <a:lnTo>
                    <a:pt x="384047" y="0"/>
                  </a:lnTo>
                  <a:lnTo>
                    <a:pt x="384047" y="65024"/>
                  </a:lnTo>
                  <a:lnTo>
                    <a:pt x="431038" y="24510"/>
                  </a:lnTo>
                  <a:lnTo>
                    <a:pt x="384047" y="162559"/>
                  </a:lnTo>
                  <a:lnTo>
                    <a:pt x="384047" y="390144"/>
                  </a:lnTo>
                  <a:lnTo>
                    <a:pt x="320040" y="390144"/>
                  </a:lnTo>
                  <a:lnTo>
                    <a:pt x="224028" y="390144"/>
                  </a:lnTo>
                  <a:lnTo>
                    <a:pt x="0" y="390144"/>
                  </a:lnTo>
                  <a:lnTo>
                    <a:pt x="0" y="162559"/>
                  </a:lnTo>
                  <a:lnTo>
                    <a:pt x="0" y="65024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26083" y="3565397"/>
            <a:ext cx="332740" cy="38227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60960">
              <a:lnSpc>
                <a:spcPts val="1370"/>
              </a:lnSpc>
              <a:spcBef>
                <a:spcPts val="204"/>
              </a:spcBef>
            </a:pPr>
            <a:r>
              <a:rPr sz="1200" spc="-25" dirty="0">
                <a:solidFill>
                  <a:srgbClr val="3D2712"/>
                </a:solidFill>
                <a:latin typeface="Arial MT"/>
                <a:cs typeface="Arial MT"/>
              </a:rPr>
              <a:t>Fri 15%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09993" y="2429065"/>
            <a:ext cx="449580" cy="403225"/>
            <a:chOff x="709993" y="2429065"/>
            <a:chExt cx="449580" cy="403225"/>
          </a:xfrm>
        </p:grpSpPr>
        <p:sp>
          <p:nvSpPr>
            <p:cNvPr id="41" name="object 41"/>
            <p:cNvSpPr/>
            <p:nvPr/>
          </p:nvSpPr>
          <p:spPr>
            <a:xfrm>
              <a:off x="714755" y="2433827"/>
              <a:ext cx="440055" cy="393700"/>
            </a:xfrm>
            <a:custGeom>
              <a:avLst/>
              <a:gdLst/>
              <a:ahLst/>
              <a:cxnLst/>
              <a:rect l="l" t="t" r="r" b="b"/>
              <a:pathLst>
                <a:path w="440055" h="393700">
                  <a:moveTo>
                    <a:pt x="384047" y="0"/>
                  </a:moveTo>
                  <a:lnTo>
                    <a:pt x="0" y="0"/>
                  </a:lnTo>
                  <a:lnTo>
                    <a:pt x="0" y="393191"/>
                  </a:lnTo>
                  <a:lnTo>
                    <a:pt x="384047" y="393191"/>
                  </a:lnTo>
                  <a:lnTo>
                    <a:pt x="384047" y="327659"/>
                  </a:lnTo>
                  <a:lnTo>
                    <a:pt x="440055" y="257556"/>
                  </a:lnTo>
                  <a:lnTo>
                    <a:pt x="384047" y="229362"/>
                  </a:lnTo>
                  <a:lnTo>
                    <a:pt x="3840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14755" y="2433827"/>
              <a:ext cx="440055" cy="393700"/>
            </a:xfrm>
            <a:custGeom>
              <a:avLst/>
              <a:gdLst/>
              <a:ahLst/>
              <a:cxnLst/>
              <a:rect l="l" t="t" r="r" b="b"/>
              <a:pathLst>
                <a:path w="440055" h="393700">
                  <a:moveTo>
                    <a:pt x="0" y="0"/>
                  </a:moveTo>
                  <a:lnTo>
                    <a:pt x="224028" y="0"/>
                  </a:lnTo>
                  <a:lnTo>
                    <a:pt x="320040" y="0"/>
                  </a:lnTo>
                  <a:lnTo>
                    <a:pt x="384047" y="0"/>
                  </a:lnTo>
                  <a:lnTo>
                    <a:pt x="384047" y="229362"/>
                  </a:lnTo>
                  <a:lnTo>
                    <a:pt x="440055" y="257556"/>
                  </a:lnTo>
                  <a:lnTo>
                    <a:pt x="384047" y="327659"/>
                  </a:lnTo>
                  <a:lnTo>
                    <a:pt x="384047" y="393191"/>
                  </a:lnTo>
                  <a:lnTo>
                    <a:pt x="320040" y="393191"/>
                  </a:lnTo>
                  <a:lnTo>
                    <a:pt x="224028" y="393191"/>
                  </a:lnTo>
                  <a:lnTo>
                    <a:pt x="0" y="393191"/>
                  </a:lnTo>
                  <a:lnTo>
                    <a:pt x="0" y="327659"/>
                  </a:lnTo>
                  <a:lnTo>
                    <a:pt x="0" y="229362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40155" y="2435732"/>
            <a:ext cx="332740" cy="38227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39370">
              <a:lnSpc>
                <a:spcPts val="1370"/>
              </a:lnSpc>
              <a:spcBef>
                <a:spcPts val="200"/>
              </a:spcBef>
            </a:pPr>
            <a:r>
              <a:rPr sz="1200" spc="-25" dirty="0">
                <a:solidFill>
                  <a:srgbClr val="3D2712"/>
                </a:solidFill>
                <a:latin typeface="Arial MT"/>
                <a:cs typeface="Arial MT"/>
              </a:rPr>
              <a:t>Sat 14%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313497" y="1560385"/>
            <a:ext cx="421005" cy="441325"/>
            <a:chOff x="1313497" y="1560385"/>
            <a:chExt cx="421005" cy="441325"/>
          </a:xfrm>
        </p:grpSpPr>
        <p:sp>
          <p:nvSpPr>
            <p:cNvPr id="45" name="object 45"/>
            <p:cNvSpPr/>
            <p:nvPr/>
          </p:nvSpPr>
          <p:spPr>
            <a:xfrm>
              <a:off x="1318260" y="1565147"/>
              <a:ext cx="411480" cy="431800"/>
            </a:xfrm>
            <a:custGeom>
              <a:avLst/>
              <a:gdLst/>
              <a:ahLst/>
              <a:cxnLst/>
              <a:rect l="l" t="t" r="r" b="b"/>
              <a:pathLst>
                <a:path w="411480" h="431800">
                  <a:moveTo>
                    <a:pt x="384047" y="0"/>
                  </a:moveTo>
                  <a:lnTo>
                    <a:pt x="0" y="0"/>
                  </a:lnTo>
                  <a:lnTo>
                    <a:pt x="0" y="393192"/>
                  </a:lnTo>
                  <a:lnTo>
                    <a:pt x="224028" y="393192"/>
                  </a:lnTo>
                  <a:lnTo>
                    <a:pt x="410972" y="431673"/>
                  </a:lnTo>
                  <a:lnTo>
                    <a:pt x="320040" y="393192"/>
                  </a:lnTo>
                  <a:lnTo>
                    <a:pt x="384047" y="393192"/>
                  </a:lnTo>
                  <a:lnTo>
                    <a:pt x="3840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318260" y="1565147"/>
              <a:ext cx="411480" cy="431800"/>
            </a:xfrm>
            <a:custGeom>
              <a:avLst/>
              <a:gdLst/>
              <a:ahLst/>
              <a:cxnLst/>
              <a:rect l="l" t="t" r="r" b="b"/>
              <a:pathLst>
                <a:path w="411480" h="431800">
                  <a:moveTo>
                    <a:pt x="0" y="0"/>
                  </a:moveTo>
                  <a:lnTo>
                    <a:pt x="224028" y="0"/>
                  </a:lnTo>
                  <a:lnTo>
                    <a:pt x="320040" y="0"/>
                  </a:lnTo>
                  <a:lnTo>
                    <a:pt x="384047" y="0"/>
                  </a:lnTo>
                  <a:lnTo>
                    <a:pt x="384047" y="229362"/>
                  </a:lnTo>
                  <a:lnTo>
                    <a:pt x="384047" y="327660"/>
                  </a:lnTo>
                  <a:lnTo>
                    <a:pt x="384047" y="393192"/>
                  </a:lnTo>
                  <a:lnTo>
                    <a:pt x="320040" y="393192"/>
                  </a:lnTo>
                  <a:lnTo>
                    <a:pt x="410972" y="431673"/>
                  </a:lnTo>
                  <a:lnTo>
                    <a:pt x="224028" y="393192"/>
                  </a:lnTo>
                  <a:lnTo>
                    <a:pt x="0" y="393192"/>
                  </a:lnTo>
                  <a:lnTo>
                    <a:pt x="0" y="327660"/>
                  </a:lnTo>
                  <a:lnTo>
                    <a:pt x="0" y="229362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343025" y="1566798"/>
            <a:ext cx="332740" cy="382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">
              <a:lnSpc>
                <a:spcPts val="1405"/>
              </a:lnSpc>
              <a:spcBef>
                <a:spcPts val="100"/>
              </a:spcBef>
            </a:pPr>
            <a:r>
              <a:rPr sz="1200" spc="-25" dirty="0">
                <a:solidFill>
                  <a:srgbClr val="3D2712"/>
                </a:solidFill>
                <a:latin typeface="Arial MT"/>
                <a:cs typeface="Arial MT"/>
              </a:rPr>
              <a:t>Sun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ts val="1405"/>
              </a:lnSpc>
            </a:pPr>
            <a:r>
              <a:rPr sz="1200" spc="-25" dirty="0">
                <a:solidFill>
                  <a:srgbClr val="3D2712"/>
                </a:solidFill>
                <a:latin typeface="Arial MT"/>
                <a:cs typeface="Arial MT"/>
              </a:rPr>
              <a:t>14%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727454" y="1222959"/>
            <a:ext cx="913765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1" spc="-10" dirty="0">
                <a:solidFill>
                  <a:srgbClr val="FFEFE2"/>
                </a:solidFill>
                <a:latin typeface="Arial"/>
                <a:cs typeface="Arial"/>
              </a:rPr>
              <a:t>weekly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702808" y="1222057"/>
            <a:ext cx="2795270" cy="2717800"/>
            <a:chOff x="5702808" y="1222057"/>
            <a:chExt cx="2795270" cy="2717800"/>
          </a:xfrm>
        </p:grpSpPr>
        <p:pic>
          <p:nvPicPr>
            <p:cNvPr id="50" name="object 5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708648" y="1840941"/>
              <a:ext cx="760260" cy="109250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708648" y="2100008"/>
              <a:ext cx="1080325" cy="83343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08648" y="2694482"/>
              <a:ext cx="1092504" cy="91574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73952" y="2846831"/>
              <a:ext cx="1065072" cy="109250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702808" y="2773680"/>
              <a:ext cx="1092504" cy="1138237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705856" y="1840941"/>
              <a:ext cx="1089469" cy="109250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748666" y="1863725"/>
              <a:ext cx="2010759" cy="2010955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5850636" y="1464563"/>
              <a:ext cx="1865630" cy="2026920"/>
            </a:xfrm>
            <a:custGeom>
              <a:avLst/>
              <a:gdLst/>
              <a:ahLst/>
              <a:cxnLst/>
              <a:rect l="l" t="t" r="r" b="b"/>
              <a:pathLst>
                <a:path w="1865629" h="2026920">
                  <a:moveTo>
                    <a:pt x="1264919" y="466344"/>
                  </a:moveTo>
                  <a:lnTo>
                    <a:pt x="1386839" y="0"/>
                  </a:lnTo>
                  <a:lnTo>
                    <a:pt x="1444752" y="0"/>
                  </a:lnTo>
                </a:path>
                <a:path w="1865629" h="2026920">
                  <a:moveTo>
                    <a:pt x="1865375" y="1694688"/>
                  </a:moveTo>
                  <a:lnTo>
                    <a:pt x="1865375" y="2026920"/>
                  </a:lnTo>
                  <a:lnTo>
                    <a:pt x="1865375" y="2026920"/>
                  </a:lnTo>
                </a:path>
                <a:path w="1865629" h="2026920">
                  <a:moveTo>
                    <a:pt x="219455" y="667512"/>
                  </a:moveTo>
                  <a:lnTo>
                    <a:pt x="54863" y="502920"/>
                  </a:lnTo>
                  <a:lnTo>
                    <a:pt x="0" y="502920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379208" y="1289303"/>
              <a:ext cx="79248" cy="7620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7116572" y="1226819"/>
              <a:ext cx="1376680" cy="704215"/>
            </a:xfrm>
            <a:custGeom>
              <a:avLst/>
              <a:gdLst/>
              <a:ahLst/>
              <a:cxnLst/>
              <a:rect l="l" t="t" r="r" b="b"/>
              <a:pathLst>
                <a:path w="1376679" h="704214">
                  <a:moveTo>
                    <a:pt x="1376679" y="0"/>
                  </a:moveTo>
                  <a:lnTo>
                    <a:pt x="465327" y="0"/>
                  </a:lnTo>
                  <a:lnTo>
                    <a:pt x="465327" y="330707"/>
                  </a:lnTo>
                  <a:lnTo>
                    <a:pt x="0" y="703960"/>
                  </a:lnTo>
                  <a:lnTo>
                    <a:pt x="465327" y="472439"/>
                  </a:lnTo>
                  <a:lnTo>
                    <a:pt x="465327" y="566927"/>
                  </a:lnTo>
                  <a:lnTo>
                    <a:pt x="1376679" y="566927"/>
                  </a:lnTo>
                  <a:lnTo>
                    <a:pt x="1376679" y="0"/>
                  </a:lnTo>
                  <a:close/>
                </a:path>
              </a:pathLst>
            </a:custGeom>
            <a:solidFill>
              <a:srgbClr val="5234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16572" y="1226819"/>
              <a:ext cx="1376680" cy="704215"/>
            </a:xfrm>
            <a:custGeom>
              <a:avLst/>
              <a:gdLst/>
              <a:ahLst/>
              <a:cxnLst/>
              <a:rect l="l" t="t" r="r" b="b"/>
              <a:pathLst>
                <a:path w="1376679" h="704214">
                  <a:moveTo>
                    <a:pt x="465327" y="0"/>
                  </a:moveTo>
                  <a:lnTo>
                    <a:pt x="617220" y="0"/>
                  </a:lnTo>
                  <a:lnTo>
                    <a:pt x="845057" y="0"/>
                  </a:lnTo>
                  <a:lnTo>
                    <a:pt x="1376679" y="0"/>
                  </a:lnTo>
                  <a:lnTo>
                    <a:pt x="1376679" y="330707"/>
                  </a:lnTo>
                  <a:lnTo>
                    <a:pt x="1376679" y="472439"/>
                  </a:lnTo>
                  <a:lnTo>
                    <a:pt x="1376679" y="566927"/>
                  </a:lnTo>
                  <a:lnTo>
                    <a:pt x="845057" y="566927"/>
                  </a:lnTo>
                  <a:lnTo>
                    <a:pt x="617220" y="566927"/>
                  </a:lnTo>
                  <a:lnTo>
                    <a:pt x="465327" y="566927"/>
                  </a:lnTo>
                  <a:lnTo>
                    <a:pt x="465327" y="472439"/>
                  </a:lnTo>
                  <a:lnTo>
                    <a:pt x="0" y="703960"/>
                  </a:lnTo>
                  <a:lnTo>
                    <a:pt x="465327" y="330707"/>
                  </a:lnTo>
                  <a:lnTo>
                    <a:pt x="465327" y="0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7609078" y="1226311"/>
            <a:ext cx="861060" cy="55626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5080" indent="-635" algn="ctr">
              <a:lnSpc>
                <a:spcPct val="95100"/>
              </a:lnSpc>
              <a:spcBef>
                <a:spcPts val="170"/>
              </a:spcBef>
            </a:pP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Total;</a:t>
            </a:r>
            <a:r>
              <a:rPr sz="1200" spc="-3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Jan; 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R81,677.74; 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12%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7315200" y="2124455"/>
            <a:ext cx="1570355" cy="1969770"/>
            <a:chOff x="7315200" y="2124455"/>
            <a:chExt cx="1570355" cy="1969770"/>
          </a:xfrm>
        </p:grpSpPr>
        <p:pic>
          <p:nvPicPr>
            <p:cNvPr id="63" name="object 6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315200" y="2124455"/>
              <a:ext cx="76200" cy="762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620000" y="3557016"/>
              <a:ext cx="76200" cy="7620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7717281" y="3159505"/>
              <a:ext cx="1163320" cy="929640"/>
            </a:xfrm>
            <a:custGeom>
              <a:avLst/>
              <a:gdLst/>
              <a:ahLst/>
              <a:cxnLst/>
              <a:rect l="l" t="t" r="r" b="b"/>
              <a:pathLst>
                <a:path w="1163320" h="929639">
                  <a:moveTo>
                    <a:pt x="0" y="0"/>
                  </a:moveTo>
                  <a:lnTo>
                    <a:pt x="200406" y="331978"/>
                  </a:lnTo>
                  <a:lnTo>
                    <a:pt x="7874" y="331978"/>
                  </a:lnTo>
                  <a:lnTo>
                    <a:pt x="7874" y="929386"/>
                  </a:lnTo>
                  <a:lnTo>
                    <a:pt x="1163066" y="929386"/>
                  </a:lnTo>
                  <a:lnTo>
                    <a:pt x="1163066" y="331978"/>
                  </a:lnTo>
                  <a:lnTo>
                    <a:pt x="489203" y="331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34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717281" y="3159505"/>
              <a:ext cx="1163320" cy="929640"/>
            </a:xfrm>
            <a:custGeom>
              <a:avLst/>
              <a:gdLst/>
              <a:ahLst/>
              <a:cxnLst/>
              <a:rect l="l" t="t" r="r" b="b"/>
              <a:pathLst>
                <a:path w="1163320" h="929639">
                  <a:moveTo>
                    <a:pt x="7874" y="331978"/>
                  </a:moveTo>
                  <a:lnTo>
                    <a:pt x="200406" y="331978"/>
                  </a:lnTo>
                  <a:lnTo>
                    <a:pt x="0" y="0"/>
                  </a:lnTo>
                  <a:lnTo>
                    <a:pt x="489203" y="331978"/>
                  </a:lnTo>
                  <a:lnTo>
                    <a:pt x="1163066" y="331978"/>
                  </a:lnTo>
                  <a:lnTo>
                    <a:pt x="1163066" y="431546"/>
                  </a:lnTo>
                  <a:lnTo>
                    <a:pt x="1163066" y="580898"/>
                  </a:lnTo>
                  <a:lnTo>
                    <a:pt x="1163066" y="929386"/>
                  </a:lnTo>
                  <a:lnTo>
                    <a:pt x="489203" y="929386"/>
                  </a:lnTo>
                  <a:lnTo>
                    <a:pt x="200406" y="929386"/>
                  </a:lnTo>
                  <a:lnTo>
                    <a:pt x="7874" y="929386"/>
                  </a:lnTo>
                  <a:lnTo>
                    <a:pt x="7874" y="580898"/>
                  </a:lnTo>
                  <a:lnTo>
                    <a:pt x="7874" y="431546"/>
                  </a:lnTo>
                  <a:lnTo>
                    <a:pt x="7874" y="331978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7514843" y="2058923"/>
            <a:ext cx="914400" cy="567055"/>
          </a:xfrm>
          <a:prstGeom prst="rect">
            <a:avLst/>
          </a:prstGeom>
          <a:solidFill>
            <a:srgbClr val="52341A"/>
          </a:solidFill>
          <a:ln w="9144">
            <a:solidFill>
              <a:srgbClr val="FFF6EE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40640" marR="30480" algn="ctr">
              <a:lnSpc>
                <a:spcPts val="1370"/>
              </a:lnSpc>
              <a:spcBef>
                <a:spcPts val="210"/>
              </a:spcBef>
            </a:pP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Total;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Feb; 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R76,145.19; 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11%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874634" y="3508705"/>
            <a:ext cx="861060" cy="5568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-3175" algn="ctr">
              <a:lnSpc>
                <a:spcPts val="1370"/>
              </a:lnSpc>
              <a:spcBef>
                <a:spcPts val="204"/>
              </a:spcBef>
            </a:pP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Total;</a:t>
            </a:r>
            <a:r>
              <a:rPr sz="1200" spc="-3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Mar; 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R98,834.68; 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14%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4828032" y="3457892"/>
            <a:ext cx="1777364" cy="584200"/>
            <a:chOff x="4828032" y="3457892"/>
            <a:chExt cx="1777364" cy="584200"/>
          </a:xfrm>
        </p:grpSpPr>
        <p:pic>
          <p:nvPicPr>
            <p:cNvPr id="70" name="object 7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528816" y="3666743"/>
              <a:ext cx="76200" cy="762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828032" y="3535679"/>
              <a:ext cx="76200" cy="7620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5027676" y="3462654"/>
              <a:ext cx="957580" cy="574675"/>
            </a:xfrm>
            <a:custGeom>
              <a:avLst/>
              <a:gdLst/>
              <a:ahLst/>
              <a:cxnLst/>
              <a:rect l="l" t="t" r="r" b="b"/>
              <a:pathLst>
                <a:path w="957579" h="574675">
                  <a:moveTo>
                    <a:pt x="914273" y="0"/>
                  </a:moveTo>
                  <a:lnTo>
                    <a:pt x="558291" y="7493"/>
                  </a:lnTo>
                  <a:lnTo>
                    <a:pt x="0" y="7493"/>
                  </a:lnTo>
                  <a:lnTo>
                    <a:pt x="0" y="574421"/>
                  </a:lnTo>
                  <a:lnTo>
                    <a:pt x="957072" y="574421"/>
                  </a:lnTo>
                  <a:lnTo>
                    <a:pt x="957072" y="7493"/>
                  </a:lnTo>
                  <a:lnTo>
                    <a:pt x="797560" y="7493"/>
                  </a:lnTo>
                  <a:lnTo>
                    <a:pt x="914273" y="0"/>
                  </a:lnTo>
                  <a:close/>
                </a:path>
              </a:pathLst>
            </a:custGeom>
            <a:solidFill>
              <a:srgbClr val="5234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027676" y="3462654"/>
              <a:ext cx="957580" cy="574675"/>
            </a:xfrm>
            <a:custGeom>
              <a:avLst/>
              <a:gdLst/>
              <a:ahLst/>
              <a:cxnLst/>
              <a:rect l="l" t="t" r="r" b="b"/>
              <a:pathLst>
                <a:path w="957579" h="574675">
                  <a:moveTo>
                    <a:pt x="0" y="7493"/>
                  </a:moveTo>
                  <a:lnTo>
                    <a:pt x="558291" y="7493"/>
                  </a:lnTo>
                  <a:lnTo>
                    <a:pt x="914273" y="0"/>
                  </a:lnTo>
                  <a:lnTo>
                    <a:pt x="797560" y="7493"/>
                  </a:lnTo>
                  <a:lnTo>
                    <a:pt x="957072" y="7493"/>
                  </a:lnTo>
                  <a:lnTo>
                    <a:pt x="957072" y="101981"/>
                  </a:lnTo>
                  <a:lnTo>
                    <a:pt x="957072" y="243713"/>
                  </a:lnTo>
                  <a:lnTo>
                    <a:pt x="957072" y="574421"/>
                  </a:lnTo>
                  <a:lnTo>
                    <a:pt x="797560" y="574421"/>
                  </a:lnTo>
                  <a:lnTo>
                    <a:pt x="558291" y="574421"/>
                  </a:lnTo>
                  <a:lnTo>
                    <a:pt x="0" y="574421"/>
                  </a:lnTo>
                  <a:lnTo>
                    <a:pt x="0" y="243713"/>
                  </a:lnTo>
                  <a:lnTo>
                    <a:pt x="0" y="101981"/>
                  </a:lnTo>
                  <a:lnTo>
                    <a:pt x="0" y="7493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6728459" y="3601211"/>
            <a:ext cx="957580" cy="567055"/>
          </a:xfrm>
          <a:prstGeom prst="rect">
            <a:avLst/>
          </a:prstGeom>
          <a:solidFill>
            <a:srgbClr val="52341A"/>
          </a:solidFill>
          <a:ln w="9144">
            <a:solidFill>
              <a:srgbClr val="FFF6EE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5715" algn="ctr">
              <a:lnSpc>
                <a:spcPts val="1405"/>
              </a:lnSpc>
              <a:spcBef>
                <a:spcPts val="120"/>
              </a:spcBef>
            </a:pP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Total;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Apr;</a:t>
            </a:r>
            <a:endParaRPr sz="1200">
              <a:latin typeface="Arial MT"/>
              <a:cs typeface="Arial MT"/>
            </a:endParaRPr>
          </a:p>
          <a:p>
            <a:pPr marL="1270" algn="ctr">
              <a:lnSpc>
                <a:spcPts val="1370"/>
              </a:lnSpc>
            </a:pP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R118,941.08</a:t>
            </a:r>
            <a:endParaRPr sz="1200">
              <a:latin typeface="Arial MT"/>
              <a:cs typeface="Arial MT"/>
            </a:endParaRPr>
          </a:p>
          <a:p>
            <a:pPr marL="5715" algn="ctr">
              <a:lnSpc>
                <a:spcPts val="1405"/>
              </a:lnSpc>
            </a:pP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;</a:t>
            </a:r>
            <a:r>
              <a:rPr sz="1200" spc="-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17%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032247" y="3471798"/>
            <a:ext cx="948055" cy="55626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6195" marR="27305" indent="4445" algn="ctr">
              <a:lnSpc>
                <a:spcPts val="1370"/>
              </a:lnSpc>
              <a:spcBef>
                <a:spcPts val="200"/>
              </a:spcBef>
            </a:pP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Total;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May; 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R156,727.76</a:t>
            </a:r>
            <a:endParaRPr sz="1200">
              <a:latin typeface="Arial MT"/>
              <a:cs typeface="Arial MT"/>
            </a:endParaRPr>
          </a:p>
          <a:p>
            <a:pPr marL="5080" algn="ctr">
              <a:lnSpc>
                <a:spcPts val="1330"/>
              </a:lnSpc>
            </a:pP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;</a:t>
            </a:r>
            <a:r>
              <a:rPr sz="1200" spc="-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22%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4867655" y="1682495"/>
            <a:ext cx="1205865" cy="579120"/>
            <a:chOff x="4867655" y="1682495"/>
            <a:chExt cx="1205865" cy="579120"/>
          </a:xfrm>
        </p:grpSpPr>
        <p:pic>
          <p:nvPicPr>
            <p:cNvPr id="77" name="object 7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867655" y="1752599"/>
              <a:ext cx="76200" cy="76200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5070347" y="1687067"/>
              <a:ext cx="998855" cy="570230"/>
            </a:xfrm>
            <a:custGeom>
              <a:avLst/>
              <a:gdLst/>
              <a:ahLst/>
              <a:cxnLst/>
              <a:rect l="l" t="t" r="r" b="b"/>
              <a:pathLst>
                <a:path w="998854" h="570230">
                  <a:moveTo>
                    <a:pt x="954024" y="0"/>
                  </a:moveTo>
                  <a:lnTo>
                    <a:pt x="0" y="0"/>
                  </a:lnTo>
                  <a:lnTo>
                    <a:pt x="0" y="569975"/>
                  </a:lnTo>
                  <a:lnTo>
                    <a:pt x="954024" y="569975"/>
                  </a:lnTo>
                  <a:lnTo>
                    <a:pt x="954024" y="474979"/>
                  </a:lnTo>
                  <a:lnTo>
                    <a:pt x="998474" y="446277"/>
                  </a:lnTo>
                  <a:lnTo>
                    <a:pt x="954024" y="332485"/>
                  </a:lnTo>
                  <a:lnTo>
                    <a:pt x="954024" y="0"/>
                  </a:lnTo>
                  <a:close/>
                </a:path>
              </a:pathLst>
            </a:custGeom>
            <a:solidFill>
              <a:srgbClr val="5234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070347" y="1687067"/>
              <a:ext cx="998855" cy="570230"/>
            </a:xfrm>
            <a:custGeom>
              <a:avLst/>
              <a:gdLst/>
              <a:ahLst/>
              <a:cxnLst/>
              <a:rect l="l" t="t" r="r" b="b"/>
              <a:pathLst>
                <a:path w="998854" h="570230">
                  <a:moveTo>
                    <a:pt x="0" y="0"/>
                  </a:moveTo>
                  <a:lnTo>
                    <a:pt x="556513" y="0"/>
                  </a:lnTo>
                  <a:lnTo>
                    <a:pt x="795019" y="0"/>
                  </a:lnTo>
                  <a:lnTo>
                    <a:pt x="954024" y="0"/>
                  </a:lnTo>
                  <a:lnTo>
                    <a:pt x="954024" y="332485"/>
                  </a:lnTo>
                  <a:lnTo>
                    <a:pt x="998474" y="446277"/>
                  </a:lnTo>
                  <a:lnTo>
                    <a:pt x="954024" y="474979"/>
                  </a:lnTo>
                  <a:lnTo>
                    <a:pt x="954024" y="569975"/>
                  </a:lnTo>
                  <a:lnTo>
                    <a:pt x="795019" y="569975"/>
                  </a:lnTo>
                  <a:lnTo>
                    <a:pt x="556513" y="569975"/>
                  </a:lnTo>
                  <a:lnTo>
                    <a:pt x="0" y="569975"/>
                  </a:lnTo>
                  <a:lnTo>
                    <a:pt x="0" y="474979"/>
                  </a:lnTo>
                  <a:lnTo>
                    <a:pt x="0" y="332485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4527041" y="1222324"/>
            <a:ext cx="1473835" cy="10229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1" spc="-10" dirty="0">
                <a:solidFill>
                  <a:srgbClr val="FFEFE2"/>
                </a:solidFill>
                <a:latin typeface="Arial"/>
                <a:cs typeface="Arial"/>
              </a:rPr>
              <a:t>monthly</a:t>
            </a:r>
            <a:endParaRPr sz="2100">
              <a:latin typeface="Arial"/>
              <a:cs typeface="Arial"/>
            </a:endParaRPr>
          </a:p>
          <a:p>
            <a:pPr marL="568325" algn="ctr">
              <a:lnSpc>
                <a:spcPts val="1405"/>
              </a:lnSpc>
              <a:spcBef>
                <a:spcPts val="1115"/>
              </a:spcBef>
            </a:pP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Total;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Jun;</a:t>
            </a:r>
            <a:endParaRPr sz="1200">
              <a:latin typeface="Arial MT"/>
              <a:cs typeface="Arial MT"/>
            </a:endParaRPr>
          </a:p>
          <a:p>
            <a:pPr marL="568960" algn="ctr">
              <a:lnSpc>
                <a:spcPts val="1370"/>
              </a:lnSpc>
            </a:pP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R166,485.88</a:t>
            </a:r>
            <a:endParaRPr sz="1200">
              <a:latin typeface="Arial MT"/>
              <a:cs typeface="Arial MT"/>
            </a:endParaRPr>
          </a:p>
          <a:p>
            <a:pPr marL="570865" algn="ctr">
              <a:lnSpc>
                <a:spcPts val="1405"/>
              </a:lnSpc>
            </a:pP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;</a:t>
            </a:r>
            <a:r>
              <a:rPr sz="1200" spc="-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24%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911758" y="4307230"/>
            <a:ext cx="554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Insights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911758" y="4489805"/>
            <a:ext cx="35045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Char char="•"/>
              <a:tabLst>
                <a:tab pos="299085" algn="l"/>
              </a:tabLst>
            </a:pP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The</a:t>
            </a:r>
            <a:r>
              <a:rPr sz="1200" spc="-3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company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weekly</a:t>
            </a:r>
            <a:r>
              <a:rPr sz="1200" spc="-3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revenue</a:t>
            </a:r>
            <a:r>
              <a:rPr sz="1200" spc="-5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is</a:t>
            </a:r>
            <a:r>
              <a:rPr sz="1200" spc="-3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consistent</a:t>
            </a:r>
            <a:r>
              <a:rPr sz="1200" spc="-5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as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the</a:t>
            </a:r>
            <a:r>
              <a:rPr sz="1200" spc="-3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is</a:t>
            </a:r>
            <a:r>
              <a:rPr sz="1200" spc="-3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no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major</a:t>
            </a:r>
            <a:r>
              <a:rPr sz="1200" spc="2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difference</a:t>
            </a:r>
            <a:r>
              <a:rPr sz="1200" spc="-8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between</a:t>
            </a:r>
            <a:r>
              <a:rPr sz="1200" spc="-3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the</a:t>
            </a:r>
            <a:r>
              <a:rPr sz="1200" spc="-3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days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but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Monday</a:t>
            </a:r>
            <a:r>
              <a:rPr sz="1200" spc="-4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and</a:t>
            </a:r>
            <a:r>
              <a:rPr sz="1200" spc="-4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Friday</a:t>
            </a:r>
            <a:r>
              <a:rPr sz="1200" spc="-7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make the</a:t>
            </a:r>
            <a:r>
              <a:rPr sz="1200" spc="-4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most</a:t>
            </a:r>
            <a:r>
              <a:rPr sz="1200" spc="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revenue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748910" y="4411471"/>
            <a:ext cx="480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Insight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748910" y="4594352"/>
            <a:ext cx="43002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Char char="•"/>
              <a:tabLst>
                <a:tab pos="299085" algn="l"/>
              </a:tabLst>
            </a:pP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June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s outlier</a:t>
            </a:r>
            <a:r>
              <a:rPr sz="1200" spc="-8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with</a:t>
            </a:r>
            <a:r>
              <a:rPr sz="1200" spc="1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24%</a:t>
            </a:r>
            <a:r>
              <a:rPr sz="1200" spc="-1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revenue</a:t>
            </a:r>
            <a:r>
              <a:rPr sz="1200" spc="-7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and</a:t>
            </a:r>
            <a:r>
              <a:rPr sz="1200" spc="1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feb</a:t>
            </a:r>
            <a:r>
              <a:rPr sz="1200" spc="1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is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lowest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with</a:t>
            </a:r>
            <a:r>
              <a:rPr sz="1200" spc="-1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11%</a:t>
            </a:r>
            <a:endParaRPr sz="12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revenue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5405"/>
            <a:chOff x="0" y="0"/>
            <a:chExt cx="9144000" cy="5145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502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660697"/>
              <a:ext cx="1855851" cy="14843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697223"/>
              <a:ext cx="1755648" cy="1447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9104" y="0"/>
              <a:ext cx="1834896" cy="15754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82256" y="0"/>
              <a:ext cx="1761744" cy="14386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0904" y="0"/>
              <a:ext cx="2099691" cy="10420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42658" y="0"/>
              <a:ext cx="1925561" cy="9064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3160792"/>
              <a:ext cx="1008494" cy="19842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3199342"/>
              <a:ext cx="907986" cy="194568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3087653"/>
              <a:ext cx="2148459" cy="205737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3124047"/>
              <a:ext cx="2046338" cy="20209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3631" y="0"/>
              <a:ext cx="755484" cy="146888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4828" y="0"/>
              <a:ext cx="581927" cy="133223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90144" y="417575"/>
              <a:ext cx="5076189" cy="3043174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60272" y="557860"/>
            <a:ext cx="4248150" cy="2466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2384425">
              <a:lnSpc>
                <a:spcPct val="100000"/>
              </a:lnSpc>
              <a:spcBef>
                <a:spcPts val="110"/>
              </a:spcBef>
            </a:pPr>
            <a:r>
              <a:rPr sz="4000" spc="-25" dirty="0">
                <a:solidFill>
                  <a:srgbClr val="52341A"/>
                </a:solidFill>
              </a:rPr>
              <a:t>01: </a:t>
            </a:r>
            <a:r>
              <a:rPr sz="4000" spc="409" dirty="0">
                <a:solidFill>
                  <a:srgbClr val="52341A"/>
                </a:solidFill>
              </a:rPr>
              <a:t>STORE</a:t>
            </a:r>
            <a:endParaRPr sz="4000"/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4000" spc="415" dirty="0">
                <a:solidFill>
                  <a:srgbClr val="52341A"/>
                </a:solidFill>
              </a:rPr>
              <a:t>PERFORMANCE </a:t>
            </a:r>
            <a:r>
              <a:rPr sz="4000" spc="395" dirty="0">
                <a:solidFill>
                  <a:srgbClr val="52341A"/>
                </a:solidFill>
              </a:rPr>
              <a:t>ANALYSIS</a:t>
            </a:r>
            <a:endParaRPr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37273" cy="22124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6575"/>
            <a:ext cx="637032" cy="203911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241792" y="2980923"/>
            <a:ext cx="902335" cy="2164715"/>
            <a:chOff x="8241792" y="2980923"/>
            <a:chExt cx="902335" cy="216471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41792" y="2980923"/>
              <a:ext cx="902207" cy="21641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14944" y="3017519"/>
              <a:ext cx="829056" cy="211836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0" y="3569261"/>
            <a:ext cx="865505" cy="1576070"/>
            <a:chOff x="0" y="3569261"/>
            <a:chExt cx="865505" cy="157607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3569261"/>
              <a:ext cx="865263" cy="157576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819" y="3606088"/>
              <a:ext cx="691272" cy="140945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139952" y="18287"/>
            <a:ext cx="8004175" cy="1359535"/>
            <a:chOff x="1139952" y="18287"/>
            <a:chExt cx="8004175" cy="1359535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51063" y="18287"/>
              <a:ext cx="1392935" cy="13590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23098" y="55371"/>
              <a:ext cx="1320901" cy="11872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39952" y="295592"/>
              <a:ext cx="6888099" cy="975042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080">
              <a:lnSpc>
                <a:spcPct val="100000"/>
              </a:lnSpc>
              <a:spcBef>
                <a:spcPts val="100"/>
              </a:spcBef>
            </a:pPr>
            <a:r>
              <a:rPr spc="285" dirty="0"/>
              <a:t>REVENUE</a:t>
            </a:r>
            <a:r>
              <a:rPr spc="-20" dirty="0"/>
              <a:t> </a:t>
            </a:r>
            <a:r>
              <a:rPr spc="265" dirty="0"/>
              <a:t>BY</a:t>
            </a:r>
            <a:r>
              <a:rPr spc="-20" dirty="0"/>
              <a:t> </a:t>
            </a:r>
            <a:r>
              <a:rPr spc="315" dirty="0"/>
              <a:t>STORE</a:t>
            </a:r>
            <a:r>
              <a:rPr spc="-40" dirty="0"/>
              <a:t> </a:t>
            </a:r>
            <a:r>
              <a:rPr spc="290" dirty="0"/>
              <a:t>LOCATION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3733609" y="1252537"/>
            <a:ext cx="5276850" cy="3597275"/>
            <a:chOff x="3733609" y="1252537"/>
            <a:chExt cx="5276850" cy="3597275"/>
          </a:xfrm>
        </p:grpSpPr>
        <p:sp>
          <p:nvSpPr>
            <p:cNvPr id="16" name="object 16"/>
            <p:cNvSpPr/>
            <p:nvPr/>
          </p:nvSpPr>
          <p:spPr>
            <a:xfrm>
              <a:off x="3738371" y="3619499"/>
              <a:ext cx="5267325" cy="588645"/>
            </a:xfrm>
            <a:custGeom>
              <a:avLst/>
              <a:gdLst/>
              <a:ahLst/>
              <a:cxnLst/>
              <a:rect l="l" t="t" r="r" b="b"/>
              <a:pathLst>
                <a:path w="5267325" h="588645">
                  <a:moveTo>
                    <a:pt x="4826508" y="588264"/>
                  </a:moveTo>
                  <a:lnTo>
                    <a:pt x="5266944" y="588264"/>
                  </a:lnTo>
                </a:path>
                <a:path w="5267325" h="588645">
                  <a:moveTo>
                    <a:pt x="3070860" y="588264"/>
                  </a:moveTo>
                  <a:lnTo>
                    <a:pt x="3948683" y="588264"/>
                  </a:lnTo>
                </a:path>
                <a:path w="5267325" h="588645">
                  <a:moveTo>
                    <a:pt x="0" y="588264"/>
                  </a:moveTo>
                  <a:lnTo>
                    <a:pt x="437388" y="588264"/>
                  </a:lnTo>
                </a:path>
                <a:path w="5267325" h="588645">
                  <a:moveTo>
                    <a:pt x="1315212" y="588264"/>
                  </a:moveTo>
                  <a:lnTo>
                    <a:pt x="2193036" y="588264"/>
                  </a:lnTo>
                </a:path>
                <a:path w="5267325" h="588645">
                  <a:moveTo>
                    <a:pt x="4826508" y="0"/>
                  </a:moveTo>
                  <a:lnTo>
                    <a:pt x="5266944" y="0"/>
                  </a:lnTo>
                </a:path>
                <a:path w="5267325" h="588645">
                  <a:moveTo>
                    <a:pt x="3070860" y="0"/>
                  </a:moveTo>
                  <a:lnTo>
                    <a:pt x="3948683" y="0"/>
                  </a:lnTo>
                </a:path>
                <a:path w="5267325" h="588645">
                  <a:moveTo>
                    <a:pt x="1315212" y="0"/>
                  </a:moveTo>
                  <a:lnTo>
                    <a:pt x="2193036" y="0"/>
                  </a:lnTo>
                </a:path>
                <a:path w="5267325" h="588645">
                  <a:moveTo>
                    <a:pt x="0" y="0"/>
                  </a:moveTo>
                  <a:lnTo>
                    <a:pt x="437388" y="0"/>
                  </a:lnTo>
                </a:path>
              </a:pathLst>
            </a:custGeom>
            <a:ln w="9143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38371" y="1845563"/>
              <a:ext cx="5267325" cy="1183005"/>
            </a:xfrm>
            <a:custGeom>
              <a:avLst/>
              <a:gdLst/>
              <a:ahLst/>
              <a:cxnLst/>
              <a:rect l="l" t="t" r="r" b="b"/>
              <a:pathLst>
                <a:path w="5267325" h="1183005">
                  <a:moveTo>
                    <a:pt x="0" y="1182624"/>
                  </a:moveTo>
                  <a:lnTo>
                    <a:pt x="437388" y="1182624"/>
                  </a:lnTo>
                </a:path>
                <a:path w="5267325" h="1183005">
                  <a:moveTo>
                    <a:pt x="1315212" y="1182624"/>
                  </a:moveTo>
                  <a:lnTo>
                    <a:pt x="2193036" y="1182624"/>
                  </a:lnTo>
                </a:path>
                <a:path w="5267325" h="1183005">
                  <a:moveTo>
                    <a:pt x="3070860" y="1182624"/>
                  </a:moveTo>
                  <a:lnTo>
                    <a:pt x="5266944" y="1182624"/>
                  </a:lnTo>
                </a:path>
                <a:path w="5267325" h="1183005">
                  <a:moveTo>
                    <a:pt x="0" y="591312"/>
                  </a:moveTo>
                  <a:lnTo>
                    <a:pt x="2193036" y="591312"/>
                  </a:lnTo>
                </a:path>
                <a:path w="5267325" h="1183005">
                  <a:moveTo>
                    <a:pt x="3070860" y="591312"/>
                  </a:moveTo>
                  <a:lnTo>
                    <a:pt x="5266944" y="591312"/>
                  </a:lnTo>
                </a:path>
                <a:path w="5267325" h="1183005">
                  <a:moveTo>
                    <a:pt x="0" y="0"/>
                  </a:moveTo>
                  <a:lnTo>
                    <a:pt x="2193036" y="0"/>
                  </a:lnTo>
                </a:path>
                <a:path w="5267325" h="1183005">
                  <a:moveTo>
                    <a:pt x="3070860" y="0"/>
                  </a:moveTo>
                  <a:lnTo>
                    <a:pt x="5266944" y="0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38371" y="1257299"/>
              <a:ext cx="5267325" cy="0"/>
            </a:xfrm>
            <a:custGeom>
              <a:avLst/>
              <a:gdLst/>
              <a:ahLst/>
              <a:cxnLst/>
              <a:rect l="l" t="t" r="r" b="b"/>
              <a:pathLst>
                <a:path w="5267325">
                  <a:moveTo>
                    <a:pt x="0" y="0"/>
                  </a:moveTo>
                  <a:lnTo>
                    <a:pt x="5266944" y="0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75759" y="2956559"/>
              <a:ext cx="878205" cy="1844039"/>
            </a:xfrm>
            <a:custGeom>
              <a:avLst/>
              <a:gdLst/>
              <a:ahLst/>
              <a:cxnLst/>
              <a:rect l="l" t="t" r="r" b="b"/>
              <a:pathLst>
                <a:path w="878204" h="1844039">
                  <a:moveTo>
                    <a:pt x="877824" y="0"/>
                  </a:moveTo>
                  <a:lnTo>
                    <a:pt x="0" y="0"/>
                  </a:lnTo>
                  <a:lnTo>
                    <a:pt x="0" y="1844039"/>
                  </a:lnTo>
                  <a:lnTo>
                    <a:pt x="877824" y="1844039"/>
                  </a:lnTo>
                  <a:lnTo>
                    <a:pt x="877824" y="0"/>
                  </a:lnTo>
                  <a:close/>
                </a:path>
              </a:pathLst>
            </a:custGeom>
            <a:solidFill>
              <a:srgbClr val="A0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75759" y="2956559"/>
              <a:ext cx="878205" cy="1844039"/>
            </a:xfrm>
            <a:custGeom>
              <a:avLst/>
              <a:gdLst/>
              <a:ahLst/>
              <a:cxnLst/>
              <a:rect l="l" t="t" r="r" b="b"/>
              <a:pathLst>
                <a:path w="878204" h="1844039">
                  <a:moveTo>
                    <a:pt x="0" y="1844039"/>
                  </a:moveTo>
                  <a:lnTo>
                    <a:pt x="877824" y="1844039"/>
                  </a:lnTo>
                  <a:lnTo>
                    <a:pt x="877824" y="0"/>
                  </a:lnTo>
                  <a:lnTo>
                    <a:pt x="0" y="0"/>
                  </a:lnTo>
                  <a:lnTo>
                    <a:pt x="0" y="1844039"/>
                  </a:lnTo>
                  <a:close/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31407" y="1694687"/>
              <a:ext cx="878205" cy="3106420"/>
            </a:xfrm>
            <a:custGeom>
              <a:avLst/>
              <a:gdLst/>
              <a:ahLst/>
              <a:cxnLst/>
              <a:rect l="l" t="t" r="r" b="b"/>
              <a:pathLst>
                <a:path w="878204" h="3106420">
                  <a:moveTo>
                    <a:pt x="877824" y="0"/>
                  </a:moveTo>
                  <a:lnTo>
                    <a:pt x="0" y="0"/>
                  </a:lnTo>
                  <a:lnTo>
                    <a:pt x="0" y="3105912"/>
                  </a:lnTo>
                  <a:lnTo>
                    <a:pt x="877824" y="3105912"/>
                  </a:lnTo>
                  <a:lnTo>
                    <a:pt x="877824" y="0"/>
                  </a:lnTo>
                  <a:close/>
                </a:path>
              </a:pathLst>
            </a:custGeom>
            <a:solidFill>
              <a:srgbClr val="A0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31407" y="1694687"/>
              <a:ext cx="878205" cy="3106420"/>
            </a:xfrm>
            <a:custGeom>
              <a:avLst/>
              <a:gdLst/>
              <a:ahLst/>
              <a:cxnLst/>
              <a:rect l="l" t="t" r="r" b="b"/>
              <a:pathLst>
                <a:path w="878204" h="3106420">
                  <a:moveTo>
                    <a:pt x="0" y="3105912"/>
                  </a:moveTo>
                  <a:lnTo>
                    <a:pt x="877824" y="3105912"/>
                  </a:lnTo>
                  <a:lnTo>
                    <a:pt x="877824" y="0"/>
                  </a:lnTo>
                  <a:lnTo>
                    <a:pt x="0" y="0"/>
                  </a:lnTo>
                  <a:lnTo>
                    <a:pt x="0" y="3105912"/>
                  </a:lnTo>
                  <a:close/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87055" y="3602735"/>
              <a:ext cx="878205" cy="1198245"/>
            </a:xfrm>
            <a:custGeom>
              <a:avLst/>
              <a:gdLst/>
              <a:ahLst/>
              <a:cxnLst/>
              <a:rect l="l" t="t" r="r" b="b"/>
              <a:pathLst>
                <a:path w="878204" h="1198245">
                  <a:moveTo>
                    <a:pt x="877824" y="0"/>
                  </a:moveTo>
                  <a:lnTo>
                    <a:pt x="0" y="0"/>
                  </a:lnTo>
                  <a:lnTo>
                    <a:pt x="0" y="1197864"/>
                  </a:lnTo>
                  <a:lnTo>
                    <a:pt x="877824" y="1197864"/>
                  </a:lnTo>
                  <a:lnTo>
                    <a:pt x="877824" y="0"/>
                  </a:lnTo>
                  <a:close/>
                </a:path>
              </a:pathLst>
            </a:custGeom>
            <a:solidFill>
              <a:srgbClr val="A0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87055" y="3602735"/>
              <a:ext cx="878205" cy="1198245"/>
            </a:xfrm>
            <a:custGeom>
              <a:avLst/>
              <a:gdLst/>
              <a:ahLst/>
              <a:cxnLst/>
              <a:rect l="l" t="t" r="r" b="b"/>
              <a:pathLst>
                <a:path w="878204" h="1198245">
                  <a:moveTo>
                    <a:pt x="0" y="1197864"/>
                  </a:moveTo>
                  <a:lnTo>
                    <a:pt x="877824" y="1197864"/>
                  </a:lnTo>
                  <a:lnTo>
                    <a:pt x="877824" y="0"/>
                  </a:lnTo>
                  <a:lnTo>
                    <a:pt x="0" y="0"/>
                  </a:lnTo>
                  <a:lnTo>
                    <a:pt x="0" y="1197864"/>
                  </a:lnTo>
                  <a:close/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38371" y="4799075"/>
              <a:ext cx="5267325" cy="45720"/>
            </a:xfrm>
            <a:custGeom>
              <a:avLst/>
              <a:gdLst/>
              <a:ahLst/>
              <a:cxnLst/>
              <a:rect l="l" t="t" r="r" b="b"/>
              <a:pathLst>
                <a:path w="5267325" h="45720">
                  <a:moveTo>
                    <a:pt x="0" y="0"/>
                  </a:moveTo>
                  <a:lnTo>
                    <a:pt x="5266944" y="0"/>
                  </a:lnTo>
                </a:path>
                <a:path w="5267325" h="45720">
                  <a:moveTo>
                    <a:pt x="0" y="0"/>
                  </a:moveTo>
                  <a:lnTo>
                    <a:pt x="0" y="45720"/>
                  </a:lnTo>
                </a:path>
                <a:path w="5267325" h="45720">
                  <a:moveTo>
                    <a:pt x="1755648" y="0"/>
                  </a:moveTo>
                  <a:lnTo>
                    <a:pt x="1755648" y="45720"/>
                  </a:lnTo>
                </a:path>
                <a:path w="5267325" h="45720">
                  <a:moveTo>
                    <a:pt x="3511296" y="0"/>
                  </a:moveTo>
                  <a:lnTo>
                    <a:pt x="3511296" y="45720"/>
                  </a:lnTo>
                </a:path>
                <a:path w="5267325" h="45720">
                  <a:moveTo>
                    <a:pt x="5266944" y="0"/>
                  </a:moveTo>
                  <a:lnTo>
                    <a:pt x="5266944" y="45720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71843" y="1391411"/>
              <a:ext cx="542925" cy="304800"/>
            </a:xfrm>
            <a:custGeom>
              <a:avLst/>
              <a:gdLst/>
              <a:ahLst/>
              <a:cxnLst/>
              <a:rect l="l" t="t" r="r" b="b"/>
              <a:pathLst>
                <a:path w="542925" h="304800">
                  <a:moveTo>
                    <a:pt x="0" y="304800"/>
                  </a:moveTo>
                  <a:lnTo>
                    <a:pt x="487679" y="0"/>
                  </a:lnTo>
                  <a:lnTo>
                    <a:pt x="542544" y="0"/>
                  </a:lnTo>
                </a:path>
              </a:pathLst>
            </a:custGeom>
            <a:ln w="9144">
              <a:solidFill>
                <a:srgbClr val="FFF3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2983" y="26273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A0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62983" y="26273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65675" y="2561843"/>
              <a:ext cx="1024255" cy="575310"/>
            </a:xfrm>
            <a:custGeom>
              <a:avLst/>
              <a:gdLst/>
              <a:ahLst/>
              <a:cxnLst/>
              <a:rect l="l" t="t" r="r" b="b"/>
              <a:pathLst>
                <a:path w="1024254" h="575310">
                  <a:moveTo>
                    <a:pt x="1024127" y="0"/>
                  </a:moveTo>
                  <a:lnTo>
                    <a:pt x="0" y="0"/>
                  </a:lnTo>
                  <a:lnTo>
                    <a:pt x="0" y="390144"/>
                  </a:lnTo>
                  <a:lnTo>
                    <a:pt x="170687" y="390144"/>
                  </a:lnTo>
                  <a:lnTo>
                    <a:pt x="350774" y="574929"/>
                  </a:lnTo>
                  <a:lnTo>
                    <a:pt x="426720" y="390144"/>
                  </a:lnTo>
                  <a:lnTo>
                    <a:pt x="1024127" y="390144"/>
                  </a:lnTo>
                  <a:lnTo>
                    <a:pt x="1024127" y="0"/>
                  </a:lnTo>
                  <a:close/>
                </a:path>
              </a:pathLst>
            </a:custGeom>
            <a:solidFill>
              <a:srgbClr val="5234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265675" y="2561843"/>
              <a:ext cx="1024255" cy="575310"/>
            </a:xfrm>
            <a:custGeom>
              <a:avLst/>
              <a:gdLst/>
              <a:ahLst/>
              <a:cxnLst/>
              <a:rect l="l" t="t" r="r" b="b"/>
              <a:pathLst>
                <a:path w="1024254" h="575310">
                  <a:moveTo>
                    <a:pt x="0" y="0"/>
                  </a:moveTo>
                  <a:lnTo>
                    <a:pt x="170687" y="0"/>
                  </a:lnTo>
                  <a:lnTo>
                    <a:pt x="426720" y="0"/>
                  </a:lnTo>
                  <a:lnTo>
                    <a:pt x="1024127" y="0"/>
                  </a:lnTo>
                  <a:lnTo>
                    <a:pt x="1024127" y="227584"/>
                  </a:lnTo>
                  <a:lnTo>
                    <a:pt x="1024127" y="325119"/>
                  </a:lnTo>
                  <a:lnTo>
                    <a:pt x="1024127" y="390144"/>
                  </a:lnTo>
                  <a:lnTo>
                    <a:pt x="426720" y="390144"/>
                  </a:lnTo>
                  <a:lnTo>
                    <a:pt x="350774" y="574929"/>
                  </a:lnTo>
                  <a:lnTo>
                    <a:pt x="170687" y="390144"/>
                  </a:lnTo>
                  <a:lnTo>
                    <a:pt x="0" y="390144"/>
                  </a:lnTo>
                  <a:lnTo>
                    <a:pt x="0" y="325119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291710" y="2562605"/>
            <a:ext cx="970280" cy="382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05"/>
              </a:lnSpc>
              <a:spcBef>
                <a:spcPts val="100"/>
              </a:spcBef>
            </a:pPr>
            <a:r>
              <a:rPr sz="1200" dirty="0">
                <a:solidFill>
                  <a:srgbClr val="FFE9D4"/>
                </a:solidFill>
                <a:latin typeface="Arial MT"/>
                <a:cs typeface="Arial MT"/>
              </a:rPr>
              <a:t>Total,</a:t>
            </a:r>
            <a:r>
              <a:rPr sz="1200" spc="-30" dirty="0">
                <a:solidFill>
                  <a:srgbClr val="FFE9D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Astoria,</a:t>
            </a:r>
            <a:endParaRPr sz="1200">
              <a:latin typeface="Arial MT"/>
              <a:cs typeface="Arial MT"/>
            </a:endParaRPr>
          </a:p>
          <a:p>
            <a:pPr marL="45720">
              <a:lnSpc>
                <a:spcPts val="1405"/>
              </a:lnSpc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R232,243.91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364033" y="1103185"/>
            <a:ext cx="1798955" cy="779145"/>
            <a:chOff x="6364033" y="1103185"/>
            <a:chExt cx="1798955" cy="779145"/>
          </a:xfrm>
        </p:grpSpPr>
        <p:sp>
          <p:nvSpPr>
            <p:cNvPr id="33" name="object 33"/>
            <p:cNvSpPr/>
            <p:nvPr/>
          </p:nvSpPr>
          <p:spPr>
            <a:xfrm>
              <a:off x="7001256" y="117347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A0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001256" y="117347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368796" y="1107947"/>
              <a:ext cx="1789430" cy="769620"/>
            </a:xfrm>
            <a:custGeom>
              <a:avLst/>
              <a:gdLst/>
              <a:ahLst/>
              <a:cxnLst/>
              <a:rect l="l" t="t" r="r" b="b"/>
              <a:pathLst>
                <a:path w="1789429" h="769619">
                  <a:moveTo>
                    <a:pt x="1789176" y="0"/>
                  </a:moveTo>
                  <a:lnTo>
                    <a:pt x="832103" y="0"/>
                  </a:lnTo>
                  <a:lnTo>
                    <a:pt x="832103" y="330708"/>
                  </a:lnTo>
                  <a:lnTo>
                    <a:pt x="0" y="769620"/>
                  </a:lnTo>
                  <a:lnTo>
                    <a:pt x="832103" y="472439"/>
                  </a:lnTo>
                  <a:lnTo>
                    <a:pt x="832103" y="566927"/>
                  </a:lnTo>
                  <a:lnTo>
                    <a:pt x="1789176" y="566927"/>
                  </a:lnTo>
                  <a:lnTo>
                    <a:pt x="1789176" y="0"/>
                  </a:lnTo>
                  <a:close/>
                </a:path>
              </a:pathLst>
            </a:custGeom>
            <a:solidFill>
              <a:srgbClr val="5234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368796" y="1107947"/>
              <a:ext cx="1789430" cy="769620"/>
            </a:xfrm>
            <a:custGeom>
              <a:avLst/>
              <a:gdLst/>
              <a:ahLst/>
              <a:cxnLst/>
              <a:rect l="l" t="t" r="r" b="b"/>
              <a:pathLst>
                <a:path w="1789429" h="769619">
                  <a:moveTo>
                    <a:pt x="832103" y="0"/>
                  </a:moveTo>
                  <a:lnTo>
                    <a:pt x="991615" y="0"/>
                  </a:lnTo>
                  <a:lnTo>
                    <a:pt x="1230883" y="0"/>
                  </a:lnTo>
                  <a:lnTo>
                    <a:pt x="1789176" y="0"/>
                  </a:lnTo>
                  <a:lnTo>
                    <a:pt x="1789176" y="330708"/>
                  </a:lnTo>
                  <a:lnTo>
                    <a:pt x="1789176" y="472439"/>
                  </a:lnTo>
                  <a:lnTo>
                    <a:pt x="1789176" y="566927"/>
                  </a:lnTo>
                  <a:lnTo>
                    <a:pt x="1230883" y="566927"/>
                  </a:lnTo>
                  <a:lnTo>
                    <a:pt x="991615" y="566927"/>
                  </a:lnTo>
                  <a:lnTo>
                    <a:pt x="832103" y="566927"/>
                  </a:lnTo>
                  <a:lnTo>
                    <a:pt x="832103" y="472439"/>
                  </a:lnTo>
                  <a:lnTo>
                    <a:pt x="0" y="769620"/>
                  </a:lnTo>
                  <a:lnTo>
                    <a:pt x="832103" y="330708"/>
                  </a:lnTo>
                  <a:lnTo>
                    <a:pt x="832103" y="0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269606" y="1108328"/>
            <a:ext cx="8242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E9D4"/>
                </a:solidFill>
                <a:latin typeface="Arial MT"/>
                <a:cs typeface="Arial MT"/>
              </a:rPr>
              <a:t>Total,</a:t>
            </a:r>
            <a:r>
              <a:rPr sz="1200" spc="-30" dirty="0">
                <a:solidFill>
                  <a:srgbClr val="FFE9D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Hell's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29982" y="1281759"/>
            <a:ext cx="901700" cy="382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ts val="1405"/>
              </a:lnSpc>
              <a:spcBef>
                <a:spcPts val="100"/>
              </a:spcBef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Kitchen,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ts val="1405"/>
              </a:lnSpc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R236,511.17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449311" y="3008375"/>
            <a:ext cx="1170940" cy="782320"/>
            <a:chOff x="7449311" y="3008375"/>
            <a:chExt cx="1170940" cy="782320"/>
          </a:xfrm>
        </p:grpSpPr>
        <p:sp>
          <p:nvSpPr>
            <p:cNvPr id="40" name="object 40"/>
            <p:cNvSpPr/>
            <p:nvPr/>
          </p:nvSpPr>
          <p:spPr>
            <a:xfrm>
              <a:off x="7458455" y="307847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A0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458455" y="307847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661147" y="3012947"/>
              <a:ext cx="954405" cy="773430"/>
            </a:xfrm>
            <a:custGeom>
              <a:avLst/>
              <a:gdLst/>
              <a:ahLst/>
              <a:cxnLst/>
              <a:rect l="l" t="t" r="r" b="b"/>
              <a:pathLst>
                <a:path w="954404" h="773429">
                  <a:moveTo>
                    <a:pt x="954024" y="0"/>
                  </a:moveTo>
                  <a:lnTo>
                    <a:pt x="0" y="0"/>
                  </a:lnTo>
                  <a:lnTo>
                    <a:pt x="0" y="569976"/>
                  </a:lnTo>
                  <a:lnTo>
                    <a:pt x="159003" y="569976"/>
                  </a:lnTo>
                  <a:lnTo>
                    <a:pt x="465835" y="773048"/>
                  </a:lnTo>
                  <a:lnTo>
                    <a:pt x="397509" y="569976"/>
                  </a:lnTo>
                  <a:lnTo>
                    <a:pt x="954024" y="569976"/>
                  </a:lnTo>
                  <a:lnTo>
                    <a:pt x="954024" y="0"/>
                  </a:lnTo>
                  <a:close/>
                </a:path>
              </a:pathLst>
            </a:custGeom>
            <a:solidFill>
              <a:srgbClr val="5234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61147" y="3012947"/>
              <a:ext cx="954405" cy="773430"/>
            </a:xfrm>
            <a:custGeom>
              <a:avLst/>
              <a:gdLst/>
              <a:ahLst/>
              <a:cxnLst/>
              <a:rect l="l" t="t" r="r" b="b"/>
              <a:pathLst>
                <a:path w="954404" h="773429">
                  <a:moveTo>
                    <a:pt x="0" y="0"/>
                  </a:moveTo>
                  <a:lnTo>
                    <a:pt x="159003" y="0"/>
                  </a:lnTo>
                  <a:lnTo>
                    <a:pt x="397509" y="0"/>
                  </a:lnTo>
                  <a:lnTo>
                    <a:pt x="954024" y="0"/>
                  </a:lnTo>
                  <a:lnTo>
                    <a:pt x="954024" y="332486"/>
                  </a:lnTo>
                  <a:lnTo>
                    <a:pt x="954024" y="474980"/>
                  </a:lnTo>
                  <a:lnTo>
                    <a:pt x="954024" y="569976"/>
                  </a:lnTo>
                  <a:lnTo>
                    <a:pt x="397509" y="569976"/>
                  </a:lnTo>
                  <a:lnTo>
                    <a:pt x="465835" y="773048"/>
                  </a:lnTo>
                  <a:lnTo>
                    <a:pt x="159003" y="569976"/>
                  </a:lnTo>
                  <a:lnTo>
                    <a:pt x="0" y="569976"/>
                  </a:lnTo>
                  <a:lnTo>
                    <a:pt x="0" y="474980"/>
                  </a:lnTo>
                  <a:lnTo>
                    <a:pt x="0" y="332486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687818" y="3016122"/>
            <a:ext cx="902335" cy="55626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20955" algn="just">
              <a:lnSpc>
                <a:spcPts val="1370"/>
              </a:lnSpc>
              <a:spcBef>
                <a:spcPts val="200"/>
              </a:spcBef>
            </a:pPr>
            <a:r>
              <a:rPr sz="1200" dirty="0">
                <a:solidFill>
                  <a:srgbClr val="FFE9D4"/>
                </a:solidFill>
                <a:latin typeface="Arial MT"/>
                <a:cs typeface="Arial MT"/>
              </a:rPr>
              <a:t>Total,</a:t>
            </a:r>
            <a:r>
              <a:rPr sz="1200" spc="-30" dirty="0">
                <a:solidFill>
                  <a:srgbClr val="FFE9D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Lower Manhattan, R230,057.25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724657" y="4094174"/>
            <a:ext cx="895985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R228,000.00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R226,000.00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24657" y="3503167"/>
            <a:ext cx="895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R230,000.00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724657" y="2911805"/>
            <a:ext cx="89661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R232,000.00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724657" y="2321432"/>
            <a:ext cx="895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R234,000.00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724657" y="1730501"/>
            <a:ext cx="895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R236,000.00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724657" y="1139139"/>
            <a:ext cx="89661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R238,000.00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367910" y="4866233"/>
            <a:ext cx="497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Astoria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902197" y="4866233"/>
            <a:ext cx="942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E9D4"/>
                </a:solidFill>
                <a:latin typeface="Arial MT"/>
                <a:cs typeface="Arial MT"/>
              </a:rPr>
              <a:t>Hell's</a:t>
            </a:r>
            <a:r>
              <a:rPr sz="1200" spc="-20" dirty="0">
                <a:solidFill>
                  <a:srgbClr val="FFE9D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Kitchen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529321" y="4866233"/>
            <a:ext cx="1200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E9D4"/>
                </a:solidFill>
                <a:latin typeface="Arial MT"/>
                <a:cs typeface="Arial MT"/>
              </a:rPr>
              <a:t>Lower</a:t>
            </a:r>
            <a:r>
              <a:rPr sz="1200" spc="-15" dirty="0">
                <a:solidFill>
                  <a:srgbClr val="FFE9D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Manhattan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36956" y="1076070"/>
            <a:ext cx="161734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REVENUE</a:t>
            </a:r>
            <a:r>
              <a:rPr sz="1600" b="1" u="sng" spc="-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DATA</a:t>
            </a:r>
            <a:endParaRPr sz="16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36956" y="1319911"/>
            <a:ext cx="1929764" cy="5149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company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has</a:t>
            </a:r>
            <a:endParaRPr sz="16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600" spc="-10" dirty="0">
                <a:latin typeface="Arial MT"/>
                <a:cs typeface="Arial MT"/>
              </a:rPr>
              <a:t>generate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36956" y="1807844"/>
            <a:ext cx="240919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Arial MT"/>
                <a:cs typeface="Arial MT"/>
              </a:rPr>
              <a:t>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total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698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008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revenue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36956" y="2051380"/>
            <a:ext cx="2496185" cy="19792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0"/>
              </a:spcBef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Company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has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3</a:t>
            </a:r>
            <a:endParaRPr sz="16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different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store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locations</a:t>
            </a:r>
            <a:endParaRPr sz="1600">
              <a:latin typeface="Arial MT"/>
              <a:cs typeface="Arial MT"/>
            </a:endParaRPr>
          </a:p>
          <a:p>
            <a:pPr marL="299085" marR="508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All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store</a:t>
            </a:r>
            <a:r>
              <a:rPr sz="1600" spc="-10" dirty="0">
                <a:latin typeface="Arial MT"/>
                <a:cs typeface="Arial MT"/>
              </a:rPr>
              <a:t> location </a:t>
            </a:r>
            <a:r>
              <a:rPr sz="1600" dirty="0">
                <a:latin typeface="Arial MT"/>
                <a:cs typeface="Arial MT"/>
              </a:rPr>
              <a:t>perform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similarly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well</a:t>
            </a:r>
            <a:r>
              <a:rPr sz="1600" spc="45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at </a:t>
            </a:r>
            <a:r>
              <a:rPr sz="1600" dirty="0">
                <a:latin typeface="Arial MT"/>
                <a:cs typeface="Arial MT"/>
              </a:rPr>
              <a:t>33%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average</a:t>
            </a:r>
            <a:endParaRPr sz="1600">
              <a:latin typeface="Arial MT"/>
              <a:cs typeface="Arial MT"/>
            </a:endParaRPr>
          </a:p>
          <a:p>
            <a:pPr marL="299085" marR="11430" indent="-287020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But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Hell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Kitchen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has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a </a:t>
            </a:r>
            <a:r>
              <a:rPr sz="1600" dirty="0">
                <a:latin typeface="Arial MT"/>
                <a:cs typeface="Arial MT"/>
              </a:rPr>
              <a:t>small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lead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34%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Sales </a:t>
            </a:r>
            <a:r>
              <a:rPr sz="1600" spc="-10" dirty="0">
                <a:latin typeface="Arial MT"/>
                <a:cs typeface="Arial MT"/>
              </a:rPr>
              <a:t>performance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37273" cy="22124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6575"/>
            <a:ext cx="637032" cy="203911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241792" y="2980923"/>
            <a:ext cx="902335" cy="2164715"/>
            <a:chOff x="8241792" y="2980923"/>
            <a:chExt cx="902335" cy="216471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41792" y="2980923"/>
              <a:ext cx="902207" cy="21641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14944" y="3017519"/>
              <a:ext cx="829056" cy="211836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0" y="3569261"/>
            <a:ext cx="865505" cy="1576070"/>
            <a:chOff x="0" y="3569261"/>
            <a:chExt cx="865505" cy="157607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3569261"/>
              <a:ext cx="865263" cy="157576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819" y="3606088"/>
              <a:ext cx="691272" cy="140945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14527" y="0"/>
            <a:ext cx="8729980" cy="1377315"/>
            <a:chOff x="414527" y="0"/>
            <a:chExt cx="8729980" cy="1377315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51063" y="18287"/>
              <a:ext cx="1392935" cy="13590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23098" y="55371"/>
              <a:ext cx="1320901" cy="11872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4527" y="0"/>
              <a:ext cx="8393811" cy="920114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04494" y="75640"/>
            <a:ext cx="77851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5" dirty="0"/>
              <a:t>MONTHLY</a:t>
            </a:r>
            <a:r>
              <a:rPr spc="-45" dirty="0"/>
              <a:t> </a:t>
            </a:r>
            <a:r>
              <a:rPr spc="305" dirty="0"/>
              <a:t>SALES</a:t>
            </a:r>
            <a:r>
              <a:rPr spc="5" dirty="0"/>
              <a:t> </a:t>
            </a:r>
            <a:r>
              <a:rPr spc="260" dirty="0"/>
              <a:t>BY</a:t>
            </a:r>
            <a:r>
              <a:rPr spc="-10" dirty="0"/>
              <a:t> </a:t>
            </a:r>
            <a:r>
              <a:rPr spc="315" dirty="0"/>
              <a:t>STORE</a:t>
            </a:r>
            <a:r>
              <a:rPr spc="-20" dirty="0"/>
              <a:t> </a:t>
            </a:r>
            <a:r>
              <a:rPr spc="285" dirty="0"/>
              <a:t>LOCATION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1969007" y="1231391"/>
            <a:ext cx="5645150" cy="2867025"/>
            <a:chOff x="1969007" y="1231391"/>
            <a:chExt cx="5645150" cy="2867025"/>
          </a:xfrm>
        </p:grpSpPr>
        <p:sp>
          <p:nvSpPr>
            <p:cNvPr id="16" name="object 16"/>
            <p:cNvSpPr/>
            <p:nvPr/>
          </p:nvSpPr>
          <p:spPr>
            <a:xfrm>
              <a:off x="1973579" y="1674875"/>
              <a:ext cx="5636260" cy="1767839"/>
            </a:xfrm>
            <a:custGeom>
              <a:avLst/>
              <a:gdLst/>
              <a:ahLst/>
              <a:cxnLst/>
              <a:rect l="l" t="t" r="r" b="b"/>
              <a:pathLst>
                <a:path w="5636259" h="1767839">
                  <a:moveTo>
                    <a:pt x="3162299" y="1767840"/>
                  </a:moveTo>
                  <a:lnTo>
                    <a:pt x="3204972" y="1767840"/>
                  </a:lnTo>
                </a:path>
                <a:path w="5636259" h="1767839">
                  <a:moveTo>
                    <a:pt x="5039868" y="1767840"/>
                  </a:moveTo>
                  <a:lnTo>
                    <a:pt x="5082540" y="1767840"/>
                  </a:lnTo>
                </a:path>
                <a:path w="5636259" h="1767839">
                  <a:moveTo>
                    <a:pt x="5247132" y="1767840"/>
                  </a:moveTo>
                  <a:lnTo>
                    <a:pt x="5635752" y="1767840"/>
                  </a:lnTo>
                </a:path>
                <a:path w="5636259" h="1767839">
                  <a:moveTo>
                    <a:pt x="3369564" y="1767840"/>
                  </a:moveTo>
                  <a:lnTo>
                    <a:pt x="3936492" y="1767840"/>
                  </a:lnTo>
                </a:path>
                <a:path w="5636259" h="1767839">
                  <a:moveTo>
                    <a:pt x="4308348" y="1767840"/>
                  </a:moveTo>
                  <a:lnTo>
                    <a:pt x="4875276" y="1767840"/>
                  </a:lnTo>
                </a:path>
                <a:path w="5636259" h="1767839">
                  <a:moveTo>
                    <a:pt x="1491995" y="1767840"/>
                  </a:moveTo>
                  <a:lnTo>
                    <a:pt x="2058923" y="1767840"/>
                  </a:lnTo>
                </a:path>
                <a:path w="5636259" h="1767839">
                  <a:moveTo>
                    <a:pt x="2430780" y="1767840"/>
                  </a:moveTo>
                  <a:lnTo>
                    <a:pt x="2997708" y="1767840"/>
                  </a:lnTo>
                </a:path>
                <a:path w="5636259" h="1767839">
                  <a:moveTo>
                    <a:pt x="0" y="1767840"/>
                  </a:moveTo>
                  <a:lnTo>
                    <a:pt x="181356" y="1767840"/>
                  </a:lnTo>
                </a:path>
                <a:path w="5636259" h="1767839">
                  <a:moveTo>
                    <a:pt x="1281683" y="1767840"/>
                  </a:moveTo>
                  <a:lnTo>
                    <a:pt x="1327404" y="1767840"/>
                  </a:lnTo>
                </a:path>
                <a:path w="5636259" h="1767839">
                  <a:moveTo>
                    <a:pt x="342900" y="1767840"/>
                  </a:moveTo>
                  <a:lnTo>
                    <a:pt x="388619" y="1767840"/>
                  </a:lnTo>
                </a:path>
                <a:path w="5636259" h="1767839">
                  <a:moveTo>
                    <a:pt x="4101083" y="1767840"/>
                  </a:moveTo>
                  <a:lnTo>
                    <a:pt x="4143755" y="1767840"/>
                  </a:lnTo>
                </a:path>
                <a:path w="5636259" h="1767839">
                  <a:moveTo>
                    <a:pt x="2223516" y="1767840"/>
                  </a:moveTo>
                  <a:lnTo>
                    <a:pt x="2266187" y="1767840"/>
                  </a:lnTo>
                </a:path>
                <a:path w="5636259" h="1767839">
                  <a:moveTo>
                    <a:pt x="553212" y="1767840"/>
                  </a:moveTo>
                  <a:lnTo>
                    <a:pt x="1120139" y="1767840"/>
                  </a:lnTo>
                </a:path>
                <a:path w="5636259" h="1767839">
                  <a:moveTo>
                    <a:pt x="4101083" y="1325880"/>
                  </a:moveTo>
                  <a:lnTo>
                    <a:pt x="4143755" y="1325880"/>
                  </a:lnTo>
                </a:path>
                <a:path w="5636259" h="1767839">
                  <a:moveTo>
                    <a:pt x="5247132" y="1325880"/>
                  </a:moveTo>
                  <a:lnTo>
                    <a:pt x="5635752" y="1325880"/>
                  </a:lnTo>
                </a:path>
                <a:path w="5636259" h="1767839">
                  <a:moveTo>
                    <a:pt x="2223516" y="1325880"/>
                  </a:moveTo>
                  <a:lnTo>
                    <a:pt x="2266187" y="1325880"/>
                  </a:lnTo>
                </a:path>
                <a:path w="5636259" h="1767839">
                  <a:moveTo>
                    <a:pt x="342900" y="1325880"/>
                  </a:moveTo>
                  <a:lnTo>
                    <a:pt x="388619" y="1325880"/>
                  </a:lnTo>
                </a:path>
                <a:path w="5636259" h="1767839">
                  <a:moveTo>
                    <a:pt x="5039868" y="1325880"/>
                  </a:moveTo>
                  <a:lnTo>
                    <a:pt x="5082540" y="1325880"/>
                  </a:lnTo>
                </a:path>
                <a:path w="5636259" h="1767839">
                  <a:moveTo>
                    <a:pt x="4308348" y="1325880"/>
                  </a:moveTo>
                  <a:lnTo>
                    <a:pt x="4875276" y="1325880"/>
                  </a:lnTo>
                </a:path>
                <a:path w="5636259" h="1767839">
                  <a:moveTo>
                    <a:pt x="3162299" y="1325880"/>
                  </a:moveTo>
                  <a:lnTo>
                    <a:pt x="3204972" y="1325880"/>
                  </a:lnTo>
                </a:path>
                <a:path w="5636259" h="1767839">
                  <a:moveTo>
                    <a:pt x="1281683" y="1325880"/>
                  </a:moveTo>
                  <a:lnTo>
                    <a:pt x="1327404" y="1325880"/>
                  </a:lnTo>
                </a:path>
                <a:path w="5636259" h="1767839">
                  <a:moveTo>
                    <a:pt x="553212" y="1325880"/>
                  </a:moveTo>
                  <a:lnTo>
                    <a:pt x="1120139" y="1325880"/>
                  </a:lnTo>
                </a:path>
                <a:path w="5636259" h="1767839">
                  <a:moveTo>
                    <a:pt x="3369564" y="1325880"/>
                  </a:moveTo>
                  <a:lnTo>
                    <a:pt x="3936492" y="1325880"/>
                  </a:lnTo>
                </a:path>
                <a:path w="5636259" h="1767839">
                  <a:moveTo>
                    <a:pt x="2430780" y="1325880"/>
                  </a:moveTo>
                  <a:lnTo>
                    <a:pt x="2997708" y="1325880"/>
                  </a:lnTo>
                </a:path>
                <a:path w="5636259" h="1767839">
                  <a:moveTo>
                    <a:pt x="1491995" y="1325880"/>
                  </a:moveTo>
                  <a:lnTo>
                    <a:pt x="2058923" y="1325880"/>
                  </a:lnTo>
                </a:path>
                <a:path w="5636259" h="1767839">
                  <a:moveTo>
                    <a:pt x="0" y="1325880"/>
                  </a:moveTo>
                  <a:lnTo>
                    <a:pt x="181356" y="1325880"/>
                  </a:lnTo>
                </a:path>
                <a:path w="5636259" h="1767839">
                  <a:moveTo>
                    <a:pt x="3162299" y="883920"/>
                  </a:moveTo>
                  <a:lnTo>
                    <a:pt x="3204972" y="883920"/>
                  </a:lnTo>
                </a:path>
                <a:path w="5636259" h="1767839">
                  <a:moveTo>
                    <a:pt x="5039868" y="883920"/>
                  </a:moveTo>
                  <a:lnTo>
                    <a:pt x="5082540" y="883920"/>
                  </a:lnTo>
                </a:path>
                <a:path w="5636259" h="1767839">
                  <a:moveTo>
                    <a:pt x="5247132" y="883920"/>
                  </a:moveTo>
                  <a:lnTo>
                    <a:pt x="5635752" y="883920"/>
                  </a:lnTo>
                </a:path>
                <a:path w="5636259" h="1767839">
                  <a:moveTo>
                    <a:pt x="4308348" y="883920"/>
                  </a:moveTo>
                  <a:lnTo>
                    <a:pt x="4875276" y="883920"/>
                  </a:lnTo>
                </a:path>
                <a:path w="5636259" h="1767839">
                  <a:moveTo>
                    <a:pt x="2430780" y="883920"/>
                  </a:moveTo>
                  <a:lnTo>
                    <a:pt x="2997708" y="883920"/>
                  </a:lnTo>
                </a:path>
                <a:path w="5636259" h="1767839">
                  <a:moveTo>
                    <a:pt x="3369564" y="883920"/>
                  </a:moveTo>
                  <a:lnTo>
                    <a:pt x="3936492" y="883920"/>
                  </a:lnTo>
                </a:path>
                <a:path w="5636259" h="1767839">
                  <a:moveTo>
                    <a:pt x="0" y="883920"/>
                  </a:moveTo>
                  <a:lnTo>
                    <a:pt x="2058923" y="883920"/>
                  </a:lnTo>
                </a:path>
                <a:path w="5636259" h="1767839">
                  <a:moveTo>
                    <a:pt x="2223516" y="883920"/>
                  </a:moveTo>
                  <a:lnTo>
                    <a:pt x="2266187" y="883920"/>
                  </a:lnTo>
                </a:path>
                <a:path w="5636259" h="1767839">
                  <a:moveTo>
                    <a:pt x="4101083" y="883920"/>
                  </a:moveTo>
                  <a:lnTo>
                    <a:pt x="4143755" y="883920"/>
                  </a:lnTo>
                </a:path>
                <a:path w="5636259" h="1767839">
                  <a:moveTo>
                    <a:pt x="5247132" y="441960"/>
                  </a:moveTo>
                  <a:lnTo>
                    <a:pt x="5635752" y="441960"/>
                  </a:lnTo>
                </a:path>
                <a:path w="5636259" h="1767839">
                  <a:moveTo>
                    <a:pt x="3369564" y="441960"/>
                  </a:moveTo>
                  <a:lnTo>
                    <a:pt x="3936492" y="441960"/>
                  </a:lnTo>
                </a:path>
                <a:path w="5636259" h="1767839">
                  <a:moveTo>
                    <a:pt x="5039868" y="441960"/>
                  </a:moveTo>
                  <a:lnTo>
                    <a:pt x="5082540" y="441960"/>
                  </a:lnTo>
                </a:path>
                <a:path w="5636259" h="1767839">
                  <a:moveTo>
                    <a:pt x="4308348" y="441960"/>
                  </a:moveTo>
                  <a:lnTo>
                    <a:pt x="4875276" y="441960"/>
                  </a:lnTo>
                </a:path>
                <a:path w="5636259" h="1767839">
                  <a:moveTo>
                    <a:pt x="4101083" y="441960"/>
                  </a:moveTo>
                  <a:lnTo>
                    <a:pt x="4143755" y="441960"/>
                  </a:lnTo>
                </a:path>
                <a:path w="5636259" h="1767839">
                  <a:moveTo>
                    <a:pt x="0" y="441960"/>
                  </a:moveTo>
                  <a:lnTo>
                    <a:pt x="3204972" y="441960"/>
                  </a:lnTo>
                </a:path>
                <a:path w="5636259" h="1767839">
                  <a:moveTo>
                    <a:pt x="5247132" y="0"/>
                  </a:moveTo>
                  <a:lnTo>
                    <a:pt x="5635752" y="0"/>
                  </a:lnTo>
                </a:path>
                <a:path w="5636259" h="1767839">
                  <a:moveTo>
                    <a:pt x="4308348" y="0"/>
                  </a:moveTo>
                  <a:lnTo>
                    <a:pt x="4875276" y="0"/>
                  </a:lnTo>
                </a:path>
                <a:path w="5636259" h="1767839">
                  <a:moveTo>
                    <a:pt x="0" y="0"/>
                  </a:moveTo>
                  <a:lnTo>
                    <a:pt x="3936492" y="0"/>
                  </a:lnTo>
                </a:path>
                <a:path w="5636259" h="1767839">
                  <a:moveTo>
                    <a:pt x="4101083" y="0"/>
                  </a:moveTo>
                  <a:lnTo>
                    <a:pt x="4143755" y="0"/>
                  </a:lnTo>
                </a:path>
                <a:path w="5636259" h="1767839">
                  <a:moveTo>
                    <a:pt x="5039868" y="0"/>
                  </a:moveTo>
                  <a:lnTo>
                    <a:pt x="5082540" y="0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73579" y="1235963"/>
              <a:ext cx="5636260" cy="0"/>
            </a:xfrm>
            <a:custGeom>
              <a:avLst/>
              <a:gdLst/>
              <a:ahLst/>
              <a:cxnLst/>
              <a:rect l="l" t="t" r="r" b="b"/>
              <a:pathLst>
                <a:path w="5636259">
                  <a:moveTo>
                    <a:pt x="0" y="0"/>
                  </a:moveTo>
                  <a:lnTo>
                    <a:pt x="5635752" y="0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54936" y="1450847"/>
              <a:ext cx="4859020" cy="2432685"/>
            </a:xfrm>
            <a:custGeom>
              <a:avLst/>
              <a:gdLst/>
              <a:ahLst/>
              <a:cxnLst/>
              <a:rect l="l" t="t" r="r" b="b"/>
              <a:pathLst>
                <a:path w="4859020" h="2432685">
                  <a:moveTo>
                    <a:pt x="161544" y="1228344"/>
                  </a:moveTo>
                  <a:lnTo>
                    <a:pt x="0" y="1228344"/>
                  </a:lnTo>
                  <a:lnTo>
                    <a:pt x="0" y="2432304"/>
                  </a:lnTo>
                  <a:lnTo>
                    <a:pt x="161544" y="2432304"/>
                  </a:lnTo>
                  <a:lnTo>
                    <a:pt x="161544" y="1228344"/>
                  </a:lnTo>
                  <a:close/>
                </a:path>
                <a:path w="4859020" h="2432685">
                  <a:moveTo>
                    <a:pt x="1100328" y="1325880"/>
                  </a:moveTo>
                  <a:lnTo>
                    <a:pt x="938784" y="1325880"/>
                  </a:lnTo>
                  <a:lnTo>
                    <a:pt x="938784" y="2432304"/>
                  </a:lnTo>
                  <a:lnTo>
                    <a:pt x="1100328" y="2432304"/>
                  </a:lnTo>
                  <a:lnTo>
                    <a:pt x="1100328" y="1325880"/>
                  </a:lnTo>
                  <a:close/>
                </a:path>
                <a:path w="4859020" h="2432685">
                  <a:moveTo>
                    <a:pt x="2042160" y="984504"/>
                  </a:moveTo>
                  <a:lnTo>
                    <a:pt x="1877568" y="984504"/>
                  </a:lnTo>
                  <a:lnTo>
                    <a:pt x="1877568" y="2432304"/>
                  </a:lnTo>
                  <a:lnTo>
                    <a:pt x="2042160" y="2432304"/>
                  </a:lnTo>
                  <a:lnTo>
                    <a:pt x="2042160" y="984504"/>
                  </a:lnTo>
                  <a:close/>
                </a:path>
                <a:path w="4859020" h="2432685">
                  <a:moveTo>
                    <a:pt x="2980944" y="688848"/>
                  </a:moveTo>
                  <a:lnTo>
                    <a:pt x="2816352" y="688848"/>
                  </a:lnTo>
                  <a:lnTo>
                    <a:pt x="2816352" y="2432304"/>
                  </a:lnTo>
                  <a:lnTo>
                    <a:pt x="2980944" y="2432304"/>
                  </a:lnTo>
                  <a:lnTo>
                    <a:pt x="2980944" y="688848"/>
                  </a:lnTo>
                  <a:close/>
                </a:path>
                <a:path w="4859020" h="2432685">
                  <a:moveTo>
                    <a:pt x="3919728" y="118872"/>
                  </a:moveTo>
                  <a:lnTo>
                    <a:pt x="3755136" y="118872"/>
                  </a:lnTo>
                  <a:lnTo>
                    <a:pt x="3755136" y="2432304"/>
                  </a:lnTo>
                  <a:lnTo>
                    <a:pt x="3919728" y="2432304"/>
                  </a:lnTo>
                  <a:lnTo>
                    <a:pt x="3919728" y="118872"/>
                  </a:lnTo>
                  <a:close/>
                </a:path>
                <a:path w="4859020" h="2432685">
                  <a:moveTo>
                    <a:pt x="4858512" y="0"/>
                  </a:moveTo>
                  <a:lnTo>
                    <a:pt x="4693920" y="0"/>
                  </a:lnTo>
                  <a:lnTo>
                    <a:pt x="4693920" y="2432304"/>
                  </a:lnTo>
                  <a:lnTo>
                    <a:pt x="4858512" y="2432304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A0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62200" y="1368551"/>
              <a:ext cx="4859020" cy="2515235"/>
            </a:xfrm>
            <a:custGeom>
              <a:avLst/>
              <a:gdLst/>
              <a:ahLst/>
              <a:cxnLst/>
              <a:rect l="l" t="t" r="r" b="b"/>
              <a:pathLst>
                <a:path w="4859020" h="2515235">
                  <a:moveTo>
                    <a:pt x="164592" y="1286256"/>
                  </a:moveTo>
                  <a:lnTo>
                    <a:pt x="0" y="1286256"/>
                  </a:lnTo>
                  <a:lnTo>
                    <a:pt x="0" y="2514600"/>
                  </a:lnTo>
                  <a:lnTo>
                    <a:pt x="164592" y="2514600"/>
                  </a:lnTo>
                  <a:lnTo>
                    <a:pt x="164592" y="1286256"/>
                  </a:lnTo>
                  <a:close/>
                </a:path>
                <a:path w="4859020" h="2515235">
                  <a:moveTo>
                    <a:pt x="1103376" y="1380744"/>
                  </a:moveTo>
                  <a:lnTo>
                    <a:pt x="938784" y="1380744"/>
                  </a:lnTo>
                  <a:lnTo>
                    <a:pt x="938784" y="2514600"/>
                  </a:lnTo>
                  <a:lnTo>
                    <a:pt x="1103376" y="2514600"/>
                  </a:lnTo>
                  <a:lnTo>
                    <a:pt x="1103376" y="1380744"/>
                  </a:lnTo>
                  <a:close/>
                </a:path>
                <a:path w="4859020" h="2515235">
                  <a:moveTo>
                    <a:pt x="2042160" y="1054608"/>
                  </a:moveTo>
                  <a:lnTo>
                    <a:pt x="1877568" y="1054608"/>
                  </a:lnTo>
                  <a:lnTo>
                    <a:pt x="1877568" y="2514600"/>
                  </a:lnTo>
                  <a:lnTo>
                    <a:pt x="2042160" y="2514600"/>
                  </a:lnTo>
                  <a:lnTo>
                    <a:pt x="2042160" y="1054608"/>
                  </a:lnTo>
                  <a:close/>
                </a:path>
                <a:path w="4859020" h="2515235">
                  <a:moveTo>
                    <a:pt x="2980944" y="734568"/>
                  </a:moveTo>
                  <a:lnTo>
                    <a:pt x="2816352" y="734568"/>
                  </a:lnTo>
                  <a:lnTo>
                    <a:pt x="2816352" y="2514600"/>
                  </a:lnTo>
                  <a:lnTo>
                    <a:pt x="2980944" y="2514612"/>
                  </a:lnTo>
                  <a:lnTo>
                    <a:pt x="2980944" y="734568"/>
                  </a:lnTo>
                  <a:close/>
                </a:path>
                <a:path w="4859020" h="2515235">
                  <a:moveTo>
                    <a:pt x="3919728" y="192024"/>
                  </a:moveTo>
                  <a:lnTo>
                    <a:pt x="3755136" y="192024"/>
                  </a:lnTo>
                  <a:lnTo>
                    <a:pt x="3755136" y="2514600"/>
                  </a:lnTo>
                  <a:lnTo>
                    <a:pt x="3919728" y="2514600"/>
                  </a:lnTo>
                  <a:lnTo>
                    <a:pt x="3919728" y="192024"/>
                  </a:lnTo>
                  <a:close/>
                </a:path>
                <a:path w="4859020" h="2515235">
                  <a:moveTo>
                    <a:pt x="4858512" y="0"/>
                  </a:moveTo>
                  <a:lnTo>
                    <a:pt x="4693920" y="0"/>
                  </a:lnTo>
                  <a:lnTo>
                    <a:pt x="4693920" y="2514600"/>
                  </a:lnTo>
                  <a:lnTo>
                    <a:pt x="4858512" y="2514600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3628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69464" y="1481327"/>
              <a:ext cx="4859020" cy="2402205"/>
            </a:xfrm>
            <a:custGeom>
              <a:avLst/>
              <a:gdLst/>
              <a:ahLst/>
              <a:cxnLst/>
              <a:rect l="l" t="t" r="r" b="b"/>
              <a:pathLst>
                <a:path w="4859020" h="2402204">
                  <a:moveTo>
                    <a:pt x="164592" y="1231392"/>
                  </a:moveTo>
                  <a:lnTo>
                    <a:pt x="0" y="1231392"/>
                  </a:lnTo>
                  <a:lnTo>
                    <a:pt x="0" y="2401824"/>
                  </a:lnTo>
                  <a:lnTo>
                    <a:pt x="164592" y="2401824"/>
                  </a:lnTo>
                  <a:lnTo>
                    <a:pt x="164592" y="1231392"/>
                  </a:lnTo>
                  <a:close/>
                </a:path>
                <a:path w="4859020" h="2402204">
                  <a:moveTo>
                    <a:pt x="1103376" y="1283208"/>
                  </a:moveTo>
                  <a:lnTo>
                    <a:pt x="938784" y="1283208"/>
                  </a:lnTo>
                  <a:lnTo>
                    <a:pt x="938784" y="2401824"/>
                  </a:lnTo>
                  <a:lnTo>
                    <a:pt x="1103376" y="2401824"/>
                  </a:lnTo>
                  <a:lnTo>
                    <a:pt x="1103376" y="1283208"/>
                  </a:lnTo>
                  <a:close/>
                </a:path>
                <a:path w="4859020" h="2402204">
                  <a:moveTo>
                    <a:pt x="2042160" y="950976"/>
                  </a:moveTo>
                  <a:lnTo>
                    <a:pt x="1877568" y="950976"/>
                  </a:lnTo>
                  <a:lnTo>
                    <a:pt x="1877568" y="2401824"/>
                  </a:lnTo>
                  <a:lnTo>
                    <a:pt x="2042160" y="2401824"/>
                  </a:lnTo>
                  <a:lnTo>
                    <a:pt x="2042160" y="950976"/>
                  </a:lnTo>
                  <a:close/>
                </a:path>
                <a:path w="4859020" h="2402204">
                  <a:moveTo>
                    <a:pt x="2980944" y="673608"/>
                  </a:moveTo>
                  <a:lnTo>
                    <a:pt x="2816352" y="673608"/>
                  </a:lnTo>
                  <a:lnTo>
                    <a:pt x="2816352" y="2401824"/>
                  </a:lnTo>
                  <a:lnTo>
                    <a:pt x="2980944" y="2401824"/>
                  </a:lnTo>
                  <a:lnTo>
                    <a:pt x="2980944" y="673608"/>
                  </a:lnTo>
                  <a:close/>
                </a:path>
                <a:path w="4859020" h="2402204">
                  <a:moveTo>
                    <a:pt x="3919728" y="118872"/>
                  </a:moveTo>
                  <a:lnTo>
                    <a:pt x="3758184" y="118872"/>
                  </a:lnTo>
                  <a:lnTo>
                    <a:pt x="3758184" y="2401824"/>
                  </a:lnTo>
                  <a:lnTo>
                    <a:pt x="3919728" y="2401824"/>
                  </a:lnTo>
                  <a:lnTo>
                    <a:pt x="3919728" y="118872"/>
                  </a:lnTo>
                  <a:close/>
                </a:path>
                <a:path w="4859020" h="2402204">
                  <a:moveTo>
                    <a:pt x="4858512" y="0"/>
                  </a:moveTo>
                  <a:lnTo>
                    <a:pt x="4696968" y="0"/>
                  </a:lnTo>
                  <a:lnTo>
                    <a:pt x="4696968" y="2401824"/>
                  </a:lnTo>
                  <a:lnTo>
                    <a:pt x="4858512" y="2401824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73579" y="3884675"/>
              <a:ext cx="5636260" cy="213360"/>
            </a:xfrm>
            <a:custGeom>
              <a:avLst/>
              <a:gdLst/>
              <a:ahLst/>
              <a:cxnLst/>
              <a:rect l="l" t="t" r="r" b="b"/>
              <a:pathLst>
                <a:path w="5636259" h="213360">
                  <a:moveTo>
                    <a:pt x="0" y="0"/>
                  </a:moveTo>
                  <a:lnTo>
                    <a:pt x="5635752" y="0"/>
                  </a:lnTo>
                </a:path>
                <a:path w="5636259" h="213360">
                  <a:moveTo>
                    <a:pt x="0" y="0"/>
                  </a:moveTo>
                  <a:lnTo>
                    <a:pt x="0" y="213360"/>
                  </a:lnTo>
                </a:path>
                <a:path w="5636259" h="213360">
                  <a:moveTo>
                    <a:pt x="938783" y="0"/>
                  </a:moveTo>
                  <a:lnTo>
                    <a:pt x="938783" y="213360"/>
                  </a:lnTo>
                </a:path>
                <a:path w="5636259" h="213360">
                  <a:moveTo>
                    <a:pt x="1877568" y="0"/>
                  </a:moveTo>
                  <a:lnTo>
                    <a:pt x="1877568" y="213360"/>
                  </a:lnTo>
                </a:path>
                <a:path w="5636259" h="213360">
                  <a:moveTo>
                    <a:pt x="2819399" y="0"/>
                  </a:moveTo>
                  <a:lnTo>
                    <a:pt x="2819399" y="213360"/>
                  </a:lnTo>
                </a:path>
                <a:path w="5636259" h="213360">
                  <a:moveTo>
                    <a:pt x="3758183" y="0"/>
                  </a:moveTo>
                  <a:lnTo>
                    <a:pt x="3758183" y="213360"/>
                  </a:lnTo>
                </a:path>
                <a:path w="5636259" h="213360">
                  <a:moveTo>
                    <a:pt x="4696968" y="0"/>
                  </a:moveTo>
                  <a:lnTo>
                    <a:pt x="4696968" y="213360"/>
                  </a:lnTo>
                </a:path>
                <a:path w="5636259" h="213360">
                  <a:moveTo>
                    <a:pt x="5635752" y="0"/>
                  </a:moveTo>
                  <a:lnTo>
                    <a:pt x="5635752" y="213360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309241" y="3876852"/>
            <a:ext cx="2717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E9D4"/>
                </a:solidFill>
                <a:latin typeface="Arial MT"/>
                <a:cs typeface="Arial MT"/>
              </a:rPr>
              <a:t>Jan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40404" y="3876852"/>
            <a:ext cx="287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E9D4"/>
                </a:solidFill>
                <a:latin typeface="Arial MT"/>
                <a:cs typeface="Arial MT"/>
              </a:rPr>
              <a:t>Feb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79823" y="3876852"/>
            <a:ext cx="2863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E9D4"/>
                </a:solidFill>
                <a:latin typeface="Arial MT"/>
                <a:cs typeface="Arial MT"/>
              </a:rPr>
              <a:t>Mar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32070" y="3876852"/>
            <a:ext cx="262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E9D4"/>
                </a:solidFill>
                <a:latin typeface="Arial MT"/>
                <a:cs typeface="Arial MT"/>
              </a:rPr>
              <a:t>Apr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46089" y="3876852"/>
            <a:ext cx="311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E9D4"/>
                </a:solidFill>
                <a:latin typeface="Arial MT"/>
                <a:cs typeface="Arial MT"/>
              </a:rPr>
              <a:t>May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06590" y="3876852"/>
            <a:ext cx="2717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E9D4"/>
                </a:solidFill>
                <a:latin typeface="Arial MT"/>
                <a:cs typeface="Arial MT"/>
              </a:rPr>
              <a:t>Jun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907792" y="4098035"/>
            <a:ext cx="9525" cy="640080"/>
            <a:chOff x="2907792" y="4098035"/>
            <a:chExt cx="9525" cy="640080"/>
          </a:xfrm>
        </p:grpSpPr>
        <p:sp>
          <p:nvSpPr>
            <p:cNvPr id="29" name="object 29"/>
            <p:cNvSpPr/>
            <p:nvPr/>
          </p:nvSpPr>
          <p:spPr>
            <a:xfrm>
              <a:off x="2912364" y="4098035"/>
              <a:ext cx="0" cy="426720"/>
            </a:xfrm>
            <a:custGeom>
              <a:avLst/>
              <a:gdLst/>
              <a:ahLst/>
              <a:cxnLst/>
              <a:rect l="l" t="t" r="r" b="b"/>
              <a:pathLst>
                <a:path h="426720">
                  <a:moveTo>
                    <a:pt x="0" y="0"/>
                  </a:moveTo>
                  <a:lnTo>
                    <a:pt x="0" y="213359"/>
                  </a:lnTo>
                </a:path>
                <a:path h="426720">
                  <a:moveTo>
                    <a:pt x="0" y="0"/>
                  </a:moveTo>
                  <a:lnTo>
                    <a:pt x="0" y="213359"/>
                  </a:lnTo>
                </a:path>
                <a:path h="426720">
                  <a:moveTo>
                    <a:pt x="0" y="213359"/>
                  </a:moveTo>
                  <a:lnTo>
                    <a:pt x="0" y="426719"/>
                  </a:lnTo>
                </a:path>
                <a:path h="426720">
                  <a:moveTo>
                    <a:pt x="0" y="213359"/>
                  </a:moveTo>
                  <a:lnTo>
                    <a:pt x="0" y="426719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12364" y="4524755"/>
              <a:ext cx="0" cy="213360"/>
            </a:xfrm>
            <a:custGeom>
              <a:avLst/>
              <a:gdLst/>
              <a:ahLst/>
              <a:cxnLst/>
              <a:rect l="l" t="t" r="r" b="b"/>
              <a:pathLst>
                <a:path h="213360">
                  <a:moveTo>
                    <a:pt x="0" y="0"/>
                  </a:moveTo>
                  <a:lnTo>
                    <a:pt x="0" y="213360"/>
                  </a:lnTo>
                </a:path>
                <a:path h="213360">
                  <a:moveTo>
                    <a:pt x="0" y="0"/>
                  </a:moveTo>
                  <a:lnTo>
                    <a:pt x="0" y="213360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3846576" y="4098035"/>
            <a:ext cx="9525" cy="640080"/>
            <a:chOff x="3846576" y="4098035"/>
            <a:chExt cx="9525" cy="640080"/>
          </a:xfrm>
        </p:grpSpPr>
        <p:sp>
          <p:nvSpPr>
            <p:cNvPr id="32" name="object 32"/>
            <p:cNvSpPr/>
            <p:nvPr/>
          </p:nvSpPr>
          <p:spPr>
            <a:xfrm>
              <a:off x="3851148" y="4098035"/>
              <a:ext cx="0" cy="426720"/>
            </a:xfrm>
            <a:custGeom>
              <a:avLst/>
              <a:gdLst/>
              <a:ahLst/>
              <a:cxnLst/>
              <a:rect l="l" t="t" r="r" b="b"/>
              <a:pathLst>
                <a:path h="426720">
                  <a:moveTo>
                    <a:pt x="0" y="0"/>
                  </a:moveTo>
                  <a:lnTo>
                    <a:pt x="0" y="213359"/>
                  </a:lnTo>
                </a:path>
                <a:path h="426720">
                  <a:moveTo>
                    <a:pt x="0" y="0"/>
                  </a:moveTo>
                  <a:lnTo>
                    <a:pt x="0" y="213359"/>
                  </a:lnTo>
                </a:path>
                <a:path h="426720">
                  <a:moveTo>
                    <a:pt x="0" y="213359"/>
                  </a:moveTo>
                  <a:lnTo>
                    <a:pt x="0" y="426719"/>
                  </a:lnTo>
                </a:path>
                <a:path h="426720">
                  <a:moveTo>
                    <a:pt x="0" y="213359"/>
                  </a:moveTo>
                  <a:lnTo>
                    <a:pt x="0" y="426719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851148" y="4524755"/>
              <a:ext cx="0" cy="213360"/>
            </a:xfrm>
            <a:custGeom>
              <a:avLst/>
              <a:gdLst/>
              <a:ahLst/>
              <a:cxnLst/>
              <a:rect l="l" t="t" r="r" b="b"/>
              <a:pathLst>
                <a:path h="213360">
                  <a:moveTo>
                    <a:pt x="0" y="0"/>
                  </a:moveTo>
                  <a:lnTo>
                    <a:pt x="0" y="213360"/>
                  </a:lnTo>
                </a:path>
                <a:path h="213360">
                  <a:moveTo>
                    <a:pt x="0" y="0"/>
                  </a:moveTo>
                  <a:lnTo>
                    <a:pt x="0" y="213360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4788408" y="4098035"/>
            <a:ext cx="9525" cy="640080"/>
            <a:chOff x="4788408" y="4098035"/>
            <a:chExt cx="9525" cy="640080"/>
          </a:xfrm>
        </p:grpSpPr>
        <p:sp>
          <p:nvSpPr>
            <p:cNvPr id="35" name="object 35"/>
            <p:cNvSpPr/>
            <p:nvPr/>
          </p:nvSpPr>
          <p:spPr>
            <a:xfrm>
              <a:off x="4792980" y="4098035"/>
              <a:ext cx="0" cy="426720"/>
            </a:xfrm>
            <a:custGeom>
              <a:avLst/>
              <a:gdLst/>
              <a:ahLst/>
              <a:cxnLst/>
              <a:rect l="l" t="t" r="r" b="b"/>
              <a:pathLst>
                <a:path h="426720">
                  <a:moveTo>
                    <a:pt x="0" y="0"/>
                  </a:moveTo>
                  <a:lnTo>
                    <a:pt x="0" y="213359"/>
                  </a:lnTo>
                </a:path>
                <a:path h="426720">
                  <a:moveTo>
                    <a:pt x="0" y="0"/>
                  </a:moveTo>
                  <a:lnTo>
                    <a:pt x="0" y="213359"/>
                  </a:lnTo>
                </a:path>
                <a:path h="426720">
                  <a:moveTo>
                    <a:pt x="0" y="213359"/>
                  </a:moveTo>
                  <a:lnTo>
                    <a:pt x="0" y="426719"/>
                  </a:lnTo>
                </a:path>
                <a:path h="426720">
                  <a:moveTo>
                    <a:pt x="0" y="213359"/>
                  </a:moveTo>
                  <a:lnTo>
                    <a:pt x="0" y="426719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92980" y="4524755"/>
              <a:ext cx="0" cy="213360"/>
            </a:xfrm>
            <a:custGeom>
              <a:avLst/>
              <a:gdLst/>
              <a:ahLst/>
              <a:cxnLst/>
              <a:rect l="l" t="t" r="r" b="b"/>
              <a:pathLst>
                <a:path h="213360">
                  <a:moveTo>
                    <a:pt x="0" y="0"/>
                  </a:moveTo>
                  <a:lnTo>
                    <a:pt x="0" y="213360"/>
                  </a:lnTo>
                </a:path>
                <a:path h="213360">
                  <a:moveTo>
                    <a:pt x="0" y="0"/>
                  </a:moveTo>
                  <a:lnTo>
                    <a:pt x="0" y="213360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5727191" y="4098035"/>
            <a:ext cx="9525" cy="640080"/>
            <a:chOff x="5727191" y="4098035"/>
            <a:chExt cx="9525" cy="640080"/>
          </a:xfrm>
        </p:grpSpPr>
        <p:sp>
          <p:nvSpPr>
            <p:cNvPr id="38" name="object 38"/>
            <p:cNvSpPr/>
            <p:nvPr/>
          </p:nvSpPr>
          <p:spPr>
            <a:xfrm>
              <a:off x="5731763" y="4098035"/>
              <a:ext cx="0" cy="426720"/>
            </a:xfrm>
            <a:custGeom>
              <a:avLst/>
              <a:gdLst/>
              <a:ahLst/>
              <a:cxnLst/>
              <a:rect l="l" t="t" r="r" b="b"/>
              <a:pathLst>
                <a:path h="426720">
                  <a:moveTo>
                    <a:pt x="0" y="0"/>
                  </a:moveTo>
                  <a:lnTo>
                    <a:pt x="0" y="213359"/>
                  </a:lnTo>
                </a:path>
                <a:path h="426720">
                  <a:moveTo>
                    <a:pt x="0" y="0"/>
                  </a:moveTo>
                  <a:lnTo>
                    <a:pt x="0" y="213359"/>
                  </a:lnTo>
                </a:path>
                <a:path h="426720">
                  <a:moveTo>
                    <a:pt x="0" y="213359"/>
                  </a:moveTo>
                  <a:lnTo>
                    <a:pt x="0" y="426719"/>
                  </a:lnTo>
                </a:path>
                <a:path h="426720">
                  <a:moveTo>
                    <a:pt x="0" y="213359"/>
                  </a:moveTo>
                  <a:lnTo>
                    <a:pt x="0" y="426719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731763" y="4524755"/>
              <a:ext cx="0" cy="213360"/>
            </a:xfrm>
            <a:custGeom>
              <a:avLst/>
              <a:gdLst/>
              <a:ahLst/>
              <a:cxnLst/>
              <a:rect l="l" t="t" r="r" b="b"/>
              <a:pathLst>
                <a:path h="213360">
                  <a:moveTo>
                    <a:pt x="0" y="0"/>
                  </a:moveTo>
                  <a:lnTo>
                    <a:pt x="0" y="213360"/>
                  </a:lnTo>
                </a:path>
                <a:path h="213360">
                  <a:moveTo>
                    <a:pt x="0" y="0"/>
                  </a:moveTo>
                  <a:lnTo>
                    <a:pt x="0" y="213360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6665976" y="4098035"/>
            <a:ext cx="9525" cy="640080"/>
            <a:chOff x="6665976" y="4098035"/>
            <a:chExt cx="9525" cy="640080"/>
          </a:xfrm>
        </p:grpSpPr>
        <p:sp>
          <p:nvSpPr>
            <p:cNvPr id="41" name="object 41"/>
            <p:cNvSpPr/>
            <p:nvPr/>
          </p:nvSpPr>
          <p:spPr>
            <a:xfrm>
              <a:off x="6670548" y="4098035"/>
              <a:ext cx="0" cy="426720"/>
            </a:xfrm>
            <a:custGeom>
              <a:avLst/>
              <a:gdLst/>
              <a:ahLst/>
              <a:cxnLst/>
              <a:rect l="l" t="t" r="r" b="b"/>
              <a:pathLst>
                <a:path h="426720">
                  <a:moveTo>
                    <a:pt x="0" y="0"/>
                  </a:moveTo>
                  <a:lnTo>
                    <a:pt x="0" y="213359"/>
                  </a:lnTo>
                </a:path>
                <a:path h="426720">
                  <a:moveTo>
                    <a:pt x="0" y="0"/>
                  </a:moveTo>
                  <a:lnTo>
                    <a:pt x="0" y="213359"/>
                  </a:lnTo>
                </a:path>
                <a:path h="426720">
                  <a:moveTo>
                    <a:pt x="0" y="213359"/>
                  </a:moveTo>
                  <a:lnTo>
                    <a:pt x="0" y="426719"/>
                  </a:lnTo>
                </a:path>
                <a:path h="426720">
                  <a:moveTo>
                    <a:pt x="0" y="213359"/>
                  </a:moveTo>
                  <a:lnTo>
                    <a:pt x="0" y="426719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670548" y="4524755"/>
              <a:ext cx="0" cy="213360"/>
            </a:xfrm>
            <a:custGeom>
              <a:avLst/>
              <a:gdLst/>
              <a:ahLst/>
              <a:cxnLst/>
              <a:rect l="l" t="t" r="r" b="b"/>
              <a:pathLst>
                <a:path h="213360">
                  <a:moveTo>
                    <a:pt x="0" y="0"/>
                  </a:moveTo>
                  <a:lnTo>
                    <a:pt x="0" y="213360"/>
                  </a:lnTo>
                </a:path>
                <a:path h="213360">
                  <a:moveTo>
                    <a:pt x="0" y="0"/>
                  </a:moveTo>
                  <a:lnTo>
                    <a:pt x="0" y="213360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603504" y="4098035"/>
          <a:ext cx="7086600" cy="638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5250"/>
                <a:gridCol w="938530"/>
                <a:gridCol w="938530"/>
                <a:gridCol w="941705"/>
                <a:gridCol w="938529"/>
                <a:gridCol w="938529"/>
                <a:gridCol w="938529"/>
              </a:tblGrid>
              <a:tr h="212725"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Astoria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9525">
                      <a:solidFill>
                        <a:srgbClr val="FFF9F5"/>
                      </a:solidFill>
                      <a:prstDash val="solid"/>
                    </a:lnL>
                    <a:lnR w="9525">
                      <a:solidFill>
                        <a:srgbClr val="FFF9F5"/>
                      </a:solidFill>
                      <a:prstDash val="solid"/>
                    </a:lnR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R27,313.66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L w="9525">
                      <a:solidFill>
                        <a:srgbClr val="FFF9F5"/>
                      </a:solidFill>
                      <a:prstDash val="solid"/>
                    </a:lnL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R25,105.34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R32,835.43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R39,477.61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R52,428.76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R55,083.11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R w="9525">
                      <a:solidFill>
                        <a:srgbClr val="FFF9F5"/>
                      </a:solidFill>
                      <a:prstDash val="solid"/>
                    </a:lnR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20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Hell's</a:t>
                      </a:r>
                      <a:r>
                        <a:rPr sz="1200" spc="-2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Kitchen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9525">
                      <a:solidFill>
                        <a:srgbClr val="FFF9F5"/>
                      </a:solidFill>
                      <a:prstDash val="solid"/>
                    </a:lnL>
                    <a:lnR w="9525">
                      <a:solidFill>
                        <a:srgbClr val="FFF9F5"/>
                      </a:solidFill>
                      <a:prstDash val="solid"/>
                    </a:lnR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R27,820.65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9525">
                      <a:solidFill>
                        <a:srgbClr val="FFF9F5"/>
                      </a:solidFill>
                      <a:prstDash val="solid"/>
                    </a:lnL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R25,719.80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R33,110.57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R40,304.14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R52,598.93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R56,957.08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R w="9525">
                      <a:solidFill>
                        <a:srgbClr val="FFF9F5"/>
                      </a:solidFill>
                      <a:prstDash val="solid"/>
                    </a:lnR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Lower</a:t>
                      </a:r>
                      <a:r>
                        <a:rPr sz="1200" spc="-2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Manhattan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9525">
                      <a:solidFill>
                        <a:srgbClr val="FFF9F5"/>
                      </a:solidFill>
                      <a:prstDash val="solid"/>
                    </a:lnL>
                    <a:lnR w="9525">
                      <a:solidFill>
                        <a:srgbClr val="FFF9F5"/>
                      </a:solidFill>
                      <a:prstDash val="solid"/>
                    </a:lnR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R26,543.43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FFF9F5"/>
                      </a:solidFill>
                      <a:prstDash val="solid"/>
                    </a:lnL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R25,320.05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R32,888.68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R39,159.33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R51,700.07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R54,445.69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R w="9525">
                      <a:solidFill>
                        <a:srgbClr val="FFF9F5"/>
                      </a:solidFill>
                      <a:prstDash val="solid"/>
                    </a:lnR>
                    <a:lnT w="9525">
                      <a:solidFill>
                        <a:srgbClr val="FFF9F5"/>
                      </a:solidFill>
                      <a:prstDash val="solid"/>
                    </a:lnT>
                    <a:lnB w="9525">
                      <a:solidFill>
                        <a:srgbClr val="FFF9F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4" name="object 44"/>
          <p:cNvSpPr/>
          <p:nvPr/>
        </p:nvSpPr>
        <p:spPr>
          <a:xfrm>
            <a:off x="655319" y="416356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0" y="76199"/>
                </a:lnTo>
                <a:lnTo>
                  <a:pt x="76200" y="76199"/>
                </a:lnTo>
                <a:lnTo>
                  <a:pt x="76200" y="0"/>
                </a:lnTo>
                <a:close/>
              </a:path>
            </a:pathLst>
          </a:custGeom>
          <a:solidFill>
            <a:srgbClr val="A0B8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55319" y="437692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0" y="762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3628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55319" y="45902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0" y="762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425702" y="3768953"/>
            <a:ext cx="4305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R0.00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40866" y="1118108"/>
            <a:ext cx="515620" cy="241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R60.00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R50.00</a:t>
            </a:r>
            <a:endParaRPr sz="1200">
              <a:latin typeface="Arial MT"/>
              <a:cs typeface="Arial MT"/>
            </a:endParaRPr>
          </a:p>
          <a:p>
            <a:pPr marL="12700" marR="5080" algn="just">
              <a:lnSpc>
                <a:spcPct val="241600"/>
              </a:lnSpc>
              <a:spcBef>
                <a:spcPts val="5"/>
              </a:spcBef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R40.00 R30.00 R20.00 R10.00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15445" y="1263964"/>
            <a:ext cx="212725" cy="8616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sz="1300" spc="-10" dirty="0">
                <a:solidFill>
                  <a:srgbClr val="FFE9D4"/>
                </a:solidFill>
                <a:latin typeface="Arial MT"/>
                <a:cs typeface="Arial MT"/>
              </a:rPr>
              <a:t>Thousands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520185" y="778001"/>
            <a:ext cx="177228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FFE9D4"/>
                </a:solidFill>
                <a:latin typeface="Arial MT"/>
                <a:cs typeface="Arial MT"/>
              </a:rPr>
              <a:t>Monthly</a:t>
            </a:r>
            <a:r>
              <a:rPr sz="1850" spc="5" dirty="0">
                <a:solidFill>
                  <a:srgbClr val="FFE9D4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FFE9D4"/>
                </a:solidFill>
                <a:latin typeface="Arial MT"/>
                <a:cs typeface="Arial MT"/>
              </a:rPr>
              <a:t>revenue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24611" y="4763820"/>
            <a:ext cx="562356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month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June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generated the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most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sales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Hell’s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Kitchen.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5405"/>
            <a:chOff x="0" y="0"/>
            <a:chExt cx="9144000" cy="5145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813103"/>
              <a:ext cx="1435227" cy="13319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850538"/>
              <a:ext cx="1334960" cy="129448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51064" y="18287"/>
              <a:ext cx="1392935" cy="13590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23098" y="55371"/>
              <a:ext cx="1320901" cy="11872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41792" y="2980923"/>
              <a:ext cx="902207" cy="21641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14943" y="3017519"/>
              <a:ext cx="829056" cy="21183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270635" cy="221246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36575"/>
              <a:ext cx="1170431" cy="203911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18360" y="310845"/>
              <a:ext cx="5018278" cy="949248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9375">
              <a:lnSpc>
                <a:spcPct val="100000"/>
              </a:lnSpc>
              <a:spcBef>
                <a:spcPts val="100"/>
              </a:spcBef>
            </a:pPr>
            <a:r>
              <a:rPr spc="310" dirty="0"/>
              <a:t>SALES</a:t>
            </a:r>
            <a:r>
              <a:rPr spc="-5" dirty="0"/>
              <a:t> </a:t>
            </a:r>
            <a:r>
              <a:rPr spc="265" dirty="0"/>
              <a:t>BY</a:t>
            </a:r>
            <a:r>
              <a:rPr spc="-25" dirty="0"/>
              <a:t> </a:t>
            </a:r>
            <a:r>
              <a:rPr spc="270" dirty="0"/>
              <a:t>TIME</a:t>
            </a:r>
            <a:r>
              <a:rPr spc="-20" dirty="0"/>
              <a:t> </a:t>
            </a:r>
            <a:r>
              <a:rPr spc="270" dirty="0"/>
              <a:t>SPLIT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011745" y="1444561"/>
            <a:ext cx="5798185" cy="2902585"/>
            <a:chOff x="1011745" y="1444561"/>
            <a:chExt cx="5798185" cy="2902585"/>
          </a:xfrm>
        </p:grpSpPr>
        <p:sp>
          <p:nvSpPr>
            <p:cNvPr id="14" name="object 14"/>
            <p:cNvSpPr/>
            <p:nvPr/>
          </p:nvSpPr>
          <p:spPr>
            <a:xfrm>
              <a:off x="2382011" y="1903475"/>
              <a:ext cx="4422775" cy="1356360"/>
            </a:xfrm>
            <a:custGeom>
              <a:avLst/>
              <a:gdLst/>
              <a:ahLst/>
              <a:cxnLst/>
              <a:rect l="l" t="t" r="r" b="b"/>
              <a:pathLst>
                <a:path w="4422775" h="1356360">
                  <a:moveTo>
                    <a:pt x="0" y="1356360"/>
                  </a:moveTo>
                  <a:lnTo>
                    <a:pt x="281939" y="1356360"/>
                  </a:lnTo>
                </a:path>
                <a:path w="4422775" h="1356360">
                  <a:moveTo>
                    <a:pt x="537971" y="1356360"/>
                  </a:moveTo>
                  <a:lnTo>
                    <a:pt x="608076" y="1356360"/>
                  </a:lnTo>
                </a:path>
                <a:path w="4422775" h="1356360">
                  <a:moveTo>
                    <a:pt x="867156" y="1356360"/>
                  </a:moveTo>
                  <a:lnTo>
                    <a:pt x="934212" y="1356360"/>
                  </a:lnTo>
                </a:path>
                <a:path w="4422775" h="1356360">
                  <a:moveTo>
                    <a:pt x="1193291" y="1356360"/>
                  </a:moveTo>
                  <a:lnTo>
                    <a:pt x="1757172" y="1356360"/>
                  </a:lnTo>
                </a:path>
                <a:path w="4422775" h="1356360">
                  <a:moveTo>
                    <a:pt x="2013203" y="1356360"/>
                  </a:moveTo>
                  <a:lnTo>
                    <a:pt x="2083308" y="1356360"/>
                  </a:lnTo>
                </a:path>
                <a:path w="4422775" h="1356360">
                  <a:moveTo>
                    <a:pt x="2339340" y="1356360"/>
                  </a:moveTo>
                  <a:lnTo>
                    <a:pt x="3229355" y="1356360"/>
                  </a:lnTo>
                </a:path>
                <a:path w="4422775" h="1356360">
                  <a:moveTo>
                    <a:pt x="3488436" y="1356360"/>
                  </a:moveTo>
                  <a:lnTo>
                    <a:pt x="3555491" y="1356360"/>
                  </a:lnTo>
                </a:path>
                <a:path w="4422775" h="1356360">
                  <a:moveTo>
                    <a:pt x="3814572" y="1356360"/>
                  </a:moveTo>
                  <a:lnTo>
                    <a:pt x="3884676" y="1356360"/>
                  </a:lnTo>
                </a:path>
                <a:path w="4422775" h="1356360">
                  <a:moveTo>
                    <a:pt x="4140708" y="1356360"/>
                  </a:moveTo>
                  <a:lnTo>
                    <a:pt x="4422647" y="1356360"/>
                  </a:lnTo>
                </a:path>
                <a:path w="4422775" h="1356360">
                  <a:moveTo>
                    <a:pt x="0" y="1130808"/>
                  </a:moveTo>
                  <a:lnTo>
                    <a:pt x="281939" y="1130808"/>
                  </a:lnTo>
                </a:path>
                <a:path w="4422775" h="1356360">
                  <a:moveTo>
                    <a:pt x="537971" y="1130808"/>
                  </a:moveTo>
                  <a:lnTo>
                    <a:pt x="608076" y="1130808"/>
                  </a:lnTo>
                </a:path>
                <a:path w="4422775" h="1356360">
                  <a:moveTo>
                    <a:pt x="867156" y="1130808"/>
                  </a:moveTo>
                  <a:lnTo>
                    <a:pt x="934212" y="1130808"/>
                  </a:lnTo>
                </a:path>
                <a:path w="4422775" h="1356360">
                  <a:moveTo>
                    <a:pt x="1193291" y="1130808"/>
                  </a:moveTo>
                  <a:lnTo>
                    <a:pt x="1757172" y="1130808"/>
                  </a:lnTo>
                </a:path>
                <a:path w="4422775" h="1356360">
                  <a:moveTo>
                    <a:pt x="2013203" y="1130808"/>
                  </a:moveTo>
                  <a:lnTo>
                    <a:pt x="3229355" y="1130808"/>
                  </a:lnTo>
                </a:path>
                <a:path w="4422775" h="1356360">
                  <a:moveTo>
                    <a:pt x="3488436" y="1130808"/>
                  </a:moveTo>
                  <a:lnTo>
                    <a:pt x="3555491" y="1130808"/>
                  </a:lnTo>
                </a:path>
                <a:path w="4422775" h="1356360">
                  <a:moveTo>
                    <a:pt x="3814572" y="1130808"/>
                  </a:moveTo>
                  <a:lnTo>
                    <a:pt x="3884676" y="1130808"/>
                  </a:lnTo>
                </a:path>
                <a:path w="4422775" h="1356360">
                  <a:moveTo>
                    <a:pt x="4140708" y="1130808"/>
                  </a:moveTo>
                  <a:lnTo>
                    <a:pt x="4422647" y="1130808"/>
                  </a:lnTo>
                </a:path>
                <a:path w="4422775" h="1356360">
                  <a:moveTo>
                    <a:pt x="0" y="905256"/>
                  </a:moveTo>
                  <a:lnTo>
                    <a:pt x="281939" y="905256"/>
                  </a:lnTo>
                </a:path>
                <a:path w="4422775" h="1356360">
                  <a:moveTo>
                    <a:pt x="537971" y="905256"/>
                  </a:moveTo>
                  <a:lnTo>
                    <a:pt x="3229355" y="905256"/>
                  </a:lnTo>
                </a:path>
                <a:path w="4422775" h="1356360">
                  <a:moveTo>
                    <a:pt x="3488436" y="905256"/>
                  </a:moveTo>
                  <a:lnTo>
                    <a:pt x="3555491" y="905256"/>
                  </a:lnTo>
                </a:path>
                <a:path w="4422775" h="1356360">
                  <a:moveTo>
                    <a:pt x="3814572" y="905256"/>
                  </a:moveTo>
                  <a:lnTo>
                    <a:pt x="3884676" y="905256"/>
                  </a:lnTo>
                </a:path>
                <a:path w="4422775" h="1356360">
                  <a:moveTo>
                    <a:pt x="4140708" y="905256"/>
                  </a:moveTo>
                  <a:lnTo>
                    <a:pt x="4422647" y="905256"/>
                  </a:lnTo>
                </a:path>
                <a:path w="4422775" h="1356360">
                  <a:moveTo>
                    <a:pt x="0" y="676656"/>
                  </a:moveTo>
                  <a:lnTo>
                    <a:pt x="3229355" y="676656"/>
                  </a:lnTo>
                </a:path>
                <a:path w="4422775" h="1356360">
                  <a:moveTo>
                    <a:pt x="3488436" y="676656"/>
                  </a:moveTo>
                  <a:lnTo>
                    <a:pt x="3555491" y="676656"/>
                  </a:lnTo>
                </a:path>
                <a:path w="4422775" h="1356360">
                  <a:moveTo>
                    <a:pt x="3814572" y="676656"/>
                  </a:moveTo>
                  <a:lnTo>
                    <a:pt x="3884676" y="676656"/>
                  </a:lnTo>
                </a:path>
                <a:path w="4422775" h="1356360">
                  <a:moveTo>
                    <a:pt x="4140708" y="676656"/>
                  </a:moveTo>
                  <a:lnTo>
                    <a:pt x="4422647" y="676656"/>
                  </a:lnTo>
                </a:path>
                <a:path w="4422775" h="1356360">
                  <a:moveTo>
                    <a:pt x="0" y="451104"/>
                  </a:moveTo>
                  <a:lnTo>
                    <a:pt x="3229355" y="451104"/>
                  </a:lnTo>
                </a:path>
                <a:path w="4422775" h="1356360">
                  <a:moveTo>
                    <a:pt x="3488436" y="451104"/>
                  </a:moveTo>
                  <a:lnTo>
                    <a:pt x="3555491" y="451104"/>
                  </a:lnTo>
                </a:path>
                <a:path w="4422775" h="1356360">
                  <a:moveTo>
                    <a:pt x="3814572" y="451104"/>
                  </a:moveTo>
                  <a:lnTo>
                    <a:pt x="3884676" y="451104"/>
                  </a:lnTo>
                </a:path>
                <a:path w="4422775" h="1356360">
                  <a:moveTo>
                    <a:pt x="4140708" y="451104"/>
                  </a:moveTo>
                  <a:lnTo>
                    <a:pt x="4422647" y="451104"/>
                  </a:lnTo>
                </a:path>
                <a:path w="4422775" h="1356360">
                  <a:moveTo>
                    <a:pt x="0" y="225552"/>
                  </a:moveTo>
                  <a:lnTo>
                    <a:pt x="3229355" y="225552"/>
                  </a:lnTo>
                </a:path>
                <a:path w="4422775" h="1356360">
                  <a:moveTo>
                    <a:pt x="3488436" y="225552"/>
                  </a:moveTo>
                  <a:lnTo>
                    <a:pt x="3555491" y="225552"/>
                  </a:lnTo>
                </a:path>
                <a:path w="4422775" h="1356360">
                  <a:moveTo>
                    <a:pt x="3814572" y="225552"/>
                  </a:moveTo>
                  <a:lnTo>
                    <a:pt x="3884676" y="225552"/>
                  </a:lnTo>
                </a:path>
                <a:path w="4422775" h="1356360">
                  <a:moveTo>
                    <a:pt x="4140708" y="225552"/>
                  </a:moveTo>
                  <a:lnTo>
                    <a:pt x="4422647" y="225552"/>
                  </a:lnTo>
                </a:path>
                <a:path w="4422775" h="1356360">
                  <a:moveTo>
                    <a:pt x="0" y="0"/>
                  </a:moveTo>
                  <a:lnTo>
                    <a:pt x="3555491" y="0"/>
                  </a:lnTo>
                </a:path>
                <a:path w="4422775" h="1356360">
                  <a:moveTo>
                    <a:pt x="3814572" y="0"/>
                  </a:moveTo>
                  <a:lnTo>
                    <a:pt x="3884676" y="0"/>
                  </a:lnTo>
                </a:path>
                <a:path w="4422775" h="1356360">
                  <a:moveTo>
                    <a:pt x="4140708" y="0"/>
                  </a:moveTo>
                  <a:lnTo>
                    <a:pt x="4422647" y="0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82011" y="1449323"/>
              <a:ext cx="4422775" cy="226060"/>
            </a:xfrm>
            <a:custGeom>
              <a:avLst/>
              <a:gdLst/>
              <a:ahLst/>
              <a:cxnLst/>
              <a:rect l="l" t="t" r="r" b="b"/>
              <a:pathLst>
                <a:path w="4422775" h="226060">
                  <a:moveTo>
                    <a:pt x="0" y="225551"/>
                  </a:moveTo>
                  <a:lnTo>
                    <a:pt x="4422647" y="225551"/>
                  </a:lnTo>
                </a:path>
                <a:path w="4422775" h="226060">
                  <a:moveTo>
                    <a:pt x="0" y="0"/>
                  </a:moveTo>
                  <a:lnTo>
                    <a:pt x="4422647" y="0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63952" y="2121407"/>
              <a:ext cx="3206750" cy="1365885"/>
            </a:xfrm>
            <a:custGeom>
              <a:avLst/>
              <a:gdLst/>
              <a:ahLst/>
              <a:cxnLst/>
              <a:rect l="l" t="t" r="r" b="b"/>
              <a:pathLst>
                <a:path w="3206750" h="1365885">
                  <a:moveTo>
                    <a:pt x="256032" y="655320"/>
                  </a:moveTo>
                  <a:lnTo>
                    <a:pt x="0" y="655320"/>
                  </a:lnTo>
                  <a:lnTo>
                    <a:pt x="0" y="1365504"/>
                  </a:lnTo>
                  <a:lnTo>
                    <a:pt x="256032" y="1365504"/>
                  </a:lnTo>
                  <a:lnTo>
                    <a:pt x="256032" y="655320"/>
                  </a:lnTo>
                  <a:close/>
                </a:path>
                <a:path w="3206750" h="1365885">
                  <a:moveTo>
                    <a:pt x="1731264" y="813816"/>
                  </a:moveTo>
                  <a:lnTo>
                    <a:pt x="1475232" y="813816"/>
                  </a:lnTo>
                  <a:lnTo>
                    <a:pt x="1475232" y="1365504"/>
                  </a:lnTo>
                  <a:lnTo>
                    <a:pt x="1731264" y="1365504"/>
                  </a:lnTo>
                  <a:lnTo>
                    <a:pt x="1731264" y="813816"/>
                  </a:lnTo>
                  <a:close/>
                </a:path>
                <a:path w="3206750" h="1365885">
                  <a:moveTo>
                    <a:pt x="3206496" y="0"/>
                  </a:moveTo>
                  <a:lnTo>
                    <a:pt x="2947416" y="0"/>
                  </a:lnTo>
                  <a:lnTo>
                    <a:pt x="2947416" y="1365504"/>
                  </a:lnTo>
                  <a:lnTo>
                    <a:pt x="3206496" y="1365504"/>
                  </a:lnTo>
                  <a:lnTo>
                    <a:pt x="3206496" y="0"/>
                  </a:lnTo>
                  <a:close/>
                </a:path>
              </a:pathLst>
            </a:custGeom>
            <a:solidFill>
              <a:srgbClr val="6C41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90088" y="1780031"/>
              <a:ext cx="3206750" cy="1706880"/>
            </a:xfrm>
            <a:custGeom>
              <a:avLst/>
              <a:gdLst/>
              <a:ahLst/>
              <a:cxnLst/>
              <a:rect l="l" t="t" r="r" b="b"/>
              <a:pathLst>
                <a:path w="3206750" h="1706879">
                  <a:moveTo>
                    <a:pt x="259080" y="1167384"/>
                  </a:moveTo>
                  <a:lnTo>
                    <a:pt x="0" y="1167384"/>
                  </a:lnTo>
                  <a:lnTo>
                    <a:pt x="0" y="1706880"/>
                  </a:lnTo>
                  <a:lnTo>
                    <a:pt x="259080" y="1706880"/>
                  </a:lnTo>
                  <a:lnTo>
                    <a:pt x="259080" y="1167384"/>
                  </a:lnTo>
                  <a:close/>
                </a:path>
                <a:path w="3206750" h="1706879">
                  <a:moveTo>
                    <a:pt x="1731264" y="1277112"/>
                  </a:moveTo>
                  <a:lnTo>
                    <a:pt x="1475232" y="1277112"/>
                  </a:lnTo>
                  <a:lnTo>
                    <a:pt x="1475232" y="1706880"/>
                  </a:lnTo>
                  <a:lnTo>
                    <a:pt x="1731264" y="1706880"/>
                  </a:lnTo>
                  <a:lnTo>
                    <a:pt x="1731264" y="1277112"/>
                  </a:lnTo>
                  <a:close/>
                </a:path>
                <a:path w="3206750" h="1706879">
                  <a:moveTo>
                    <a:pt x="3206496" y="0"/>
                  </a:moveTo>
                  <a:lnTo>
                    <a:pt x="2947416" y="0"/>
                  </a:lnTo>
                  <a:lnTo>
                    <a:pt x="2947416" y="1706880"/>
                  </a:lnTo>
                  <a:lnTo>
                    <a:pt x="3206496" y="1706880"/>
                  </a:lnTo>
                  <a:lnTo>
                    <a:pt x="3206496" y="0"/>
                  </a:lnTo>
                  <a:close/>
                </a:path>
              </a:pathLst>
            </a:custGeom>
            <a:solidFill>
              <a:srgbClr val="8450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16224" y="1709927"/>
              <a:ext cx="3206750" cy="1777364"/>
            </a:xfrm>
            <a:custGeom>
              <a:avLst/>
              <a:gdLst/>
              <a:ahLst/>
              <a:cxnLst/>
              <a:rect l="l" t="t" r="r" b="b"/>
              <a:pathLst>
                <a:path w="3206750" h="1777364">
                  <a:moveTo>
                    <a:pt x="259080" y="1167384"/>
                  </a:moveTo>
                  <a:lnTo>
                    <a:pt x="0" y="1167384"/>
                  </a:lnTo>
                  <a:lnTo>
                    <a:pt x="0" y="1776984"/>
                  </a:lnTo>
                  <a:lnTo>
                    <a:pt x="259080" y="1776984"/>
                  </a:lnTo>
                  <a:lnTo>
                    <a:pt x="259080" y="1167384"/>
                  </a:lnTo>
                  <a:close/>
                </a:path>
                <a:path w="3206750" h="1777364">
                  <a:moveTo>
                    <a:pt x="1731264" y="1563624"/>
                  </a:moveTo>
                  <a:lnTo>
                    <a:pt x="1475232" y="1563624"/>
                  </a:lnTo>
                  <a:lnTo>
                    <a:pt x="1475232" y="1776984"/>
                  </a:lnTo>
                  <a:lnTo>
                    <a:pt x="1731264" y="1776984"/>
                  </a:lnTo>
                  <a:lnTo>
                    <a:pt x="1731264" y="1563624"/>
                  </a:lnTo>
                  <a:close/>
                </a:path>
                <a:path w="3206750" h="1777364">
                  <a:moveTo>
                    <a:pt x="3206496" y="0"/>
                  </a:moveTo>
                  <a:lnTo>
                    <a:pt x="2950464" y="0"/>
                  </a:lnTo>
                  <a:lnTo>
                    <a:pt x="2950464" y="1776984"/>
                  </a:lnTo>
                  <a:lnTo>
                    <a:pt x="3206496" y="1776984"/>
                  </a:lnTo>
                  <a:lnTo>
                    <a:pt x="3206496" y="0"/>
                  </a:lnTo>
                  <a:close/>
                </a:path>
              </a:pathLst>
            </a:custGeom>
            <a:solidFill>
              <a:srgbClr val="BBAA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16508" y="3488435"/>
              <a:ext cx="5788660" cy="853440"/>
            </a:xfrm>
            <a:custGeom>
              <a:avLst/>
              <a:gdLst/>
              <a:ahLst/>
              <a:cxnLst/>
              <a:rect l="l" t="t" r="r" b="b"/>
              <a:pathLst>
                <a:path w="5788659" h="853439">
                  <a:moveTo>
                    <a:pt x="1365504" y="0"/>
                  </a:moveTo>
                  <a:lnTo>
                    <a:pt x="5788151" y="0"/>
                  </a:lnTo>
                </a:path>
                <a:path w="5788659" h="853439">
                  <a:moveTo>
                    <a:pt x="5788151" y="0"/>
                  </a:moveTo>
                  <a:lnTo>
                    <a:pt x="5788151" y="213359"/>
                  </a:lnTo>
                </a:path>
                <a:path w="5788659" h="853439">
                  <a:moveTo>
                    <a:pt x="0" y="213359"/>
                  </a:moveTo>
                  <a:lnTo>
                    <a:pt x="5788151" y="213359"/>
                  </a:lnTo>
                </a:path>
                <a:path w="5788659" h="853439">
                  <a:moveTo>
                    <a:pt x="5788151" y="213359"/>
                  </a:moveTo>
                  <a:lnTo>
                    <a:pt x="5788151" y="426719"/>
                  </a:lnTo>
                </a:path>
                <a:path w="5788659" h="853439">
                  <a:moveTo>
                    <a:pt x="5788151" y="213359"/>
                  </a:moveTo>
                  <a:lnTo>
                    <a:pt x="5788151" y="426719"/>
                  </a:lnTo>
                </a:path>
                <a:path w="5788659" h="853439">
                  <a:moveTo>
                    <a:pt x="0" y="426719"/>
                  </a:moveTo>
                  <a:lnTo>
                    <a:pt x="5788151" y="426719"/>
                  </a:lnTo>
                </a:path>
                <a:path w="5788659" h="853439">
                  <a:moveTo>
                    <a:pt x="5788151" y="426719"/>
                  </a:moveTo>
                  <a:lnTo>
                    <a:pt x="5788151" y="640079"/>
                  </a:lnTo>
                </a:path>
                <a:path w="5788659" h="853439">
                  <a:moveTo>
                    <a:pt x="5788151" y="426719"/>
                  </a:moveTo>
                  <a:lnTo>
                    <a:pt x="5788151" y="640079"/>
                  </a:lnTo>
                </a:path>
                <a:path w="5788659" h="853439">
                  <a:moveTo>
                    <a:pt x="0" y="640079"/>
                  </a:moveTo>
                  <a:lnTo>
                    <a:pt x="5788151" y="640079"/>
                  </a:lnTo>
                </a:path>
                <a:path w="5788659" h="853439">
                  <a:moveTo>
                    <a:pt x="0" y="853439"/>
                  </a:moveTo>
                  <a:lnTo>
                    <a:pt x="5788151" y="853439"/>
                  </a:lnTo>
                </a:path>
                <a:path w="5788659" h="853439">
                  <a:moveTo>
                    <a:pt x="5788151" y="640079"/>
                  </a:moveTo>
                  <a:lnTo>
                    <a:pt x="5788151" y="853439"/>
                  </a:lnTo>
                </a:path>
                <a:path w="5788659" h="853439">
                  <a:moveTo>
                    <a:pt x="5788151" y="640079"/>
                  </a:moveTo>
                  <a:lnTo>
                    <a:pt x="5788151" y="853439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011936" y="3488435"/>
          <a:ext cx="5602605" cy="851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5250"/>
                <a:gridCol w="1475105"/>
                <a:gridCol w="1471930"/>
                <a:gridCol w="1208405"/>
              </a:tblGrid>
              <a:tr h="212725">
                <a:tc>
                  <a:txBody>
                    <a:bodyPr/>
                    <a:lstStyle/>
                    <a:p>
                      <a:pPr marL="829310">
                        <a:lnSpc>
                          <a:spcPts val="625"/>
                        </a:lnSpc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R0.00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9525">
                      <a:solidFill>
                        <a:srgbClr val="FFF9F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afternoon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FFF9F5"/>
                      </a:solidFill>
                      <a:prstDash val="solid"/>
                    </a:lnL>
                    <a:lnR w="9525">
                      <a:solidFill>
                        <a:srgbClr val="FFF9F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Evening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FFF9F5"/>
                      </a:solidFill>
                      <a:prstDash val="solid"/>
                    </a:lnL>
                    <a:lnR w="9525">
                      <a:solidFill>
                        <a:srgbClr val="FFF9F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987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morning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FFF9F5"/>
                      </a:solidFill>
                      <a:prstDash val="solid"/>
                    </a:lnL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Astoria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9525">
                      <a:solidFill>
                        <a:srgbClr val="FFF9F5"/>
                      </a:solidFill>
                      <a:prstDash val="solid"/>
                    </a:lnL>
                    <a:lnR w="9525">
                      <a:solidFill>
                        <a:srgbClr val="FFF9F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R62,885.94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9525">
                      <a:solidFill>
                        <a:srgbClr val="FFF9F5"/>
                      </a:solidFill>
                      <a:prstDash val="solid"/>
                    </a:lnL>
                    <a:lnR w="9525">
                      <a:solidFill>
                        <a:srgbClr val="FFF9F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R48,734.25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9525">
                      <a:solidFill>
                        <a:srgbClr val="FFF9F5"/>
                      </a:solidFill>
                      <a:prstDash val="solid"/>
                    </a:lnL>
                    <a:lnR w="9525">
                      <a:solidFill>
                        <a:srgbClr val="FFF9F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7241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R120,623.72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9525">
                      <a:solidFill>
                        <a:srgbClr val="FFF9F5"/>
                      </a:solidFill>
                      <a:prstDash val="solid"/>
                    </a:lnL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Hell's</a:t>
                      </a:r>
                      <a:r>
                        <a:rPr sz="1200" spc="-15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Kitchen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9525">
                      <a:solidFill>
                        <a:srgbClr val="FFF9F5"/>
                      </a:solidFill>
                      <a:prstDash val="solid"/>
                    </a:lnL>
                    <a:lnR w="9525">
                      <a:solidFill>
                        <a:srgbClr val="FFF9F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R47,669.33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FFF9F5"/>
                      </a:solidFill>
                      <a:prstDash val="solid"/>
                    </a:lnL>
                    <a:lnR w="9525">
                      <a:solidFill>
                        <a:srgbClr val="FFF9F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R38,055.44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FFF9F5"/>
                      </a:solidFill>
                      <a:prstDash val="solid"/>
                    </a:lnL>
                    <a:lnR w="9525">
                      <a:solidFill>
                        <a:srgbClr val="FFF9F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7241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R150,786.40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FFF9F5"/>
                      </a:solidFill>
                      <a:prstDash val="solid"/>
                    </a:ln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Lower</a:t>
                      </a:r>
                      <a:r>
                        <a:rPr sz="1200" spc="-15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Manhattan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9525">
                      <a:solidFill>
                        <a:srgbClr val="FFF9F5"/>
                      </a:solidFill>
                      <a:prstDash val="solid"/>
                    </a:lnL>
                    <a:lnR w="9525">
                      <a:solidFill>
                        <a:srgbClr val="FFF9F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R53,972.77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9525">
                      <a:solidFill>
                        <a:srgbClr val="FFF9F5"/>
                      </a:solidFill>
                      <a:prstDash val="solid"/>
                    </a:lnL>
                    <a:lnR w="9525">
                      <a:solidFill>
                        <a:srgbClr val="FFF9F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R19,013.14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9525">
                      <a:solidFill>
                        <a:srgbClr val="FFF9F5"/>
                      </a:solidFill>
                      <a:prstDash val="solid"/>
                    </a:lnL>
                    <a:lnR w="9525">
                      <a:solidFill>
                        <a:srgbClr val="FFF9F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7305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spc="-10" dirty="0">
                          <a:solidFill>
                            <a:srgbClr val="FFE9D4"/>
                          </a:solidFill>
                          <a:latin typeface="Arial MT"/>
                          <a:cs typeface="Arial MT"/>
                        </a:rPr>
                        <a:t>R157,071.34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9525">
                      <a:solidFill>
                        <a:srgbClr val="FFF9F5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1063752" y="376732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0" y="762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6C41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63752" y="39806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0" y="762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8450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63752" y="419404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0" y="762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BBAA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664589" y="2195575"/>
            <a:ext cx="600710" cy="1158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7155" marR="5080" indent="-84455" algn="just">
              <a:lnSpc>
                <a:spcPct val="123900"/>
              </a:lnSpc>
              <a:spcBef>
                <a:spcPts val="95"/>
              </a:spcBef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R100.00 R80.00 R60.00 R40.00 R20.00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64589" y="1289568"/>
            <a:ext cx="600710" cy="9315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23900"/>
              </a:lnSpc>
              <a:spcBef>
                <a:spcPts val="95"/>
              </a:spcBef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R180.00 R160.00 R140.00 R120.00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38512" y="1476104"/>
            <a:ext cx="213360" cy="8636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sz="1300" spc="-10" dirty="0">
                <a:solidFill>
                  <a:srgbClr val="FFE9D4"/>
                </a:solidFill>
                <a:latin typeface="Arial MT"/>
                <a:cs typeface="Arial MT"/>
              </a:rPr>
              <a:t>Thousands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97248" y="982166"/>
            <a:ext cx="143256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dirty="0">
                <a:solidFill>
                  <a:srgbClr val="FFE9D4"/>
                </a:solidFill>
                <a:latin typeface="Arial MT"/>
                <a:cs typeface="Arial MT"/>
              </a:rPr>
              <a:t>store</a:t>
            </a:r>
            <a:r>
              <a:rPr sz="1850" spc="5" dirty="0">
                <a:solidFill>
                  <a:srgbClr val="FFE9D4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FFE9D4"/>
                </a:solidFill>
                <a:latin typeface="Arial MT"/>
                <a:cs typeface="Arial MT"/>
              </a:rPr>
              <a:t>location</a:t>
            </a:r>
            <a:endParaRPr sz="185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010400" y="2569463"/>
            <a:ext cx="76200" cy="567055"/>
            <a:chOff x="7010400" y="2569463"/>
            <a:chExt cx="76200" cy="567055"/>
          </a:xfrm>
        </p:grpSpPr>
        <p:sp>
          <p:nvSpPr>
            <p:cNvPr id="29" name="object 29"/>
            <p:cNvSpPr/>
            <p:nvPr/>
          </p:nvSpPr>
          <p:spPr>
            <a:xfrm>
              <a:off x="7010400" y="256946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6C41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010400" y="281330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450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010400" y="306019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BAA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110730" y="2431094"/>
            <a:ext cx="1200785" cy="7588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Astoria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200" dirty="0">
                <a:solidFill>
                  <a:srgbClr val="FFE9D4"/>
                </a:solidFill>
                <a:latin typeface="Arial MT"/>
                <a:cs typeface="Arial MT"/>
              </a:rPr>
              <a:t>Hell's</a:t>
            </a:r>
            <a:r>
              <a:rPr sz="1200" spc="-15" dirty="0">
                <a:solidFill>
                  <a:srgbClr val="FFE9D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Kitchen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200" dirty="0">
                <a:solidFill>
                  <a:srgbClr val="FFE9D4"/>
                </a:solidFill>
                <a:latin typeface="Arial MT"/>
                <a:cs typeface="Arial MT"/>
              </a:rPr>
              <a:t>Lower</a:t>
            </a:r>
            <a:r>
              <a:rPr sz="1200" spc="-15" dirty="0">
                <a:solidFill>
                  <a:srgbClr val="FFE9D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Manhattan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31824" y="4436770"/>
            <a:ext cx="560324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The</a:t>
            </a:r>
            <a:r>
              <a:rPr sz="1400" spc="-5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Mornings</a:t>
            </a:r>
            <a:r>
              <a:rPr sz="1400" spc="1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generates</a:t>
            </a:r>
            <a:r>
              <a:rPr sz="1400" spc="1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more</a:t>
            </a:r>
            <a:r>
              <a:rPr sz="1400" spc="-5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revenue</a:t>
            </a:r>
            <a:r>
              <a:rPr sz="1400" spc="-1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for</a:t>
            </a:r>
            <a:r>
              <a:rPr sz="1400" spc="-4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the</a:t>
            </a:r>
            <a:r>
              <a:rPr sz="1400" spc="-3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company</a:t>
            </a:r>
            <a:r>
              <a:rPr sz="1400" spc="-3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ECDAD0"/>
                </a:solidFill>
                <a:latin typeface="Arial MT"/>
                <a:cs typeface="Arial MT"/>
              </a:rPr>
              <a:t>specifically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for</a:t>
            </a:r>
            <a:r>
              <a:rPr sz="1400" spc="-5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Lower</a:t>
            </a:r>
            <a:r>
              <a:rPr sz="1400" spc="-3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Manhattan</a:t>
            </a:r>
            <a:r>
              <a:rPr sz="1400" spc="1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store.</a:t>
            </a:r>
            <a:r>
              <a:rPr sz="1400" spc="-5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The</a:t>
            </a:r>
            <a:r>
              <a:rPr sz="1400" spc="-5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evening</a:t>
            </a:r>
            <a:r>
              <a:rPr sz="1400" spc="-5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generated</a:t>
            </a:r>
            <a:r>
              <a:rPr sz="1400" spc="-1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the</a:t>
            </a:r>
            <a:r>
              <a:rPr sz="1400" spc="-5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ECDAD0"/>
                </a:solidFill>
                <a:latin typeface="Arial MT"/>
                <a:cs typeface="Arial MT"/>
              </a:rPr>
              <a:t>least revenue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5405"/>
          </a:xfrm>
          <a:custGeom>
            <a:avLst/>
            <a:gdLst/>
            <a:ahLst/>
            <a:cxnLst/>
            <a:rect l="l" t="t" r="r" b="b"/>
            <a:pathLst>
              <a:path w="9144000" h="5145405">
                <a:moveTo>
                  <a:pt x="9144000" y="0"/>
                </a:moveTo>
                <a:lnTo>
                  <a:pt x="0" y="0"/>
                </a:lnTo>
                <a:lnTo>
                  <a:pt x="0" y="5145024"/>
                </a:lnTo>
                <a:lnTo>
                  <a:pt x="9144000" y="5145024"/>
                </a:lnTo>
                <a:lnTo>
                  <a:pt x="9144000" y="0"/>
                </a:lnTo>
                <a:close/>
              </a:path>
            </a:pathLst>
          </a:custGeom>
          <a:solidFill>
            <a:srgbClr val="5234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660697"/>
            <a:ext cx="1856105" cy="1484630"/>
            <a:chOff x="0" y="3660697"/>
            <a:chExt cx="1856105" cy="14846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660697"/>
              <a:ext cx="1855851" cy="14843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697223"/>
              <a:ext cx="1755648" cy="1447800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6470903" y="0"/>
            <a:ext cx="2673350" cy="1575435"/>
            <a:chOff x="6470903" y="0"/>
            <a:chExt cx="2673350" cy="157543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09103" y="0"/>
              <a:ext cx="1834896" cy="15754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82255" y="0"/>
              <a:ext cx="1761744" cy="1438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70903" y="0"/>
              <a:ext cx="2099691" cy="104203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42658" y="0"/>
              <a:ext cx="1925561" cy="906487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0" y="3087653"/>
            <a:ext cx="2148840" cy="2057400"/>
            <a:chOff x="0" y="3087653"/>
            <a:chExt cx="2148840" cy="205740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3160792"/>
              <a:ext cx="1008494" cy="19842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3199342"/>
              <a:ext cx="907986" cy="194568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3087653"/>
              <a:ext cx="2148459" cy="205737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3124047"/>
              <a:ext cx="2046338" cy="2020975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103631" y="0"/>
            <a:ext cx="5295900" cy="3536950"/>
            <a:chOff x="103631" y="0"/>
            <a:chExt cx="5295900" cy="3536950"/>
          </a:xfrm>
        </p:grpSpPr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3631" y="0"/>
              <a:ext cx="755484" cy="146888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4828" y="0"/>
              <a:ext cx="581927" cy="133223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0143" y="417575"/>
              <a:ext cx="5009133" cy="311937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89838" y="574700"/>
            <a:ext cx="9404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220" dirty="0">
                <a:solidFill>
                  <a:srgbClr val="ECDAD0"/>
                </a:solidFill>
                <a:latin typeface="Cambria"/>
                <a:cs typeface="Cambria"/>
              </a:rPr>
              <a:t>02: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89838" y="1246073"/>
            <a:ext cx="4250690" cy="18567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4000" spc="430" dirty="0">
                <a:solidFill>
                  <a:srgbClr val="ECDAD0"/>
                </a:solidFill>
              </a:rPr>
              <a:t>PRODUCT </a:t>
            </a:r>
            <a:r>
              <a:rPr sz="4000" spc="415" dirty="0">
                <a:solidFill>
                  <a:srgbClr val="ECDAD0"/>
                </a:solidFill>
              </a:rPr>
              <a:t>PERFORMANCE </a:t>
            </a:r>
            <a:r>
              <a:rPr sz="4000" spc="380" dirty="0">
                <a:solidFill>
                  <a:srgbClr val="ECDAD0"/>
                </a:solidFill>
              </a:rPr>
              <a:t>ANALYSIS</a:t>
            </a:r>
            <a:endParaRPr sz="4000"/>
          </a:p>
        </p:txBody>
      </p:sp>
      <p:pic>
        <p:nvPicPr>
          <p:cNvPr id="22" name="object 2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657088" y="1911095"/>
            <a:ext cx="3124200" cy="3023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5904" y="3160792"/>
            <a:ext cx="768096" cy="19842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48014" y="3199341"/>
            <a:ext cx="695985" cy="194568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668768" y="0"/>
            <a:ext cx="1475740" cy="1615440"/>
            <a:chOff x="7668768" y="0"/>
            <a:chExt cx="1475740" cy="161544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68768" y="0"/>
              <a:ext cx="1475231" cy="161505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41920" y="0"/>
              <a:ext cx="1402080" cy="147827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0" y="3547927"/>
            <a:ext cx="2346960" cy="1597660"/>
            <a:chOff x="0" y="3547927"/>
            <a:chExt cx="2346960" cy="159766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3547927"/>
              <a:ext cx="2346579" cy="15970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3584447"/>
              <a:ext cx="2246376" cy="1560576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0" y="0"/>
            <a:ext cx="7304405" cy="1979930"/>
            <a:chOff x="0" y="0"/>
            <a:chExt cx="7304405" cy="1979930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2075307" cy="157543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0"/>
              <a:ext cx="1975104" cy="1438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6863" y="0"/>
              <a:ext cx="2096643" cy="104203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7679" y="0"/>
              <a:ext cx="1925561" cy="90648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99944" y="0"/>
              <a:ext cx="4704333" cy="1979548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970022" y="-61203"/>
            <a:ext cx="3867785" cy="1605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7830" marR="5080" indent="-405765">
              <a:lnSpc>
                <a:spcPct val="129600"/>
              </a:lnSpc>
              <a:spcBef>
                <a:spcPts val="95"/>
              </a:spcBef>
            </a:pPr>
            <a:r>
              <a:rPr sz="4000" spc="380" dirty="0">
                <a:solidFill>
                  <a:srgbClr val="52341A"/>
                </a:solidFill>
              </a:rPr>
              <a:t>BEST</a:t>
            </a:r>
            <a:r>
              <a:rPr sz="4000" spc="-75" dirty="0">
                <a:solidFill>
                  <a:srgbClr val="52341A"/>
                </a:solidFill>
              </a:rPr>
              <a:t> </a:t>
            </a:r>
            <a:r>
              <a:rPr sz="4000" spc="395" dirty="0">
                <a:solidFill>
                  <a:srgbClr val="52341A"/>
                </a:solidFill>
              </a:rPr>
              <a:t>SELLING </a:t>
            </a:r>
            <a:r>
              <a:rPr sz="4000" spc="420" dirty="0">
                <a:solidFill>
                  <a:srgbClr val="52341A"/>
                </a:solidFill>
              </a:rPr>
              <a:t>PRODUCTS</a:t>
            </a:r>
            <a:endParaRPr sz="4000"/>
          </a:p>
        </p:txBody>
      </p:sp>
      <p:grpSp>
        <p:nvGrpSpPr>
          <p:cNvPr id="17" name="object 17"/>
          <p:cNvGrpSpPr/>
          <p:nvPr/>
        </p:nvGrpSpPr>
        <p:grpSpPr>
          <a:xfrm>
            <a:off x="7239000" y="3087653"/>
            <a:ext cx="1905000" cy="2057400"/>
            <a:chOff x="7239000" y="3087653"/>
            <a:chExt cx="1905000" cy="2057400"/>
          </a:xfrm>
        </p:grpSpPr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39000" y="3087653"/>
              <a:ext cx="1905000" cy="205737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09650" y="3124047"/>
              <a:ext cx="1834349" cy="202097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705482" y="2327224"/>
            <a:ext cx="63627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-60" dirty="0">
                <a:solidFill>
                  <a:srgbClr val="FFFFFF"/>
                </a:solidFill>
                <a:latin typeface="Tahoma"/>
                <a:cs typeface="Tahoma"/>
              </a:rPr>
              <a:t>Coffee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877567" y="1850135"/>
            <a:ext cx="5090160" cy="384175"/>
            <a:chOff x="1877567" y="1850135"/>
            <a:chExt cx="5090160" cy="384175"/>
          </a:xfrm>
        </p:grpSpPr>
        <p:sp>
          <p:nvSpPr>
            <p:cNvPr id="22" name="object 22"/>
            <p:cNvSpPr/>
            <p:nvPr/>
          </p:nvSpPr>
          <p:spPr>
            <a:xfrm>
              <a:off x="1877568" y="1850135"/>
              <a:ext cx="5090160" cy="384175"/>
            </a:xfrm>
            <a:custGeom>
              <a:avLst/>
              <a:gdLst/>
              <a:ahLst/>
              <a:cxnLst/>
              <a:rect l="l" t="t" r="r" b="b"/>
              <a:pathLst>
                <a:path w="5090159" h="384175">
                  <a:moveTo>
                    <a:pt x="118872" y="283083"/>
                  </a:moveTo>
                  <a:lnTo>
                    <a:pt x="117983" y="277114"/>
                  </a:lnTo>
                  <a:lnTo>
                    <a:pt x="116205" y="272034"/>
                  </a:lnTo>
                  <a:lnTo>
                    <a:pt x="113538" y="266954"/>
                  </a:lnTo>
                  <a:lnTo>
                    <a:pt x="111633" y="260858"/>
                  </a:lnTo>
                  <a:lnTo>
                    <a:pt x="108966" y="254127"/>
                  </a:lnTo>
                  <a:lnTo>
                    <a:pt x="107188" y="245618"/>
                  </a:lnTo>
                  <a:lnTo>
                    <a:pt x="107188" y="234442"/>
                  </a:lnTo>
                  <a:lnTo>
                    <a:pt x="108077" y="222504"/>
                  </a:lnTo>
                  <a:lnTo>
                    <a:pt x="103632" y="225933"/>
                  </a:lnTo>
                  <a:lnTo>
                    <a:pt x="88392" y="263525"/>
                  </a:lnTo>
                  <a:lnTo>
                    <a:pt x="89281" y="272923"/>
                  </a:lnTo>
                  <a:lnTo>
                    <a:pt x="112649" y="306070"/>
                  </a:lnTo>
                  <a:lnTo>
                    <a:pt x="117094" y="307848"/>
                  </a:lnTo>
                  <a:lnTo>
                    <a:pt x="118872" y="300990"/>
                  </a:lnTo>
                  <a:lnTo>
                    <a:pt x="118872" y="283083"/>
                  </a:lnTo>
                  <a:close/>
                </a:path>
                <a:path w="5090159" h="384175">
                  <a:moveTo>
                    <a:pt x="161544" y="263271"/>
                  </a:moveTo>
                  <a:lnTo>
                    <a:pt x="160616" y="254381"/>
                  </a:lnTo>
                  <a:lnTo>
                    <a:pt x="160528" y="253492"/>
                  </a:lnTo>
                  <a:lnTo>
                    <a:pt x="158623" y="244729"/>
                  </a:lnTo>
                  <a:lnTo>
                    <a:pt x="130048" y="216408"/>
                  </a:lnTo>
                  <a:lnTo>
                    <a:pt x="129032" y="223520"/>
                  </a:lnTo>
                  <a:lnTo>
                    <a:pt x="128016" y="233172"/>
                  </a:lnTo>
                  <a:lnTo>
                    <a:pt x="128016" y="242062"/>
                  </a:lnTo>
                  <a:lnTo>
                    <a:pt x="130048" y="248285"/>
                  </a:lnTo>
                  <a:lnTo>
                    <a:pt x="130937" y="254381"/>
                  </a:lnTo>
                  <a:lnTo>
                    <a:pt x="133985" y="258826"/>
                  </a:lnTo>
                  <a:lnTo>
                    <a:pt x="135890" y="265049"/>
                  </a:lnTo>
                  <a:lnTo>
                    <a:pt x="138811" y="272034"/>
                  </a:lnTo>
                  <a:lnTo>
                    <a:pt x="140843" y="280924"/>
                  </a:lnTo>
                  <a:lnTo>
                    <a:pt x="140843" y="292354"/>
                  </a:lnTo>
                  <a:lnTo>
                    <a:pt x="139827" y="304800"/>
                  </a:lnTo>
                  <a:lnTo>
                    <a:pt x="144780" y="301244"/>
                  </a:lnTo>
                  <a:lnTo>
                    <a:pt x="149733" y="296799"/>
                  </a:lnTo>
                  <a:lnTo>
                    <a:pt x="154559" y="289814"/>
                  </a:lnTo>
                  <a:lnTo>
                    <a:pt x="158623" y="281813"/>
                  </a:lnTo>
                  <a:lnTo>
                    <a:pt x="160528" y="272923"/>
                  </a:lnTo>
                  <a:lnTo>
                    <a:pt x="161544" y="263271"/>
                  </a:lnTo>
                  <a:close/>
                </a:path>
                <a:path w="5090159" h="384175">
                  <a:moveTo>
                    <a:pt x="204216" y="24396"/>
                  </a:moveTo>
                  <a:lnTo>
                    <a:pt x="186436" y="24396"/>
                  </a:lnTo>
                  <a:lnTo>
                    <a:pt x="167640" y="48768"/>
                  </a:lnTo>
                  <a:lnTo>
                    <a:pt x="204216" y="48768"/>
                  </a:lnTo>
                  <a:lnTo>
                    <a:pt x="204216" y="24396"/>
                  </a:lnTo>
                  <a:close/>
                </a:path>
                <a:path w="5090159" h="384175">
                  <a:moveTo>
                    <a:pt x="225501" y="70167"/>
                  </a:moveTo>
                  <a:lnTo>
                    <a:pt x="24384" y="70167"/>
                  </a:lnTo>
                  <a:lnTo>
                    <a:pt x="24384" y="94488"/>
                  </a:lnTo>
                  <a:lnTo>
                    <a:pt x="225501" y="94488"/>
                  </a:lnTo>
                  <a:lnTo>
                    <a:pt x="225501" y="70167"/>
                  </a:lnTo>
                  <a:close/>
                </a:path>
                <a:path w="5090159" h="384175">
                  <a:moveTo>
                    <a:pt x="228600" y="161544"/>
                  </a:moveTo>
                  <a:lnTo>
                    <a:pt x="181356" y="161544"/>
                  </a:lnTo>
                  <a:lnTo>
                    <a:pt x="181356" y="263652"/>
                  </a:lnTo>
                  <a:lnTo>
                    <a:pt x="180467" y="275717"/>
                  </a:lnTo>
                  <a:lnTo>
                    <a:pt x="161290" y="313817"/>
                  </a:lnTo>
                  <a:lnTo>
                    <a:pt x="156845" y="318135"/>
                  </a:lnTo>
                  <a:lnTo>
                    <a:pt x="152273" y="321564"/>
                  </a:lnTo>
                  <a:lnTo>
                    <a:pt x="146812" y="324231"/>
                  </a:lnTo>
                  <a:lnTo>
                    <a:pt x="142240" y="326771"/>
                  </a:lnTo>
                  <a:lnTo>
                    <a:pt x="136779" y="328549"/>
                  </a:lnTo>
                  <a:lnTo>
                    <a:pt x="130429" y="329438"/>
                  </a:lnTo>
                  <a:lnTo>
                    <a:pt x="119507" y="329438"/>
                  </a:lnTo>
                  <a:lnTo>
                    <a:pt x="113157" y="328549"/>
                  </a:lnTo>
                  <a:lnTo>
                    <a:pt x="107696" y="326771"/>
                  </a:lnTo>
                  <a:lnTo>
                    <a:pt x="103124" y="324231"/>
                  </a:lnTo>
                  <a:lnTo>
                    <a:pt x="97663" y="321564"/>
                  </a:lnTo>
                  <a:lnTo>
                    <a:pt x="72263" y="287909"/>
                  </a:lnTo>
                  <a:lnTo>
                    <a:pt x="68580" y="263652"/>
                  </a:lnTo>
                  <a:lnTo>
                    <a:pt x="69596" y="250698"/>
                  </a:lnTo>
                  <a:lnTo>
                    <a:pt x="88646" y="212598"/>
                  </a:lnTo>
                  <a:lnTo>
                    <a:pt x="93218" y="209169"/>
                  </a:lnTo>
                  <a:lnTo>
                    <a:pt x="97663" y="205740"/>
                  </a:lnTo>
                  <a:lnTo>
                    <a:pt x="103124" y="202184"/>
                  </a:lnTo>
                  <a:lnTo>
                    <a:pt x="107696" y="200533"/>
                  </a:lnTo>
                  <a:lnTo>
                    <a:pt x="113157" y="198755"/>
                  </a:lnTo>
                  <a:lnTo>
                    <a:pt x="119507" y="197866"/>
                  </a:lnTo>
                  <a:lnTo>
                    <a:pt x="124968" y="196977"/>
                  </a:lnTo>
                  <a:lnTo>
                    <a:pt x="130429" y="197866"/>
                  </a:lnTo>
                  <a:lnTo>
                    <a:pt x="136779" y="198755"/>
                  </a:lnTo>
                  <a:lnTo>
                    <a:pt x="142240" y="200533"/>
                  </a:lnTo>
                  <a:lnTo>
                    <a:pt x="172212" y="227330"/>
                  </a:lnTo>
                  <a:lnTo>
                    <a:pt x="181356" y="263652"/>
                  </a:lnTo>
                  <a:lnTo>
                    <a:pt x="181356" y="161544"/>
                  </a:lnTo>
                  <a:lnTo>
                    <a:pt x="21336" y="161544"/>
                  </a:lnTo>
                  <a:lnTo>
                    <a:pt x="45974" y="365760"/>
                  </a:lnTo>
                  <a:lnTo>
                    <a:pt x="204089" y="365760"/>
                  </a:lnTo>
                  <a:lnTo>
                    <a:pt x="208445" y="329438"/>
                  </a:lnTo>
                  <a:lnTo>
                    <a:pt x="224129" y="198755"/>
                  </a:lnTo>
                  <a:lnTo>
                    <a:pt x="224231" y="197866"/>
                  </a:lnTo>
                  <a:lnTo>
                    <a:pt x="224345" y="196977"/>
                  </a:lnTo>
                  <a:lnTo>
                    <a:pt x="228600" y="161544"/>
                  </a:lnTo>
                  <a:close/>
                </a:path>
                <a:path w="5090159" h="384175">
                  <a:moveTo>
                    <a:pt x="249897" y="115887"/>
                  </a:moveTo>
                  <a:lnTo>
                    <a:pt x="0" y="115887"/>
                  </a:lnTo>
                  <a:lnTo>
                    <a:pt x="0" y="140208"/>
                  </a:lnTo>
                  <a:lnTo>
                    <a:pt x="249897" y="140208"/>
                  </a:lnTo>
                  <a:lnTo>
                    <a:pt x="249897" y="115887"/>
                  </a:lnTo>
                  <a:close/>
                </a:path>
                <a:path w="5090159" h="384175">
                  <a:moveTo>
                    <a:pt x="2139607" y="24422"/>
                  </a:moveTo>
                  <a:lnTo>
                    <a:pt x="2115312" y="24422"/>
                  </a:lnTo>
                  <a:lnTo>
                    <a:pt x="2115312" y="67056"/>
                  </a:lnTo>
                  <a:lnTo>
                    <a:pt x="2139607" y="67056"/>
                  </a:lnTo>
                  <a:lnTo>
                    <a:pt x="2139607" y="24422"/>
                  </a:lnTo>
                  <a:close/>
                </a:path>
                <a:path w="5090159" h="384175">
                  <a:moveTo>
                    <a:pt x="2203704" y="0"/>
                  </a:moveTo>
                  <a:lnTo>
                    <a:pt x="2179320" y="0"/>
                  </a:lnTo>
                  <a:lnTo>
                    <a:pt x="2179320" y="45720"/>
                  </a:lnTo>
                  <a:lnTo>
                    <a:pt x="2203704" y="45720"/>
                  </a:lnTo>
                  <a:lnTo>
                    <a:pt x="2203704" y="0"/>
                  </a:lnTo>
                  <a:close/>
                </a:path>
                <a:path w="5090159" h="384175">
                  <a:moveTo>
                    <a:pt x="2264664" y="24422"/>
                  </a:moveTo>
                  <a:lnTo>
                    <a:pt x="2240280" y="24422"/>
                  </a:lnTo>
                  <a:lnTo>
                    <a:pt x="2240280" y="67056"/>
                  </a:lnTo>
                  <a:lnTo>
                    <a:pt x="2264664" y="67056"/>
                  </a:lnTo>
                  <a:lnTo>
                    <a:pt x="2264664" y="24422"/>
                  </a:lnTo>
                  <a:close/>
                </a:path>
                <a:path w="5090159" h="384175">
                  <a:moveTo>
                    <a:pt x="2365248" y="344424"/>
                  </a:moveTo>
                  <a:lnTo>
                    <a:pt x="2017776" y="344424"/>
                  </a:lnTo>
                  <a:lnTo>
                    <a:pt x="2017776" y="355600"/>
                  </a:lnTo>
                  <a:lnTo>
                    <a:pt x="2036953" y="384048"/>
                  </a:lnTo>
                  <a:lnTo>
                    <a:pt x="2346071" y="384048"/>
                  </a:lnTo>
                  <a:lnTo>
                    <a:pt x="2365248" y="355600"/>
                  </a:lnTo>
                  <a:lnTo>
                    <a:pt x="2365248" y="344424"/>
                  </a:lnTo>
                  <a:close/>
                </a:path>
                <a:path w="5090159" h="384175">
                  <a:moveTo>
                    <a:pt x="2414016" y="177800"/>
                  </a:moveTo>
                  <a:lnTo>
                    <a:pt x="2396871" y="136779"/>
                  </a:lnTo>
                  <a:lnTo>
                    <a:pt x="2356485" y="120650"/>
                  </a:lnTo>
                  <a:lnTo>
                    <a:pt x="2319020" y="120650"/>
                  </a:lnTo>
                  <a:lnTo>
                    <a:pt x="2319020" y="106680"/>
                  </a:lnTo>
                  <a:lnTo>
                    <a:pt x="2063496" y="106680"/>
                  </a:lnTo>
                  <a:lnTo>
                    <a:pt x="2063496" y="143764"/>
                  </a:lnTo>
                  <a:lnTo>
                    <a:pt x="2363470" y="143764"/>
                  </a:lnTo>
                  <a:lnTo>
                    <a:pt x="2369566" y="145796"/>
                  </a:lnTo>
                  <a:lnTo>
                    <a:pt x="2390775" y="177800"/>
                  </a:lnTo>
                  <a:lnTo>
                    <a:pt x="2389759" y="185801"/>
                  </a:lnTo>
                  <a:lnTo>
                    <a:pt x="2386711" y="193802"/>
                  </a:lnTo>
                  <a:lnTo>
                    <a:pt x="2381758" y="200787"/>
                  </a:lnTo>
                  <a:lnTo>
                    <a:pt x="2374646" y="206883"/>
                  </a:lnTo>
                  <a:lnTo>
                    <a:pt x="2317115" y="241935"/>
                  </a:lnTo>
                  <a:lnTo>
                    <a:pt x="2319020" y="221869"/>
                  </a:lnTo>
                  <a:lnTo>
                    <a:pt x="2319020" y="166751"/>
                  </a:lnTo>
                  <a:lnTo>
                    <a:pt x="2063496" y="166751"/>
                  </a:lnTo>
                  <a:lnTo>
                    <a:pt x="2063496" y="232918"/>
                  </a:lnTo>
                  <a:lnTo>
                    <a:pt x="2067560" y="255905"/>
                  </a:lnTo>
                  <a:lnTo>
                    <a:pt x="2071624" y="265938"/>
                  </a:lnTo>
                  <a:lnTo>
                    <a:pt x="2075561" y="276987"/>
                  </a:lnTo>
                  <a:lnTo>
                    <a:pt x="2081657" y="287020"/>
                  </a:lnTo>
                  <a:lnTo>
                    <a:pt x="2087753" y="296037"/>
                  </a:lnTo>
                  <a:lnTo>
                    <a:pt x="2094738" y="305054"/>
                  </a:lnTo>
                  <a:lnTo>
                    <a:pt x="2107946" y="320040"/>
                  </a:lnTo>
                  <a:lnTo>
                    <a:pt x="2273554" y="320040"/>
                  </a:lnTo>
                  <a:lnTo>
                    <a:pt x="2286762" y="305054"/>
                  </a:lnTo>
                  <a:lnTo>
                    <a:pt x="2292731" y="297942"/>
                  </a:lnTo>
                  <a:lnTo>
                    <a:pt x="2302891" y="283972"/>
                  </a:lnTo>
                  <a:lnTo>
                    <a:pt x="2306955" y="275971"/>
                  </a:lnTo>
                  <a:lnTo>
                    <a:pt x="2386711" y="225933"/>
                  </a:lnTo>
                  <a:lnTo>
                    <a:pt x="2414016" y="184785"/>
                  </a:lnTo>
                  <a:lnTo>
                    <a:pt x="2414016" y="177800"/>
                  </a:lnTo>
                  <a:close/>
                </a:path>
                <a:path w="5090159" h="384175">
                  <a:moveTo>
                    <a:pt x="4779251" y="200152"/>
                  </a:moveTo>
                  <a:lnTo>
                    <a:pt x="4778248" y="197485"/>
                  </a:lnTo>
                  <a:lnTo>
                    <a:pt x="4778248" y="194818"/>
                  </a:lnTo>
                  <a:lnTo>
                    <a:pt x="4774311" y="190373"/>
                  </a:lnTo>
                  <a:lnTo>
                    <a:pt x="4769485" y="187706"/>
                  </a:lnTo>
                  <a:lnTo>
                    <a:pt x="4763503" y="185928"/>
                  </a:lnTo>
                  <a:lnTo>
                    <a:pt x="4757674" y="187706"/>
                  </a:lnTo>
                  <a:lnTo>
                    <a:pt x="4752721" y="190373"/>
                  </a:lnTo>
                  <a:lnTo>
                    <a:pt x="4749800" y="194818"/>
                  </a:lnTo>
                  <a:lnTo>
                    <a:pt x="4748784" y="197485"/>
                  </a:lnTo>
                  <a:lnTo>
                    <a:pt x="4748784" y="207264"/>
                  </a:lnTo>
                  <a:lnTo>
                    <a:pt x="4779251" y="207264"/>
                  </a:lnTo>
                  <a:lnTo>
                    <a:pt x="4779251" y="200152"/>
                  </a:lnTo>
                  <a:close/>
                </a:path>
                <a:path w="5090159" h="384175">
                  <a:moveTo>
                    <a:pt x="4831080" y="197485"/>
                  </a:moveTo>
                  <a:lnTo>
                    <a:pt x="4815332" y="185928"/>
                  </a:lnTo>
                  <a:lnTo>
                    <a:pt x="4809490" y="187706"/>
                  </a:lnTo>
                  <a:lnTo>
                    <a:pt x="4804537" y="190373"/>
                  </a:lnTo>
                  <a:lnTo>
                    <a:pt x="4801616" y="194818"/>
                  </a:lnTo>
                  <a:lnTo>
                    <a:pt x="4800600" y="197485"/>
                  </a:lnTo>
                  <a:lnTo>
                    <a:pt x="4800600" y="207264"/>
                  </a:lnTo>
                  <a:lnTo>
                    <a:pt x="4831080" y="207264"/>
                  </a:lnTo>
                  <a:lnTo>
                    <a:pt x="4831080" y="197485"/>
                  </a:lnTo>
                  <a:close/>
                </a:path>
                <a:path w="5090159" h="384175">
                  <a:moveTo>
                    <a:pt x="4885944" y="197485"/>
                  </a:moveTo>
                  <a:lnTo>
                    <a:pt x="4884928" y="194818"/>
                  </a:lnTo>
                  <a:lnTo>
                    <a:pt x="4882007" y="190373"/>
                  </a:lnTo>
                  <a:lnTo>
                    <a:pt x="4877054" y="187706"/>
                  </a:lnTo>
                  <a:lnTo>
                    <a:pt x="4871212" y="185928"/>
                  </a:lnTo>
                  <a:lnTo>
                    <a:pt x="4867275" y="186817"/>
                  </a:lnTo>
                  <a:lnTo>
                    <a:pt x="4865370" y="187706"/>
                  </a:lnTo>
                  <a:lnTo>
                    <a:pt x="4860417" y="190373"/>
                  </a:lnTo>
                  <a:lnTo>
                    <a:pt x="4856480" y="194818"/>
                  </a:lnTo>
                  <a:lnTo>
                    <a:pt x="4855464" y="197485"/>
                  </a:lnTo>
                  <a:lnTo>
                    <a:pt x="4855464" y="207264"/>
                  </a:lnTo>
                  <a:lnTo>
                    <a:pt x="4885944" y="207264"/>
                  </a:lnTo>
                  <a:lnTo>
                    <a:pt x="4885944" y="197485"/>
                  </a:lnTo>
                  <a:close/>
                </a:path>
                <a:path w="5090159" h="384175">
                  <a:moveTo>
                    <a:pt x="4937760" y="197485"/>
                  </a:moveTo>
                  <a:lnTo>
                    <a:pt x="4936744" y="194818"/>
                  </a:lnTo>
                  <a:lnTo>
                    <a:pt x="4933823" y="190373"/>
                  </a:lnTo>
                  <a:lnTo>
                    <a:pt x="4928870" y="187706"/>
                  </a:lnTo>
                  <a:lnTo>
                    <a:pt x="4923028" y="185928"/>
                  </a:lnTo>
                  <a:lnTo>
                    <a:pt x="4917059" y="187706"/>
                  </a:lnTo>
                  <a:lnTo>
                    <a:pt x="4912233" y="190373"/>
                  </a:lnTo>
                  <a:lnTo>
                    <a:pt x="4908296" y="194818"/>
                  </a:lnTo>
                  <a:lnTo>
                    <a:pt x="4907280" y="197485"/>
                  </a:lnTo>
                  <a:lnTo>
                    <a:pt x="4907280" y="207264"/>
                  </a:lnTo>
                  <a:lnTo>
                    <a:pt x="4937760" y="207264"/>
                  </a:lnTo>
                  <a:lnTo>
                    <a:pt x="4937760" y="197485"/>
                  </a:lnTo>
                  <a:close/>
                </a:path>
                <a:path w="5090159" h="384175">
                  <a:moveTo>
                    <a:pt x="4992624" y="197485"/>
                  </a:moveTo>
                  <a:lnTo>
                    <a:pt x="4991608" y="194818"/>
                  </a:lnTo>
                  <a:lnTo>
                    <a:pt x="4988687" y="190373"/>
                  </a:lnTo>
                  <a:lnTo>
                    <a:pt x="4983734" y="187706"/>
                  </a:lnTo>
                  <a:lnTo>
                    <a:pt x="4977892" y="185928"/>
                  </a:lnTo>
                  <a:lnTo>
                    <a:pt x="4971923" y="187706"/>
                  </a:lnTo>
                  <a:lnTo>
                    <a:pt x="4967097" y="190373"/>
                  </a:lnTo>
                  <a:lnTo>
                    <a:pt x="4964176" y="194818"/>
                  </a:lnTo>
                  <a:lnTo>
                    <a:pt x="4962144" y="200152"/>
                  </a:lnTo>
                  <a:lnTo>
                    <a:pt x="4962144" y="207264"/>
                  </a:lnTo>
                  <a:lnTo>
                    <a:pt x="4992624" y="207264"/>
                  </a:lnTo>
                  <a:lnTo>
                    <a:pt x="4992624" y="197485"/>
                  </a:lnTo>
                  <a:close/>
                </a:path>
                <a:path w="5090159" h="384175">
                  <a:moveTo>
                    <a:pt x="5044440" y="200152"/>
                  </a:moveTo>
                  <a:lnTo>
                    <a:pt x="5043424" y="197485"/>
                  </a:lnTo>
                  <a:lnTo>
                    <a:pt x="5042535" y="194818"/>
                  </a:lnTo>
                  <a:lnTo>
                    <a:pt x="5039614" y="190373"/>
                  </a:lnTo>
                  <a:lnTo>
                    <a:pt x="5034915" y="187706"/>
                  </a:lnTo>
                  <a:lnTo>
                    <a:pt x="5029200" y="185928"/>
                  </a:lnTo>
                  <a:lnTo>
                    <a:pt x="5023485" y="187706"/>
                  </a:lnTo>
                  <a:lnTo>
                    <a:pt x="5018659" y="190373"/>
                  </a:lnTo>
                  <a:lnTo>
                    <a:pt x="5015865" y="194818"/>
                  </a:lnTo>
                  <a:lnTo>
                    <a:pt x="5014976" y="197485"/>
                  </a:lnTo>
                  <a:lnTo>
                    <a:pt x="5013960" y="200152"/>
                  </a:lnTo>
                  <a:lnTo>
                    <a:pt x="5013960" y="207264"/>
                  </a:lnTo>
                  <a:lnTo>
                    <a:pt x="5044440" y="207264"/>
                  </a:lnTo>
                  <a:lnTo>
                    <a:pt x="5044440" y="200152"/>
                  </a:lnTo>
                  <a:close/>
                </a:path>
                <a:path w="5090159" h="384175">
                  <a:moveTo>
                    <a:pt x="5065776" y="301752"/>
                  </a:moveTo>
                  <a:lnTo>
                    <a:pt x="4727448" y="301752"/>
                  </a:lnTo>
                  <a:lnTo>
                    <a:pt x="4728451" y="309372"/>
                  </a:lnTo>
                  <a:lnTo>
                    <a:pt x="4749038" y="347218"/>
                  </a:lnTo>
                  <a:lnTo>
                    <a:pt x="4794377" y="370967"/>
                  </a:lnTo>
                  <a:lnTo>
                    <a:pt x="4801235" y="371856"/>
                  </a:lnTo>
                  <a:lnTo>
                    <a:pt x="4990973" y="371856"/>
                  </a:lnTo>
                  <a:lnTo>
                    <a:pt x="5032248" y="356743"/>
                  </a:lnTo>
                  <a:lnTo>
                    <a:pt x="5055870" y="329184"/>
                  </a:lnTo>
                  <a:lnTo>
                    <a:pt x="5059807" y="323596"/>
                  </a:lnTo>
                  <a:lnTo>
                    <a:pt x="5065776" y="301752"/>
                  </a:lnTo>
                  <a:close/>
                </a:path>
                <a:path w="5090159" h="384175">
                  <a:moveTo>
                    <a:pt x="5090160" y="229108"/>
                  </a:moveTo>
                  <a:lnTo>
                    <a:pt x="4703051" y="229108"/>
                  </a:lnTo>
                  <a:lnTo>
                    <a:pt x="4703051" y="251968"/>
                  </a:lnTo>
                  <a:lnTo>
                    <a:pt x="4726686" y="251968"/>
                  </a:lnTo>
                  <a:lnTo>
                    <a:pt x="4726686" y="279908"/>
                  </a:lnTo>
                  <a:lnTo>
                    <a:pt x="5066538" y="279908"/>
                  </a:lnTo>
                  <a:lnTo>
                    <a:pt x="5066538" y="251968"/>
                  </a:lnTo>
                  <a:lnTo>
                    <a:pt x="5090160" y="251968"/>
                  </a:lnTo>
                  <a:lnTo>
                    <a:pt x="5090160" y="229108"/>
                  </a:lnTo>
                  <a:close/>
                </a:path>
              </a:pathLst>
            </a:custGeom>
            <a:solidFill>
              <a:srgbClr val="FFE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84264" y="1886711"/>
              <a:ext cx="179831" cy="12801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930141" y="2323922"/>
            <a:ext cx="36131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-70" dirty="0">
                <a:solidFill>
                  <a:srgbClr val="FFFFFF"/>
                </a:solidFill>
                <a:latin typeface="Tahoma"/>
                <a:cs typeface="Tahoma"/>
              </a:rPr>
              <a:t>Tea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14008" y="2323922"/>
            <a:ext cx="65278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-110" dirty="0">
                <a:solidFill>
                  <a:srgbClr val="FFFFFF"/>
                </a:solidFill>
                <a:latin typeface="Tahoma"/>
                <a:cs typeface="Tahoma"/>
              </a:rPr>
              <a:t>Bakery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998976" y="3063239"/>
            <a:ext cx="472440" cy="378460"/>
            <a:chOff x="3998976" y="3063239"/>
            <a:chExt cx="472440" cy="378460"/>
          </a:xfrm>
        </p:grpSpPr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78808" y="3072383"/>
              <a:ext cx="112775" cy="19202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998976" y="3264407"/>
              <a:ext cx="262255" cy="91440"/>
            </a:xfrm>
            <a:custGeom>
              <a:avLst/>
              <a:gdLst/>
              <a:ahLst/>
              <a:cxnLst/>
              <a:rect l="l" t="t" r="r" b="b"/>
              <a:pathLst>
                <a:path w="262254" h="91439">
                  <a:moveTo>
                    <a:pt x="132841" y="0"/>
                  </a:moveTo>
                  <a:lnTo>
                    <a:pt x="82550" y="6350"/>
                  </a:lnTo>
                  <a:lnTo>
                    <a:pt x="41910" y="24511"/>
                  </a:lnTo>
                  <a:lnTo>
                    <a:pt x="19176" y="43561"/>
                  </a:lnTo>
                  <a:lnTo>
                    <a:pt x="13208" y="49911"/>
                  </a:lnTo>
                  <a:lnTo>
                    <a:pt x="8382" y="57404"/>
                  </a:lnTo>
                  <a:lnTo>
                    <a:pt x="3556" y="65913"/>
                  </a:lnTo>
                  <a:lnTo>
                    <a:pt x="1143" y="74422"/>
                  </a:lnTo>
                  <a:lnTo>
                    <a:pt x="0" y="82931"/>
                  </a:lnTo>
                  <a:lnTo>
                    <a:pt x="11937" y="86106"/>
                  </a:lnTo>
                  <a:lnTo>
                    <a:pt x="23875" y="88265"/>
                  </a:lnTo>
                  <a:lnTo>
                    <a:pt x="39497" y="90297"/>
                  </a:lnTo>
                  <a:lnTo>
                    <a:pt x="57403" y="91440"/>
                  </a:lnTo>
                  <a:lnTo>
                    <a:pt x="80137" y="90297"/>
                  </a:lnTo>
                  <a:lnTo>
                    <a:pt x="98171" y="87122"/>
                  </a:lnTo>
                  <a:lnTo>
                    <a:pt x="113664" y="82931"/>
                  </a:lnTo>
                  <a:lnTo>
                    <a:pt x="159131" y="68072"/>
                  </a:lnTo>
                  <a:lnTo>
                    <a:pt x="169925" y="66929"/>
                  </a:lnTo>
                  <a:lnTo>
                    <a:pt x="180721" y="64897"/>
                  </a:lnTo>
                  <a:lnTo>
                    <a:pt x="193928" y="63754"/>
                  </a:lnTo>
                  <a:lnTo>
                    <a:pt x="223774" y="63754"/>
                  </a:lnTo>
                  <a:lnTo>
                    <a:pt x="238251" y="65913"/>
                  </a:lnTo>
                  <a:lnTo>
                    <a:pt x="251333" y="66929"/>
                  </a:lnTo>
                  <a:lnTo>
                    <a:pt x="262127" y="70104"/>
                  </a:lnTo>
                  <a:lnTo>
                    <a:pt x="259714" y="62738"/>
                  </a:lnTo>
                  <a:lnTo>
                    <a:pt x="254888" y="55245"/>
                  </a:lnTo>
                  <a:lnTo>
                    <a:pt x="251333" y="48895"/>
                  </a:lnTo>
                  <a:lnTo>
                    <a:pt x="239395" y="36195"/>
                  </a:lnTo>
                  <a:lnTo>
                    <a:pt x="232156" y="30861"/>
                  </a:lnTo>
                  <a:lnTo>
                    <a:pt x="223774" y="25527"/>
                  </a:lnTo>
                  <a:lnTo>
                    <a:pt x="216662" y="20193"/>
                  </a:lnTo>
                  <a:lnTo>
                    <a:pt x="197485" y="11684"/>
                  </a:lnTo>
                  <a:lnTo>
                    <a:pt x="187960" y="8509"/>
                  </a:lnTo>
                  <a:lnTo>
                    <a:pt x="177164" y="5334"/>
                  </a:lnTo>
                  <a:lnTo>
                    <a:pt x="155575" y="1016"/>
                  </a:lnTo>
                  <a:lnTo>
                    <a:pt x="143637" y="1016"/>
                  </a:lnTo>
                  <a:lnTo>
                    <a:pt x="132841" y="0"/>
                  </a:lnTo>
                  <a:close/>
                </a:path>
              </a:pathLst>
            </a:custGeom>
            <a:solidFill>
              <a:srgbClr val="FFE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75176" y="3063239"/>
              <a:ext cx="140208" cy="18287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998976" y="3352799"/>
              <a:ext cx="265430" cy="88900"/>
            </a:xfrm>
            <a:custGeom>
              <a:avLst/>
              <a:gdLst/>
              <a:ahLst/>
              <a:cxnLst/>
              <a:rect l="l" t="t" r="r" b="b"/>
              <a:pathLst>
                <a:path w="265429" h="88900">
                  <a:moveTo>
                    <a:pt x="207263" y="0"/>
                  </a:moveTo>
                  <a:lnTo>
                    <a:pt x="165100" y="4191"/>
                  </a:lnTo>
                  <a:lnTo>
                    <a:pt x="120523" y="17653"/>
                  </a:lnTo>
                  <a:lnTo>
                    <a:pt x="103759" y="21843"/>
                  </a:lnTo>
                  <a:lnTo>
                    <a:pt x="94107" y="23875"/>
                  </a:lnTo>
                  <a:lnTo>
                    <a:pt x="69976" y="26035"/>
                  </a:lnTo>
                  <a:lnTo>
                    <a:pt x="55499" y="27050"/>
                  </a:lnTo>
                  <a:lnTo>
                    <a:pt x="24129" y="25018"/>
                  </a:lnTo>
                  <a:lnTo>
                    <a:pt x="0" y="20828"/>
                  </a:lnTo>
                  <a:lnTo>
                    <a:pt x="3683" y="28067"/>
                  </a:lnTo>
                  <a:lnTo>
                    <a:pt x="38608" y="64516"/>
                  </a:lnTo>
                  <a:lnTo>
                    <a:pt x="74802" y="81153"/>
                  </a:lnTo>
                  <a:lnTo>
                    <a:pt x="85598" y="83185"/>
                  </a:lnTo>
                  <a:lnTo>
                    <a:pt x="96520" y="86360"/>
                  </a:lnTo>
                  <a:lnTo>
                    <a:pt x="119379" y="88392"/>
                  </a:lnTo>
                  <a:lnTo>
                    <a:pt x="143510" y="88392"/>
                  </a:lnTo>
                  <a:lnTo>
                    <a:pt x="191643" y="78993"/>
                  </a:lnTo>
                  <a:lnTo>
                    <a:pt x="238633" y="53086"/>
                  </a:lnTo>
                  <a:lnTo>
                    <a:pt x="265175" y="8381"/>
                  </a:lnTo>
                  <a:lnTo>
                    <a:pt x="253111" y="5206"/>
                  </a:lnTo>
                  <a:lnTo>
                    <a:pt x="239902" y="2031"/>
                  </a:lnTo>
                  <a:lnTo>
                    <a:pt x="207263" y="0"/>
                  </a:lnTo>
                  <a:close/>
                </a:path>
              </a:pathLst>
            </a:custGeom>
            <a:solidFill>
              <a:srgbClr val="FFE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51960" y="3163823"/>
              <a:ext cx="219455" cy="207263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827014" y="3569970"/>
            <a:ext cx="170815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45" dirty="0">
                <a:solidFill>
                  <a:srgbClr val="FFFFFF"/>
                </a:solidFill>
                <a:latin typeface="Tahoma"/>
                <a:cs typeface="Tahoma"/>
              </a:rPr>
              <a:t>Drinking</a:t>
            </a:r>
            <a:r>
              <a:rPr sz="16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75" dirty="0">
                <a:solidFill>
                  <a:srgbClr val="FFFFFF"/>
                </a:solidFill>
                <a:latin typeface="Tahoma"/>
                <a:cs typeface="Tahoma"/>
              </a:rPr>
              <a:t>chocolate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840992" y="3121151"/>
            <a:ext cx="411480" cy="372110"/>
            <a:chOff x="1840992" y="3121151"/>
            <a:chExt cx="411480" cy="372110"/>
          </a:xfrm>
        </p:grpSpPr>
        <p:sp>
          <p:nvSpPr>
            <p:cNvPr id="34" name="object 34"/>
            <p:cNvSpPr/>
            <p:nvPr/>
          </p:nvSpPr>
          <p:spPr>
            <a:xfrm>
              <a:off x="1993392" y="3258311"/>
              <a:ext cx="79375" cy="85725"/>
            </a:xfrm>
            <a:custGeom>
              <a:avLst/>
              <a:gdLst/>
              <a:ahLst/>
              <a:cxnLst/>
              <a:rect l="l" t="t" r="r" b="b"/>
              <a:pathLst>
                <a:path w="79375" h="85725">
                  <a:moveTo>
                    <a:pt x="74168" y="0"/>
                  </a:moveTo>
                  <a:lnTo>
                    <a:pt x="61975" y="0"/>
                  </a:lnTo>
                  <a:lnTo>
                    <a:pt x="50800" y="1905"/>
                  </a:lnTo>
                  <a:lnTo>
                    <a:pt x="13207" y="29082"/>
                  </a:lnTo>
                  <a:lnTo>
                    <a:pt x="0" y="59181"/>
                  </a:lnTo>
                  <a:lnTo>
                    <a:pt x="0" y="65912"/>
                  </a:lnTo>
                  <a:lnTo>
                    <a:pt x="1015" y="72770"/>
                  </a:lnTo>
                  <a:lnTo>
                    <a:pt x="3047" y="79501"/>
                  </a:lnTo>
                  <a:lnTo>
                    <a:pt x="6095" y="85343"/>
                  </a:lnTo>
                  <a:lnTo>
                    <a:pt x="14224" y="80518"/>
                  </a:lnTo>
                  <a:lnTo>
                    <a:pt x="23368" y="71755"/>
                  </a:lnTo>
                  <a:lnTo>
                    <a:pt x="30480" y="64007"/>
                  </a:lnTo>
                  <a:lnTo>
                    <a:pt x="35559" y="58166"/>
                  </a:lnTo>
                  <a:lnTo>
                    <a:pt x="38607" y="51435"/>
                  </a:lnTo>
                  <a:lnTo>
                    <a:pt x="41656" y="45593"/>
                  </a:lnTo>
                  <a:lnTo>
                    <a:pt x="65024" y="12573"/>
                  </a:lnTo>
                  <a:lnTo>
                    <a:pt x="79247" y="1016"/>
                  </a:lnTo>
                  <a:lnTo>
                    <a:pt x="74168" y="0"/>
                  </a:lnTo>
                  <a:close/>
                </a:path>
              </a:pathLst>
            </a:custGeom>
            <a:solidFill>
              <a:srgbClr val="FFE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840992" y="3389375"/>
              <a:ext cx="115824" cy="10363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020824" y="3273551"/>
              <a:ext cx="79375" cy="82550"/>
            </a:xfrm>
            <a:custGeom>
              <a:avLst/>
              <a:gdLst/>
              <a:ahLst/>
              <a:cxnLst/>
              <a:rect l="l" t="t" r="r" b="b"/>
              <a:pathLst>
                <a:path w="79375" h="82550">
                  <a:moveTo>
                    <a:pt x="73151" y="0"/>
                  </a:moveTo>
                  <a:lnTo>
                    <a:pt x="43687" y="26162"/>
                  </a:lnTo>
                  <a:lnTo>
                    <a:pt x="33527" y="44831"/>
                  </a:lnTo>
                  <a:lnTo>
                    <a:pt x="29463" y="52324"/>
                  </a:lnTo>
                  <a:lnTo>
                    <a:pt x="23368" y="60833"/>
                  </a:lnTo>
                  <a:lnTo>
                    <a:pt x="14224" y="70104"/>
                  </a:lnTo>
                  <a:lnTo>
                    <a:pt x="7112" y="76708"/>
                  </a:lnTo>
                  <a:lnTo>
                    <a:pt x="0" y="81280"/>
                  </a:lnTo>
                  <a:lnTo>
                    <a:pt x="8127" y="82296"/>
                  </a:lnTo>
                  <a:lnTo>
                    <a:pt x="17271" y="82296"/>
                  </a:lnTo>
                  <a:lnTo>
                    <a:pt x="27431" y="80391"/>
                  </a:lnTo>
                  <a:lnTo>
                    <a:pt x="65024" y="54229"/>
                  </a:lnTo>
                  <a:lnTo>
                    <a:pt x="79248" y="18669"/>
                  </a:lnTo>
                  <a:lnTo>
                    <a:pt x="78231" y="12192"/>
                  </a:lnTo>
                  <a:lnTo>
                    <a:pt x="76200" y="5588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FFE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136648" y="3121151"/>
              <a:ext cx="115824" cy="10363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914144" y="3188207"/>
              <a:ext cx="265430" cy="241300"/>
            </a:xfrm>
            <a:custGeom>
              <a:avLst/>
              <a:gdLst/>
              <a:ahLst/>
              <a:cxnLst/>
              <a:rect l="l" t="t" r="r" b="b"/>
              <a:pathLst>
                <a:path w="265430" h="241300">
                  <a:moveTo>
                    <a:pt x="171831" y="0"/>
                  </a:moveTo>
                  <a:lnTo>
                    <a:pt x="152019" y="0"/>
                  </a:lnTo>
                  <a:lnTo>
                    <a:pt x="133095" y="3810"/>
                  </a:lnTo>
                  <a:lnTo>
                    <a:pt x="89154" y="26670"/>
                  </a:lnTo>
                  <a:lnTo>
                    <a:pt x="23113" y="87503"/>
                  </a:lnTo>
                  <a:lnTo>
                    <a:pt x="2158" y="128524"/>
                  </a:lnTo>
                  <a:lnTo>
                    <a:pt x="0" y="138049"/>
                  </a:lnTo>
                  <a:lnTo>
                    <a:pt x="0" y="156083"/>
                  </a:lnTo>
                  <a:lnTo>
                    <a:pt x="16763" y="198882"/>
                  </a:lnTo>
                  <a:lnTo>
                    <a:pt x="46100" y="225552"/>
                  </a:lnTo>
                  <a:lnTo>
                    <a:pt x="54482" y="229362"/>
                  </a:lnTo>
                  <a:lnTo>
                    <a:pt x="63881" y="234188"/>
                  </a:lnTo>
                  <a:lnTo>
                    <a:pt x="73406" y="236982"/>
                  </a:lnTo>
                  <a:lnTo>
                    <a:pt x="82804" y="238887"/>
                  </a:lnTo>
                  <a:lnTo>
                    <a:pt x="93344" y="239776"/>
                  </a:lnTo>
                  <a:lnTo>
                    <a:pt x="102743" y="240792"/>
                  </a:lnTo>
                  <a:lnTo>
                    <a:pt x="122681" y="238887"/>
                  </a:lnTo>
                  <a:lnTo>
                    <a:pt x="132080" y="236982"/>
                  </a:lnTo>
                  <a:lnTo>
                    <a:pt x="141478" y="234188"/>
                  </a:lnTo>
                  <a:lnTo>
                    <a:pt x="150875" y="229362"/>
                  </a:lnTo>
                  <a:lnTo>
                    <a:pt x="159257" y="225552"/>
                  </a:lnTo>
                  <a:lnTo>
                    <a:pt x="167639" y="219837"/>
                  </a:lnTo>
                  <a:lnTo>
                    <a:pt x="175006" y="213233"/>
                  </a:lnTo>
                  <a:lnTo>
                    <a:pt x="199240" y="191262"/>
                  </a:lnTo>
                  <a:lnTo>
                    <a:pt x="116331" y="191262"/>
                  </a:lnTo>
                  <a:lnTo>
                    <a:pt x="103758" y="190373"/>
                  </a:lnTo>
                  <a:lnTo>
                    <a:pt x="67056" y="171323"/>
                  </a:lnTo>
                  <a:lnTo>
                    <a:pt x="54482" y="140843"/>
                  </a:lnTo>
                  <a:lnTo>
                    <a:pt x="54482" y="126618"/>
                  </a:lnTo>
                  <a:lnTo>
                    <a:pt x="56642" y="119888"/>
                  </a:lnTo>
                  <a:lnTo>
                    <a:pt x="58674" y="113284"/>
                  </a:lnTo>
                  <a:lnTo>
                    <a:pt x="60832" y="105664"/>
                  </a:lnTo>
                  <a:lnTo>
                    <a:pt x="63881" y="99949"/>
                  </a:lnTo>
                  <a:lnTo>
                    <a:pt x="68199" y="93345"/>
                  </a:lnTo>
                  <a:lnTo>
                    <a:pt x="72389" y="86614"/>
                  </a:lnTo>
                  <a:lnTo>
                    <a:pt x="77597" y="80899"/>
                  </a:lnTo>
                  <a:lnTo>
                    <a:pt x="83819" y="75184"/>
                  </a:lnTo>
                  <a:lnTo>
                    <a:pt x="90169" y="70485"/>
                  </a:lnTo>
                  <a:lnTo>
                    <a:pt x="96393" y="65659"/>
                  </a:lnTo>
                  <a:lnTo>
                    <a:pt x="102743" y="61849"/>
                  </a:lnTo>
                  <a:lnTo>
                    <a:pt x="109981" y="58039"/>
                  </a:lnTo>
                  <a:lnTo>
                    <a:pt x="117348" y="55245"/>
                  </a:lnTo>
                  <a:lnTo>
                    <a:pt x="124713" y="52324"/>
                  </a:lnTo>
                  <a:lnTo>
                    <a:pt x="132080" y="50418"/>
                  </a:lnTo>
                  <a:lnTo>
                    <a:pt x="139445" y="49530"/>
                  </a:lnTo>
                  <a:lnTo>
                    <a:pt x="253619" y="49530"/>
                  </a:lnTo>
                  <a:lnTo>
                    <a:pt x="248412" y="40893"/>
                  </a:lnTo>
                  <a:lnTo>
                    <a:pt x="242062" y="34290"/>
                  </a:lnTo>
                  <a:lnTo>
                    <a:pt x="234823" y="26670"/>
                  </a:lnTo>
                  <a:lnTo>
                    <a:pt x="227456" y="20955"/>
                  </a:lnTo>
                  <a:lnTo>
                    <a:pt x="191769" y="3810"/>
                  </a:lnTo>
                  <a:lnTo>
                    <a:pt x="182372" y="1905"/>
                  </a:lnTo>
                  <a:lnTo>
                    <a:pt x="171831" y="0"/>
                  </a:lnTo>
                  <a:close/>
                </a:path>
                <a:path w="265430" h="241300">
                  <a:moveTo>
                    <a:pt x="253619" y="49530"/>
                  </a:moveTo>
                  <a:lnTo>
                    <a:pt x="155194" y="49530"/>
                  </a:lnTo>
                  <a:lnTo>
                    <a:pt x="162432" y="50418"/>
                  </a:lnTo>
                  <a:lnTo>
                    <a:pt x="169799" y="51435"/>
                  </a:lnTo>
                  <a:lnTo>
                    <a:pt x="202311" y="75184"/>
                  </a:lnTo>
                  <a:lnTo>
                    <a:pt x="205358" y="80899"/>
                  </a:lnTo>
                  <a:lnTo>
                    <a:pt x="208533" y="86614"/>
                  </a:lnTo>
                  <a:lnTo>
                    <a:pt x="210693" y="93345"/>
                  </a:lnTo>
                  <a:lnTo>
                    <a:pt x="210693" y="99949"/>
                  </a:lnTo>
                  <a:lnTo>
                    <a:pt x="211708" y="107568"/>
                  </a:lnTo>
                  <a:lnTo>
                    <a:pt x="209676" y="120904"/>
                  </a:lnTo>
                  <a:lnTo>
                    <a:pt x="207518" y="128524"/>
                  </a:lnTo>
                  <a:lnTo>
                    <a:pt x="204343" y="135128"/>
                  </a:lnTo>
                  <a:lnTo>
                    <a:pt x="201294" y="140843"/>
                  </a:lnTo>
                  <a:lnTo>
                    <a:pt x="198119" y="147574"/>
                  </a:lnTo>
                  <a:lnTo>
                    <a:pt x="192786" y="154178"/>
                  </a:lnTo>
                  <a:lnTo>
                    <a:pt x="182372" y="165608"/>
                  </a:lnTo>
                  <a:lnTo>
                    <a:pt x="169799" y="175133"/>
                  </a:lnTo>
                  <a:lnTo>
                    <a:pt x="162432" y="178943"/>
                  </a:lnTo>
                  <a:lnTo>
                    <a:pt x="156210" y="182753"/>
                  </a:lnTo>
                  <a:lnTo>
                    <a:pt x="148844" y="185547"/>
                  </a:lnTo>
                  <a:lnTo>
                    <a:pt x="141478" y="188468"/>
                  </a:lnTo>
                  <a:lnTo>
                    <a:pt x="134112" y="190373"/>
                  </a:lnTo>
                  <a:lnTo>
                    <a:pt x="125730" y="191262"/>
                  </a:lnTo>
                  <a:lnTo>
                    <a:pt x="199240" y="191262"/>
                  </a:lnTo>
                  <a:lnTo>
                    <a:pt x="234823" y="159004"/>
                  </a:lnTo>
                  <a:lnTo>
                    <a:pt x="257810" y="128524"/>
                  </a:lnTo>
                  <a:lnTo>
                    <a:pt x="263017" y="111379"/>
                  </a:lnTo>
                  <a:lnTo>
                    <a:pt x="265175" y="102743"/>
                  </a:lnTo>
                  <a:lnTo>
                    <a:pt x="265175" y="83820"/>
                  </a:lnTo>
                  <a:lnTo>
                    <a:pt x="263017" y="75184"/>
                  </a:lnTo>
                  <a:lnTo>
                    <a:pt x="260985" y="65659"/>
                  </a:lnTo>
                  <a:lnTo>
                    <a:pt x="257810" y="57150"/>
                  </a:lnTo>
                  <a:lnTo>
                    <a:pt x="253619" y="49530"/>
                  </a:lnTo>
                  <a:close/>
                </a:path>
              </a:pathLst>
            </a:custGeom>
            <a:solidFill>
              <a:srgbClr val="FFE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627758" y="3569970"/>
            <a:ext cx="76073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95" dirty="0">
                <a:solidFill>
                  <a:srgbClr val="FFFFFF"/>
                </a:solidFill>
                <a:latin typeface="Tahoma"/>
                <a:cs typeface="Tahoma"/>
              </a:rPr>
              <a:t>flavours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625341" y="3539744"/>
            <a:ext cx="121412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75" dirty="0">
                <a:solidFill>
                  <a:srgbClr val="FFFFFF"/>
                </a:solidFill>
                <a:latin typeface="Tahoma"/>
                <a:cs typeface="Tahoma"/>
              </a:rPr>
              <a:t>Coffee</a:t>
            </a:r>
            <a:r>
              <a:rPr sz="1600" b="1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95" dirty="0">
                <a:solidFill>
                  <a:srgbClr val="FFFFFF"/>
                </a:solidFill>
                <a:latin typeface="Tahoma"/>
                <a:cs typeface="Tahoma"/>
              </a:rPr>
              <a:t>beans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574535" y="3005327"/>
            <a:ext cx="280670" cy="378460"/>
            <a:chOff x="6574535" y="3005327"/>
            <a:chExt cx="280670" cy="378460"/>
          </a:xfrm>
        </p:grpSpPr>
        <p:pic>
          <p:nvPicPr>
            <p:cNvPr id="42" name="object 4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75119" y="3240023"/>
              <a:ext cx="82296" cy="8534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574523" y="3005327"/>
              <a:ext cx="280670" cy="155575"/>
            </a:xfrm>
            <a:custGeom>
              <a:avLst/>
              <a:gdLst/>
              <a:ahLst/>
              <a:cxnLst/>
              <a:rect l="l" t="t" r="r" b="b"/>
              <a:pathLst>
                <a:path w="280670" h="155575">
                  <a:moveTo>
                    <a:pt x="213372" y="0"/>
                  </a:moveTo>
                  <a:lnTo>
                    <a:pt x="128028" y="0"/>
                  </a:lnTo>
                  <a:lnTo>
                    <a:pt x="128028" y="60960"/>
                  </a:lnTo>
                  <a:lnTo>
                    <a:pt x="155079" y="60960"/>
                  </a:lnTo>
                  <a:lnTo>
                    <a:pt x="155714" y="60960"/>
                  </a:lnTo>
                  <a:lnTo>
                    <a:pt x="155714" y="22225"/>
                  </a:lnTo>
                  <a:lnTo>
                    <a:pt x="213372" y="22225"/>
                  </a:lnTo>
                  <a:lnTo>
                    <a:pt x="213372" y="0"/>
                  </a:lnTo>
                  <a:close/>
                </a:path>
                <a:path w="280670" h="155575">
                  <a:moveTo>
                    <a:pt x="280428" y="132461"/>
                  </a:moveTo>
                  <a:lnTo>
                    <a:pt x="261759" y="132461"/>
                  </a:lnTo>
                  <a:lnTo>
                    <a:pt x="256806" y="118237"/>
                  </a:lnTo>
                  <a:lnTo>
                    <a:pt x="253123" y="111506"/>
                  </a:lnTo>
                  <a:lnTo>
                    <a:pt x="217055" y="78105"/>
                  </a:lnTo>
                  <a:lnTo>
                    <a:pt x="173748" y="62865"/>
                  </a:lnTo>
                  <a:lnTo>
                    <a:pt x="155079" y="60960"/>
                  </a:lnTo>
                  <a:lnTo>
                    <a:pt x="155079" y="132461"/>
                  </a:lnTo>
                  <a:lnTo>
                    <a:pt x="126631" y="132461"/>
                  </a:lnTo>
                  <a:lnTo>
                    <a:pt x="126631" y="60960"/>
                  </a:lnTo>
                  <a:lnTo>
                    <a:pt x="106692" y="62865"/>
                  </a:lnTo>
                  <a:lnTo>
                    <a:pt x="63246" y="78105"/>
                  </a:lnTo>
                  <a:lnTo>
                    <a:pt x="32270" y="104902"/>
                  </a:lnTo>
                  <a:lnTo>
                    <a:pt x="18681" y="132461"/>
                  </a:lnTo>
                  <a:lnTo>
                    <a:pt x="0" y="132461"/>
                  </a:lnTo>
                  <a:lnTo>
                    <a:pt x="0" y="155448"/>
                  </a:lnTo>
                  <a:lnTo>
                    <a:pt x="280428" y="155448"/>
                  </a:lnTo>
                  <a:lnTo>
                    <a:pt x="280428" y="132461"/>
                  </a:lnTo>
                  <a:close/>
                </a:path>
              </a:pathLst>
            </a:custGeom>
            <a:solidFill>
              <a:srgbClr val="FFE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589775" y="3182111"/>
              <a:ext cx="249935" cy="201168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2035810" y="4287723"/>
            <a:ext cx="5116830" cy="664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solidFill>
                  <a:srgbClr val="FFEFE2"/>
                </a:solidFill>
                <a:latin typeface="Arial MT"/>
                <a:cs typeface="Arial MT"/>
              </a:rPr>
              <a:t>INSIGHTS</a:t>
            </a:r>
            <a:endParaRPr sz="1400">
              <a:latin typeface="Arial MT"/>
              <a:cs typeface="Arial MT"/>
            </a:endParaRPr>
          </a:p>
          <a:p>
            <a:pPr marL="299085" marR="5080" indent="-287020">
              <a:lnSpc>
                <a:spcPct val="100000"/>
              </a:lnSpc>
              <a:buClr>
                <a:srgbClr val="000000"/>
              </a:buClr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FFEFE2"/>
                </a:solidFill>
                <a:latin typeface="Arial MT"/>
                <a:cs typeface="Arial MT"/>
              </a:rPr>
              <a:t>The</a:t>
            </a:r>
            <a:r>
              <a:rPr sz="1400" spc="-6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EFE2"/>
                </a:solidFill>
                <a:latin typeface="Arial MT"/>
                <a:cs typeface="Arial MT"/>
              </a:rPr>
              <a:t>Company</a:t>
            </a:r>
            <a:r>
              <a:rPr sz="1400" spc="-4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EFE2"/>
                </a:solidFill>
                <a:latin typeface="Arial MT"/>
                <a:cs typeface="Arial MT"/>
              </a:rPr>
              <a:t>has</a:t>
            </a:r>
            <a:r>
              <a:rPr sz="1400" spc="-4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EFE2"/>
                </a:solidFill>
                <a:latin typeface="Arial MT"/>
                <a:cs typeface="Arial MT"/>
              </a:rPr>
              <a:t>9</a:t>
            </a:r>
            <a:r>
              <a:rPr sz="1400" spc="-4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EFE2"/>
                </a:solidFill>
                <a:latin typeface="Arial MT"/>
                <a:cs typeface="Arial MT"/>
              </a:rPr>
              <a:t>product</a:t>
            </a:r>
            <a:r>
              <a:rPr sz="1400" spc="-4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EFE2"/>
                </a:solidFill>
                <a:latin typeface="Arial MT"/>
                <a:cs typeface="Arial MT"/>
              </a:rPr>
              <a:t>category that</a:t>
            </a:r>
            <a:r>
              <a:rPr sz="1400" spc="-4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EFE2"/>
                </a:solidFill>
                <a:latin typeface="Arial MT"/>
                <a:cs typeface="Arial MT"/>
              </a:rPr>
              <a:t>are</a:t>
            </a:r>
            <a:r>
              <a:rPr sz="1400" spc="-4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EFE2"/>
                </a:solidFill>
                <a:latin typeface="Arial MT"/>
                <a:cs typeface="Arial MT"/>
              </a:rPr>
              <a:t>divided</a:t>
            </a:r>
            <a:r>
              <a:rPr sz="1400" spc="-4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EFE2"/>
                </a:solidFill>
                <a:latin typeface="Arial MT"/>
                <a:cs typeface="Arial MT"/>
              </a:rPr>
              <a:t>into</a:t>
            </a:r>
            <a:r>
              <a:rPr sz="1400" spc="-4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EFE2"/>
                </a:solidFill>
                <a:latin typeface="Arial MT"/>
                <a:cs typeface="Arial MT"/>
              </a:rPr>
              <a:t>80 </a:t>
            </a:r>
            <a:r>
              <a:rPr sz="1400" dirty="0">
                <a:solidFill>
                  <a:srgbClr val="FFEFE2"/>
                </a:solidFill>
                <a:latin typeface="Arial MT"/>
                <a:cs typeface="Arial MT"/>
              </a:rPr>
              <a:t>product</a:t>
            </a:r>
            <a:r>
              <a:rPr sz="1400" spc="-3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EFE2"/>
                </a:solidFill>
                <a:latin typeface="Arial MT"/>
                <a:cs typeface="Arial MT"/>
              </a:rPr>
              <a:t>details</a:t>
            </a:r>
            <a:r>
              <a:rPr sz="1400" spc="-5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EFE2"/>
                </a:solidFill>
                <a:latin typeface="Arial MT"/>
                <a:cs typeface="Arial MT"/>
              </a:rPr>
              <a:t>and</a:t>
            </a:r>
            <a:r>
              <a:rPr sz="1400" spc="-5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EFE2"/>
                </a:solidFill>
                <a:latin typeface="Arial MT"/>
                <a:cs typeface="Arial MT"/>
              </a:rPr>
              <a:t>29</a:t>
            </a:r>
            <a:r>
              <a:rPr sz="1400" spc="-5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EFE2"/>
                </a:solidFill>
                <a:latin typeface="Arial MT"/>
                <a:cs typeface="Arial MT"/>
              </a:rPr>
              <a:t>product</a:t>
            </a:r>
            <a:r>
              <a:rPr sz="1400" spc="-2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FEFE2"/>
                </a:solidFill>
                <a:latin typeface="Arial MT"/>
                <a:cs typeface="Arial MT"/>
              </a:rPr>
              <a:t>type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017261"/>
            <a:ext cx="1529715" cy="11277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053839"/>
            <a:ext cx="1429512" cy="109118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0"/>
            <a:ext cx="7743190" cy="1551305"/>
            <a:chOff x="0" y="0"/>
            <a:chExt cx="7743190" cy="155130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435227" cy="15510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37718"/>
              <a:ext cx="1334961" cy="137779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7968" y="76199"/>
              <a:ext cx="6475222" cy="140347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43303" y="189433"/>
            <a:ext cx="57308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0250" marR="5080" indent="-1988185"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Sales</a:t>
            </a:r>
            <a:r>
              <a:rPr spc="-30" dirty="0"/>
              <a:t> </a:t>
            </a:r>
            <a:r>
              <a:rPr spc="145" dirty="0"/>
              <a:t>performance</a:t>
            </a:r>
            <a:r>
              <a:rPr spc="10" dirty="0"/>
              <a:t> </a:t>
            </a:r>
            <a:r>
              <a:rPr spc="130" dirty="0"/>
              <a:t>by</a:t>
            </a:r>
            <a:r>
              <a:rPr spc="-30" dirty="0"/>
              <a:t> </a:t>
            </a:r>
            <a:r>
              <a:rPr spc="120" dirty="0"/>
              <a:t>product </a:t>
            </a:r>
            <a:r>
              <a:rPr spc="150" dirty="0"/>
              <a:t>Category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7693152" y="4056886"/>
            <a:ext cx="1450975" cy="1088390"/>
            <a:chOff x="7693152" y="4056886"/>
            <a:chExt cx="1450975" cy="108839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93152" y="4056886"/>
              <a:ext cx="1450848" cy="108813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64678" y="4096130"/>
              <a:ext cx="1379321" cy="1048893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2478023" y="91439"/>
            <a:ext cx="6666230" cy="4198620"/>
            <a:chOff x="2478023" y="91439"/>
            <a:chExt cx="6666230" cy="4198620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03591" y="91439"/>
              <a:ext cx="1740407" cy="229476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76744" y="128015"/>
              <a:ext cx="1572768" cy="212140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09415" y="1816633"/>
              <a:ext cx="842632" cy="12419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09415" y="2136673"/>
              <a:ext cx="946264" cy="92186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29583" y="2246337"/>
              <a:ext cx="1424813" cy="20435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08959" y="3047999"/>
              <a:ext cx="610958" cy="122969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81655" y="3047999"/>
              <a:ext cx="1138237" cy="108643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45079" y="3048012"/>
              <a:ext cx="1174813" cy="50430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11551" y="3047999"/>
              <a:ext cx="1211579" cy="4191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502407" y="3047999"/>
              <a:ext cx="1220723" cy="30022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78023" y="1816607"/>
              <a:ext cx="1241869" cy="147967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164329" y="1467611"/>
              <a:ext cx="582930" cy="439420"/>
            </a:xfrm>
            <a:custGeom>
              <a:avLst/>
              <a:gdLst/>
              <a:ahLst/>
              <a:cxnLst/>
              <a:rect l="l" t="t" r="r" b="b"/>
              <a:pathLst>
                <a:path w="582929" h="439419">
                  <a:moveTo>
                    <a:pt x="582930" y="0"/>
                  </a:moveTo>
                  <a:lnTo>
                    <a:pt x="28194" y="0"/>
                  </a:lnTo>
                  <a:lnTo>
                    <a:pt x="28194" y="393191"/>
                  </a:lnTo>
                  <a:lnTo>
                    <a:pt x="120650" y="393191"/>
                  </a:lnTo>
                  <a:lnTo>
                    <a:pt x="0" y="439419"/>
                  </a:lnTo>
                  <a:lnTo>
                    <a:pt x="259334" y="393191"/>
                  </a:lnTo>
                  <a:lnTo>
                    <a:pt x="582930" y="393191"/>
                  </a:lnTo>
                  <a:lnTo>
                    <a:pt x="5829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164329" y="1467611"/>
              <a:ext cx="582930" cy="439420"/>
            </a:xfrm>
            <a:custGeom>
              <a:avLst/>
              <a:gdLst/>
              <a:ahLst/>
              <a:cxnLst/>
              <a:rect l="l" t="t" r="r" b="b"/>
              <a:pathLst>
                <a:path w="582929" h="439419">
                  <a:moveTo>
                    <a:pt x="28194" y="0"/>
                  </a:moveTo>
                  <a:lnTo>
                    <a:pt x="120650" y="0"/>
                  </a:lnTo>
                  <a:lnTo>
                    <a:pt x="259334" y="0"/>
                  </a:lnTo>
                  <a:lnTo>
                    <a:pt x="582930" y="0"/>
                  </a:lnTo>
                  <a:lnTo>
                    <a:pt x="582930" y="229362"/>
                  </a:lnTo>
                  <a:lnTo>
                    <a:pt x="582930" y="327660"/>
                  </a:lnTo>
                  <a:lnTo>
                    <a:pt x="582930" y="393191"/>
                  </a:lnTo>
                  <a:lnTo>
                    <a:pt x="259334" y="393191"/>
                  </a:lnTo>
                  <a:lnTo>
                    <a:pt x="0" y="439419"/>
                  </a:lnTo>
                  <a:lnTo>
                    <a:pt x="120650" y="393191"/>
                  </a:lnTo>
                  <a:lnTo>
                    <a:pt x="28194" y="393191"/>
                  </a:lnTo>
                  <a:lnTo>
                    <a:pt x="28194" y="327660"/>
                  </a:lnTo>
                  <a:lnTo>
                    <a:pt x="28194" y="229362"/>
                  </a:lnTo>
                  <a:lnTo>
                    <a:pt x="28194" y="0"/>
                  </a:lnTo>
                  <a:close/>
                </a:path>
              </a:pathLst>
            </a:custGeom>
            <a:ln w="9143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602733" y="1967483"/>
              <a:ext cx="1031875" cy="393700"/>
            </a:xfrm>
            <a:custGeom>
              <a:avLst/>
              <a:gdLst/>
              <a:ahLst/>
              <a:cxnLst/>
              <a:rect l="l" t="t" r="r" b="b"/>
              <a:pathLst>
                <a:path w="1031875" h="393700">
                  <a:moveTo>
                    <a:pt x="1031493" y="0"/>
                  </a:moveTo>
                  <a:lnTo>
                    <a:pt x="373125" y="0"/>
                  </a:lnTo>
                  <a:lnTo>
                    <a:pt x="373125" y="229362"/>
                  </a:lnTo>
                  <a:lnTo>
                    <a:pt x="0" y="230123"/>
                  </a:lnTo>
                  <a:lnTo>
                    <a:pt x="373125" y="327659"/>
                  </a:lnTo>
                  <a:lnTo>
                    <a:pt x="373125" y="393191"/>
                  </a:lnTo>
                  <a:lnTo>
                    <a:pt x="1031493" y="393191"/>
                  </a:lnTo>
                  <a:lnTo>
                    <a:pt x="10314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602733" y="1967483"/>
              <a:ext cx="1031875" cy="393700"/>
            </a:xfrm>
            <a:custGeom>
              <a:avLst/>
              <a:gdLst/>
              <a:ahLst/>
              <a:cxnLst/>
              <a:rect l="l" t="t" r="r" b="b"/>
              <a:pathLst>
                <a:path w="1031875" h="393700">
                  <a:moveTo>
                    <a:pt x="373125" y="0"/>
                  </a:moveTo>
                  <a:lnTo>
                    <a:pt x="482853" y="0"/>
                  </a:lnTo>
                  <a:lnTo>
                    <a:pt x="647445" y="0"/>
                  </a:lnTo>
                  <a:lnTo>
                    <a:pt x="1031493" y="0"/>
                  </a:lnTo>
                  <a:lnTo>
                    <a:pt x="1031493" y="229362"/>
                  </a:lnTo>
                  <a:lnTo>
                    <a:pt x="1031493" y="327659"/>
                  </a:lnTo>
                  <a:lnTo>
                    <a:pt x="1031493" y="393191"/>
                  </a:lnTo>
                  <a:lnTo>
                    <a:pt x="647445" y="393191"/>
                  </a:lnTo>
                  <a:lnTo>
                    <a:pt x="482853" y="393191"/>
                  </a:lnTo>
                  <a:lnTo>
                    <a:pt x="373125" y="393191"/>
                  </a:lnTo>
                  <a:lnTo>
                    <a:pt x="373125" y="327659"/>
                  </a:lnTo>
                  <a:lnTo>
                    <a:pt x="0" y="230123"/>
                  </a:lnTo>
                  <a:lnTo>
                    <a:pt x="373125" y="229362"/>
                  </a:lnTo>
                  <a:lnTo>
                    <a:pt x="373125" y="0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003038" y="1968830"/>
            <a:ext cx="603885" cy="382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405"/>
              </a:lnSpc>
              <a:spcBef>
                <a:spcPts val="100"/>
              </a:spcBef>
            </a:pPr>
            <a:r>
              <a:rPr sz="1200" spc="-10" dirty="0">
                <a:solidFill>
                  <a:srgbClr val="845034"/>
                </a:solidFill>
                <a:latin typeface="Arial MT"/>
                <a:cs typeface="Arial MT"/>
              </a:rPr>
              <a:t>Branded</a:t>
            </a:r>
            <a:endParaRPr sz="1200">
              <a:latin typeface="Arial MT"/>
              <a:cs typeface="Arial MT"/>
            </a:endParaRPr>
          </a:p>
          <a:p>
            <a:pPr marL="2540" algn="ctr">
              <a:lnSpc>
                <a:spcPts val="1405"/>
              </a:lnSpc>
            </a:pPr>
            <a:r>
              <a:rPr sz="1200" spc="-25" dirty="0">
                <a:solidFill>
                  <a:srgbClr val="845034"/>
                </a:solidFill>
                <a:latin typeface="Arial MT"/>
                <a:cs typeface="Arial MT"/>
              </a:rPr>
              <a:t>2%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92027" y="3584257"/>
            <a:ext cx="600075" cy="400050"/>
            <a:chOff x="4792027" y="3584257"/>
            <a:chExt cx="600075" cy="400050"/>
          </a:xfrm>
        </p:grpSpPr>
        <p:sp>
          <p:nvSpPr>
            <p:cNvPr id="30" name="object 30"/>
            <p:cNvSpPr/>
            <p:nvPr/>
          </p:nvSpPr>
          <p:spPr>
            <a:xfrm>
              <a:off x="4797406" y="3652774"/>
              <a:ext cx="36830" cy="1270"/>
            </a:xfrm>
            <a:custGeom>
              <a:avLst/>
              <a:gdLst/>
              <a:ahLst/>
              <a:cxnLst/>
              <a:rect l="l" t="t" r="r" b="b"/>
              <a:pathLst>
                <a:path w="36829" h="1270">
                  <a:moveTo>
                    <a:pt x="0" y="1269"/>
                  </a:moveTo>
                  <a:lnTo>
                    <a:pt x="36428" y="1269"/>
                  </a:lnTo>
                  <a:lnTo>
                    <a:pt x="36428" y="0"/>
                  </a:lnTo>
                  <a:lnTo>
                    <a:pt x="0" y="0"/>
                  </a:lnTo>
                  <a:lnTo>
                    <a:pt x="0" y="12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96790" y="3589020"/>
              <a:ext cx="590550" cy="390525"/>
            </a:xfrm>
            <a:custGeom>
              <a:avLst/>
              <a:gdLst/>
              <a:ahLst/>
              <a:cxnLst/>
              <a:rect l="l" t="t" r="r" b="b"/>
              <a:pathLst>
                <a:path w="590550" h="390525">
                  <a:moveTo>
                    <a:pt x="60198" y="0"/>
                  </a:moveTo>
                  <a:lnTo>
                    <a:pt x="148589" y="0"/>
                  </a:lnTo>
                  <a:lnTo>
                    <a:pt x="281177" y="0"/>
                  </a:lnTo>
                  <a:lnTo>
                    <a:pt x="590550" y="0"/>
                  </a:lnTo>
                  <a:lnTo>
                    <a:pt x="590550" y="65023"/>
                  </a:lnTo>
                  <a:lnTo>
                    <a:pt x="590550" y="162559"/>
                  </a:lnTo>
                  <a:lnTo>
                    <a:pt x="590550" y="390143"/>
                  </a:lnTo>
                  <a:lnTo>
                    <a:pt x="281177" y="390143"/>
                  </a:lnTo>
                  <a:lnTo>
                    <a:pt x="148589" y="390143"/>
                  </a:lnTo>
                  <a:lnTo>
                    <a:pt x="60198" y="390143"/>
                  </a:lnTo>
                  <a:lnTo>
                    <a:pt x="60198" y="162559"/>
                  </a:lnTo>
                  <a:lnTo>
                    <a:pt x="0" y="63372"/>
                  </a:lnTo>
                  <a:lnTo>
                    <a:pt x="60198" y="65023"/>
                  </a:lnTo>
                  <a:lnTo>
                    <a:pt x="60198" y="0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856988" y="3589273"/>
            <a:ext cx="530860" cy="2019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33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05"/>
              </a:spcBef>
            </a:pPr>
            <a:r>
              <a:rPr sz="1200" spc="-10" dirty="0">
                <a:solidFill>
                  <a:srgbClr val="845034"/>
                </a:solidFill>
                <a:latin typeface="Arial MT"/>
                <a:cs typeface="Arial MT"/>
              </a:rPr>
              <a:t>Coffee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56988" y="3790908"/>
            <a:ext cx="530860" cy="1885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12395">
              <a:lnSpc>
                <a:spcPts val="1325"/>
              </a:lnSpc>
            </a:pPr>
            <a:r>
              <a:rPr sz="1200" spc="-25" dirty="0">
                <a:solidFill>
                  <a:srgbClr val="845034"/>
                </a:solidFill>
                <a:latin typeface="Arial MT"/>
                <a:cs typeface="Arial MT"/>
              </a:rPr>
              <a:t>39%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315525" y="4215193"/>
            <a:ext cx="2375535" cy="403225"/>
            <a:chOff x="3315525" y="4215193"/>
            <a:chExt cx="2375535" cy="403225"/>
          </a:xfrm>
        </p:grpSpPr>
        <p:sp>
          <p:nvSpPr>
            <p:cNvPr id="35" name="object 35"/>
            <p:cNvSpPr/>
            <p:nvPr/>
          </p:nvSpPr>
          <p:spPr>
            <a:xfrm>
              <a:off x="3320288" y="4219955"/>
              <a:ext cx="2366010" cy="393700"/>
            </a:xfrm>
            <a:custGeom>
              <a:avLst/>
              <a:gdLst/>
              <a:ahLst/>
              <a:cxnLst/>
              <a:rect l="l" t="t" r="r" b="b"/>
              <a:pathLst>
                <a:path w="2366010" h="393700">
                  <a:moveTo>
                    <a:pt x="2365756" y="0"/>
                  </a:moveTo>
                  <a:lnTo>
                    <a:pt x="1375156" y="0"/>
                  </a:lnTo>
                  <a:lnTo>
                    <a:pt x="1375156" y="65532"/>
                  </a:lnTo>
                  <a:lnTo>
                    <a:pt x="0" y="1638"/>
                  </a:lnTo>
                  <a:lnTo>
                    <a:pt x="1375156" y="163830"/>
                  </a:lnTo>
                  <a:lnTo>
                    <a:pt x="1375156" y="393192"/>
                  </a:lnTo>
                  <a:lnTo>
                    <a:pt x="2365756" y="393192"/>
                  </a:lnTo>
                  <a:lnTo>
                    <a:pt x="23657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20288" y="4219955"/>
              <a:ext cx="2366010" cy="393700"/>
            </a:xfrm>
            <a:custGeom>
              <a:avLst/>
              <a:gdLst/>
              <a:ahLst/>
              <a:cxnLst/>
              <a:rect l="l" t="t" r="r" b="b"/>
              <a:pathLst>
                <a:path w="2366010" h="393700">
                  <a:moveTo>
                    <a:pt x="1375156" y="0"/>
                  </a:moveTo>
                  <a:lnTo>
                    <a:pt x="1540256" y="0"/>
                  </a:lnTo>
                  <a:lnTo>
                    <a:pt x="1787906" y="0"/>
                  </a:lnTo>
                  <a:lnTo>
                    <a:pt x="2365756" y="0"/>
                  </a:lnTo>
                  <a:lnTo>
                    <a:pt x="2365756" y="65532"/>
                  </a:lnTo>
                  <a:lnTo>
                    <a:pt x="2365756" y="163830"/>
                  </a:lnTo>
                  <a:lnTo>
                    <a:pt x="2365756" y="393192"/>
                  </a:lnTo>
                  <a:lnTo>
                    <a:pt x="1787906" y="393192"/>
                  </a:lnTo>
                  <a:lnTo>
                    <a:pt x="1540256" y="393192"/>
                  </a:lnTo>
                  <a:lnTo>
                    <a:pt x="1375156" y="393192"/>
                  </a:lnTo>
                  <a:lnTo>
                    <a:pt x="1375156" y="163830"/>
                  </a:lnTo>
                  <a:lnTo>
                    <a:pt x="0" y="1638"/>
                  </a:lnTo>
                  <a:lnTo>
                    <a:pt x="1375156" y="65532"/>
                  </a:lnTo>
                  <a:lnTo>
                    <a:pt x="1375156" y="0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724780" y="4222495"/>
            <a:ext cx="932815" cy="382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405"/>
              </a:lnSpc>
              <a:spcBef>
                <a:spcPts val="100"/>
              </a:spcBef>
            </a:pPr>
            <a:r>
              <a:rPr sz="1200" dirty="0">
                <a:solidFill>
                  <a:srgbClr val="845034"/>
                </a:solidFill>
                <a:latin typeface="Arial MT"/>
                <a:cs typeface="Arial MT"/>
              </a:rPr>
              <a:t>Coffee</a:t>
            </a:r>
            <a:r>
              <a:rPr sz="1200" spc="-20" dirty="0">
                <a:solidFill>
                  <a:srgbClr val="845034"/>
                </a:solidFill>
                <a:latin typeface="Arial MT"/>
                <a:cs typeface="Arial MT"/>
              </a:rPr>
              <a:t> beans</a:t>
            </a:r>
            <a:endParaRPr sz="1200">
              <a:latin typeface="Arial MT"/>
              <a:cs typeface="Arial MT"/>
            </a:endParaRPr>
          </a:p>
          <a:p>
            <a:pPr marL="3810" algn="ctr">
              <a:lnSpc>
                <a:spcPts val="1405"/>
              </a:lnSpc>
            </a:pPr>
            <a:r>
              <a:rPr sz="1200" spc="-25" dirty="0">
                <a:solidFill>
                  <a:srgbClr val="845034"/>
                </a:solidFill>
                <a:latin typeface="Arial MT"/>
                <a:cs typeface="Arial MT"/>
              </a:rPr>
              <a:t>6%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404937" y="3881208"/>
            <a:ext cx="1403985" cy="721995"/>
            <a:chOff x="1404937" y="3881208"/>
            <a:chExt cx="1403985" cy="721995"/>
          </a:xfrm>
        </p:grpSpPr>
        <p:sp>
          <p:nvSpPr>
            <p:cNvPr id="39" name="object 39"/>
            <p:cNvSpPr/>
            <p:nvPr/>
          </p:nvSpPr>
          <p:spPr>
            <a:xfrm>
              <a:off x="1409700" y="3885971"/>
              <a:ext cx="1394460" cy="712470"/>
            </a:xfrm>
            <a:custGeom>
              <a:avLst/>
              <a:gdLst/>
              <a:ahLst/>
              <a:cxnLst/>
              <a:rect l="l" t="t" r="r" b="b"/>
              <a:pathLst>
                <a:path w="1394460" h="712470">
                  <a:moveTo>
                    <a:pt x="1394079" y="0"/>
                  </a:moveTo>
                  <a:lnTo>
                    <a:pt x="800100" y="321792"/>
                  </a:lnTo>
                  <a:lnTo>
                    <a:pt x="0" y="321792"/>
                  </a:lnTo>
                  <a:lnTo>
                    <a:pt x="0" y="711936"/>
                  </a:lnTo>
                  <a:lnTo>
                    <a:pt x="1371600" y="711936"/>
                  </a:lnTo>
                  <a:lnTo>
                    <a:pt x="1371600" y="321792"/>
                  </a:lnTo>
                  <a:lnTo>
                    <a:pt x="1143000" y="321792"/>
                  </a:lnTo>
                  <a:lnTo>
                    <a:pt x="13940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409700" y="3885971"/>
              <a:ext cx="1394460" cy="712470"/>
            </a:xfrm>
            <a:custGeom>
              <a:avLst/>
              <a:gdLst/>
              <a:ahLst/>
              <a:cxnLst/>
              <a:rect l="l" t="t" r="r" b="b"/>
              <a:pathLst>
                <a:path w="1394460" h="712470">
                  <a:moveTo>
                    <a:pt x="0" y="321792"/>
                  </a:moveTo>
                  <a:lnTo>
                    <a:pt x="800100" y="321792"/>
                  </a:lnTo>
                  <a:lnTo>
                    <a:pt x="1394079" y="0"/>
                  </a:lnTo>
                  <a:lnTo>
                    <a:pt x="1143000" y="321792"/>
                  </a:lnTo>
                  <a:lnTo>
                    <a:pt x="1371600" y="321792"/>
                  </a:lnTo>
                  <a:lnTo>
                    <a:pt x="1371600" y="386816"/>
                  </a:lnTo>
                  <a:lnTo>
                    <a:pt x="1371600" y="484352"/>
                  </a:lnTo>
                  <a:lnTo>
                    <a:pt x="1371600" y="711936"/>
                  </a:lnTo>
                  <a:lnTo>
                    <a:pt x="1143000" y="711936"/>
                  </a:lnTo>
                  <a:lnTo>
                    <a:pt x="800100" y="711936"/>
                  </a:lnTo>
                  <a:lnTo>
                    <a:pt x="0" y="711936"/>
                  </a:lnTo>
                  <a:lnTo>
                    <a:pt x="0" y="484352"/>
                  </a:lnTo>
                  <a:lnTo>
                    <a:pt x="0" y="386816"/>
                  </a:lnTo>
                  <a:lnTo>
                    <a:pt x="0" y="321792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437894" y="4207865"/>
            <a:ext cx="1316990" cy="382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405"/>
              </a:lnSpc>
              <a:spcBef>
                <a:spcPts val="100"/>
              </a:spcBef>
            </a:pPr>
            <a:r>
              <a:rPr sz="1200" dirty="0">
                <a:solidFill>
                  <a:srgbClr val="845034"/>
                </a:solidFill>
                <a:latin typeface="Arial MT"/>
                <a:cs typeface="Arial MT"/>
              </a:rPr>
              <a:t>Drinking</a:t>
            </a:r>
            <a:r>
              <a:rPr sz="1200" spc="-40" dirty="0">
                <a:solidFill>
                  <a:srgbClr val="84503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45034"/>
                </a:solidFill>
                <a:latin typeface="Arial MT"/>
                <a:cs typeface="Arial MT"/>
              </a:rPr>
              <a:t>Chocolate</a:t>
            </a:r>
            <a:endParaRPr sz="1200">
              <a:latin typeface="Arial MT"/>
              <a:cs typeface="Arial MT"/>
            </a:endParaRPr>
          </a:p>
          <a:p>
            <a:pPr marL="3810" algn="ctr">
              <a:lnSpc>
                <a:spcPts val="1405"/>
              </a:lnSpc>
            </a:pPr>
            <a:r>
              <a:rPr sz="1200" spc="-25" dirty="0">
                <a:solidFill>
                  <a:srgbClr val="845034"/>
                </a:solidFill>
                <a:latin typeface="Arial MT"/>
                <a:cs typeface="Arial MT"/>
              </a:rPr>
              <a:t>10%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203769" y="3471481"/>
            <a:ext cx="1370965" cy="400050"/>
            <a:chOff x="1203769" y="3471481"/>
            <a:chExt cx="1370965" cy="400050"/>
          </a:xfrm>
        </p:grpSpPr>
        <p:sp>
          <p:nvSpPr>
            <p:cNvPr id="43" name="object 43"/>
            <p:cNvSpPr/>
            <p:nvPr/>
          </p:nvSpPr>
          <p:spPr>
            <a:xfrm>
              <a:off x="1208532" y="3476244"/>
              <a:ext cx="1361440" cy="390525"/>
            </a:xfrm>
            <a:custGeom>
              <a:avLst/>
              <a:gdLst/>
              <a:ahLst/>
              <a:cxnLst/>
              <a:rect l="l" t="t" r="r" b="b"/>
              <a:pathLst>
                <a:path w="1361439" h="390525">
                  <a:moveTo>
                    <a:pt x="664463" y="0"/>
                  </a:moveTo>
                  <a:lnTo>
                    <a:pt x="0" y="0"/>
                  </a:lnTo>
                  <a:lnTo>
                    <a:pt x="0" y="390143"/>
                  </a:lnTo>
                  <a:lnTo>
                    <a:pt x="664463" y="390143"/>
                  </a:lnTo>
                  <a:lnTo>
                    <a:pt x="664463" y="162559"/>
                  </a:lnTo>
                  <a:lnTo>
                    <a:pt x="1361186" y="29971"/>
                  </a:lnTo>
                  <a:lnTo>
                    <a:pt x="664463" y="65023"/>
                  </a:lnTo>
                  <a:lnTo>
                    <a:pt x="6644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208532" y="3476244"/>
              <a:ext cx="1361440" cy="390525"/>
            </a:xfrm>
            <a:custGeom>
              <a:avLst/>
              <a:gdLst/>
              <a:ahLst/>
              <a:cxnLst/>
              <a:rect l="l" t="t" r="r" b="b"/>
              <a:pathLst>
                <a:path w="1361439" h="390525">
                  <a:moveTo>
                    <a:pt x="0" y="0"/>
                  </a:moveTo>
                  <a:lnTo>
                    <a:pt x="387604" y="0"/>
                  </a:lnTo>
                  <a:lnTo>
                    <a:pt x="553719" y="0"/>
                  </a:lnTo>
                  <a:lnTo>
                    <a:pt x="664463" y="0"/>
                  </a:lnTo>
                  <a:lnTo>
                    <a:pt x="664463" y="65023"/>
                  </a:lnTo>
                  <a:lnTo>
                    <a:pt x="1361186" y="29971"/>
                  </a:lnTo>
                  <a:lnTo>
                    <a:pt x="664463" y="162559"/>
                  </a:lnTo>
                  <a:lnTo>
                    <a:pt x="664463" y="390143"/>
                  </a:lnTo>
                  <a:lnTo>
                    <a:pt x="553719" y="390143"/>
                  </a:lnTo>
                  <a:lnTo>
                    <a:pt x="387604" y="390143"/>
                  </a:lnTo>
                  <a:lnTo>
                    <a:pt x="0" y="390143"/>
                  </a:lnTo>
                  <a:lnTo>
                    <a:pt x="0" y="162559"/>
                  </a:lnTo>
                  <a:lnTo>
                    <a:pt x="0" y="65023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233017" y="3476370"/>
            <a:ext cx="615950" cy="382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405"/>
              </a:lnSpc>
              <a:spcBef>
                <a:spcPts val="100"/>
              </a:spcBef>
            </a:pPr>
            <a:r>
              <a:rPr sz="1200" spc="-10" dirty="0">
                <a:solidFill>
                  <a:srgbClr val="845034"/>
                </a:solidFill>
                <a:latin typeface="Arial MT"/>
                <a:cs typeface="Arial MT"/>
              </a:rPr>
              <a:t>Flavours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ts val="1405"/>
              </a:lnSpc>
            </a:pPr>
            <a:r>
              <a:rPr sz="1200" spc="-25" dirty="0">
                <a:solidFill>
                  <a:srgbClr val="845034"/>
                </a:solidFill>
                <a:latin typeface="Arial MT"/>
                <a:cs typeface="Arial MT"/>
              </a:rPr>
              <a:t>1%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164145" y="3014281"/>
            <a:ext cx="1374775" cy="400050"/>
            <a:chOff x="1164145" y="3014281"/>
            <a:chExt cx="1374775" cy="400050"/>
          </a:xfrm>
        </p:grpSpPr>
        <p:sp>
          <p:nvSpPr>
            <p:cNvPr id="47" name="object 47"/>
            <p:cNvSpPr/>
            <p:nvPr/>
          </p:nvSpPr>
          <p:spPr>
            <a:xfrm>
              <a:off x="1168908" y="3019044"/>
              <a:ext cx="1365250" cy="390525"/>
            </a:xfrm>
            <a:custGeom>
              <a:avLst/>
              <a:gdLst/>
              <a:ahLst/>
              <a:cxnLst/>
              <a:rect l="l" t="t" r="r" b="b"/>
              <a:pathLst>
                <a:path w="1365250" h="390525">
                  <a:moveTo>
                    <a:pt x="801623" y="0"/>
                  </a:moveTo>
                  <a:lnTo>
                    <a:pt x="0" y="0"/>
                  </a:lnTo>
                  <a:lnTo>
                    <a:pt x="0" y="390144"/>
                  </a:lnTo>
                  <a:lnTo>
                    <a:pt x="801623" y="390144"/>
                  </a:lnTo>
                  <a:lnTo>
                    <a:pt x="801623" y="325119"/>
                  </a:lnTo>
                  <a:lnTo>
                    <a:pt x="1365249" y="383413"/>
                  </a:lnTo>
                  <a:lnTo>
                    <a:pt x="801623" y="227584"/>
                  </a:lnTo>
                  <a:lnTo>
                    <a:pt x="8016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168908" y="3019044"/>
              <a:ext cx="1365250" cy="390525"/>
            </a:xfrm>
            <a:custGeom>
              <a:avLst/>
              <a:gdLst/>
              <a:ahLst/>
              <a:cxnLst/>
              <a:rect l="l" t="t" r="r" b="b"/>
              <a:pathLst>
                <a:path w="1365250" h="390525">
                  <a:moveTo>
                    <a:pt x="0" y="0"/>
                  </a:moveTo>
                  <a:lnTo>
                    <a:pt x="467614" y="0"/>
                  </a:lnTo>
                  <a:lnTo>
                    <a:pt x="668019" y="0"/>
                  </a:lnTo>
                  <a:lnTo>
                    <a:pt x="801623" y="0"/>
                  </a:lnTo>
                  <a:lnTo>
                    <a:pt x="801623" y="227584"/>
                  </a:lnTo>
                  <a:lnTo>
                    <a:pt x="1365249" y="383413"/>
                  </a:lnTo>
                  <a:lnTo>
                    <a:pt x="801623" y="325119"/>
                  </a:lnTo>
                  <a:lnTo>
                    <a:pt x="801623" y="390144"/>
                  </a:lnTo>
                  <a:lnTo>
                    <a:pt x="668019" y="390144"/>
                  </a:lnTo>
                  <a:lnTo>
                    <a:pt x="467614" y="390144"/>
                  </a:lnTo>
                  <a:lnTo>
                    <a:pt x="0" y="390144"/>
                  </a:lnTo>
                  <a:lnTo>
                    <a:pt x="0" y="325119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1194917" y="3018789"/>
            <a:ext cx="746760" cy="38227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65430" marR="5080" indent="-253365">
              <a:lnSpc>
                <a:spcPts val="1370"/>
              </a:lnSpc>
              <a:spcBef>
                <a:spcPts val="200"/>
              </a:spcBef>
            </a:pPr>
            <a:r>
              <a:rPr sz="1200" dirty="0">
                <a:solidFill>
                  <a:srgbClr val="845034"/>
                </a:solidFill>
                <a:latin typeface="Arial MT"/>
                <a:cs typeface="Arial MT"/>
              </a:rPr>
              <a:t>Loose</a:t>
            </a:r>
            <a:r>
              <a:rPr sz="1200" spc="-25" dirty="0">
                <a:solidFill>
                  <a:srgbClr val="845034"/>
                </a:solidFill>
                <a:latin typeface="Arial MT"/>
                <a:cs typeface="Arial MT"/>
              </a:rPr>
              <a:t> Tea 1%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78929" y="2426017"/>
            <a:ext cx="1938655" cy="901065"/>
            <a:chOff x="578929" y="2426017"/>
            <a:chExt cx="1938655" cy="901065"/>
          </a:xfrm>
        </p:grpSpPr>
        <p:sp>
          <p:nvSpPr>
            <p:cNvPr id="51" name="object 51"/>
            <p:cNvSpPr/>
            <p:nvPr/>
          </p:nvSpPr>
          <p:spPr>
            <a:xfrm>
              <a:off x="583691" y="2430779"/>
              <a:ext cx="1929130" cy="891540"/>
            </a:xfrm>
            <a:custGeom>
              <a:avLst/>
              <a:gdLst/>
              <a:ahLst/>
              <a:cxnLst/>
              <a:rect l="l" t="t" r="r" b="b"/>
              <a:pathLst>
                <a:path w="1929130" h="891539">
                  <a:moveTo>
                    <a:pt x="1493520" y="0"/>
                  </a:moveTo>
                  <a:lnTo>
                    <a:pt x="0" y="0"/>
                  </a:lnTo>
                  <a:lnTo>
                    <a:pt x="0" y="393192"/>
                  </a:lnTo>
                  <a:lnTo>
                    <a:pt x="871219" y="393192"/>
                  </a:lnTo>
                  <a:lnTo>
                    <a:pt x="1928876" y="891413"/>
                  </a:lnTo>
                  <a:lnTo>
                    <a:pt x="1244600" y="393192"/>
                  </a:lnTo>
                  <a:lnTo>
                    <a:pt x="1493520" y="393192"/>
                  </a:lnTo>
                  <a:lnTo>
                    <a:pt x="1493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83691" y="2430779"/>
              <a:ext cx="1929130" cy="891540"/>
            </a:xfrm>
            <a:custGeom>
              <a:avLst/>
              <a:gdLst/>
              <a:ahLst/>
              <a:cxnLst/>
              <a:rect l="l" t="t" r="r" b="b"/>
              <a:pathLst>
                <a:path w="1929130" h="891539">
                  <a:moveTo>
                    <a:pt x="0" y="0"/>
                  </a:moveTo>
                  <a:lnTo>
                    <a:pt x="871219" y="0"/>
                  </a:lnTo>
                  <a:lnTo>
                    <a:pt x="1244600" y="0"/>
                  </a:lnTo>
                  <a:lnTo>
                    <a:pt x="1493520" y="0"/>
                  </a:lnTo>
                  <a:lnTo>
                    <a:pt x="1493520" y="229362"/>
                  </a:lnTo>
                  <a:lnTo>
                    <a:pt x="1493520" y="327660"/>
                  </a:lnTo>
                  <a:lnTo>
                    <a:pt x="1493520" y="393192"/>
                  </a:lnTo>
                  <a:lnTo>
                    <a:pt x="1244600" y="393192"/>
                  </a:lnTo>
                  <a:lnTo>
                    <a:pt x="1928876" y="891413"/>
                  </a:lnTo>
                  <a:lnTo>
                    <a:pt x="871219" y="393192"/>
                  </a:lnTo>
                  <a:lnTo>
                    <a:pt x="0" y="393192"/>
                  </a:lnTo>
                  <a:lnTo>
                    <a:pt x="0" y="327660"/>
                  </a:lnTo>
                  <a:lnTo>
                    <a:pt x="0" y="229362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13968" y="2431795"/>
            <a:ext cx="1434465" cy="382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405"/>
              </a:lnSpc>
              <a:spcBef>
                <a:spcPts val="100"/>
              </a:spcBef>
            </a:pPr>
            <a:r>
              <a:rPr sz="1200" dirty="0">
                <a:solidFill>
                  <a:srgbClr val="845034"/>
                </a:solidFill>
                <a:latin typeface="Arial MT"/>
                <a:cs typeface="Arial MT"/>
              </a:rPr>
              <a:t>Packaged</a:t>
            </a:r>
            <a:r>
              <a:rPr sz="1200" spc="-40" dirty="0">
                <a:solidFill>
                  <a:srgbClr val="84503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45034"/>
                </a:solidFill>
                <a:latin typeface="Arial MT"/>
                <a:cs typeface="Arial MT"/>
              </a:rPr>
              <a:t>Chocolate</a:t>
            </a:r>
            <a:endParaRPr sz="1200">
              <a:latin typeface="Arial MT"/>
              <a:cs typeface="Arial MT"/>
            </a:endParaRPr>
          </a:p>
          <a:p>
            <a:pPr marL="1905" algn="ctr">
              <a:lnSpc>
                <a:spcPts val="1405"/>
              </a:lnSpc>
            </a:pPr>
            <a:r>
              <a:rPr sz="1200" spc="-25" dirty="0">
                <a:solidFill>
                  <a:srgbClr val="845034"/>
                </a:solidFill>
                <a:latin typeface="Arial MT"/>
                <a:cs typeface="Arial MT"/>
              </a:rPr>
              <a:t>1%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2325433" y="1880425"/>
            <a:ext cx="445770" cy="400050"/>
            <a:chOff x="2325433" y="1880425"/>
            <a:chExt cx="445770" cy="400050"/>
          </a:xfrm>
        </p:grpSpPr>
        <p:sp>
          <p:nvSpPr>
            <p:cNvPr id="55" name="object 55"/>
            <p:cNvSpPr/>
            <p:nvPr/>
          </p:nvSpPr>
          <p:spPr>
            <a:xfrm>
              <a:off x="2330195" y="1885188"/>
              <a:ext cx="436245" cy="390525"/>
            </a:xfrm>
            <a:custGeom>
              <a:avLst/>
              <a:gdLst/>
              <a:ahLst/>
              <a:cxnLst/>
              <a:rect l="l" t="t" r="r" b="b"/>
              <a:pathLst>
                <a:path w="436244" h="390525">
                  <a:moveTo>
                    <a:pt x="384048" y="0"/>
                  </a:moveTo>
                  <a:lnTo>
                    <a:pt x="0" y="0"/>
                  </a:lnTo>
                  <a:lnTo>
                    <a:pt x="0" y="390144"/>
                  </a:lnTo>
                  <a:lnTo>
                    <a:pt x="384048" y="390144"/>
                  </a:lnTo>
                  <a:lnTo>
                    <a:pt x="384048" y="325119"/>
                  </a:lnTo>
                  <a:lnTo>
                    <a:pt x="436245" y="386588"/>
                  </a:lnTo>
                  <a:lnTo>
                    <a:pt x="384048" y="227584"/>
                  </a:lnTo>
                  <a:lnTo>
                    <a:pt x="3840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30195" y="1885188"/>
              <a:ext cx="436245" cy="390525"/>
            </a:xfrm>
            <a:custGeom>
              <a:avLst/>
              <a:gdLst/>
              <a:ahLst/>
              <a:cxnLst/>
              <a:rect l="l" t="t" r="r" b="b"/>
              <a:pathLst>
                <a:path w="436244" h="390525">
                  <a:moveTo>
                    <a:pt x="0" y="0"/>
                  </a:moveTo>
                  <a:lnTo>
                    <a:pt x="224028" y="0"/>
                  </a:lnTo>
                  <a:lnTo>
                    <a:pt x="320040" y="0"/>
                  </a:lnTo>
                  <a:lnTo>
                    <a:pt x="384048" y="0"/>
                  </a:lnTo>
                  <a:lnTo>
                    <a:pt x="384048" y="227584"/>
                  </a:lnTo>
                  <a:lnTo>
                    <a:pt x="436245" y="386588"/>
                  </a:lnTo>
                  <a:lnTo>
                    <a:pt x="384048" y="325119"/>
                  </a:lnTo>
                  <a:lnTo>
                    <a:pt x="384048" y="390144"/>
                  </a:lnTo>
                  <a:lnTo>
                    <a:pt x="320040" y="390144"/>
                  </a:lnTo>
                  <a:lnTo>
                    <a:pt x="224028" y="390144"/>
                  </a:lnTo>
                  <a:lnTo>
                    <a:pt x="0" y="390144"/>
                  </a:lnTo>
                  <a:lnTo>
                    <a:pt x="0" y="325119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FFF6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2355595" y="1885569"/>
            <a:ext cx="332740" cy="38227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20955">
              <a:lnSpc>
                <a:spcPts val="1370"/>
              </a:lnSpc>
              <a:spcBef>
                <a:spcPts val="200"/>
              </a:spcBef>
            </a:pPr>
            <a:r>
              <a:rPr sz="1200" spc="-25" dirty="0">
                <a:solidFill>
                  <a:srgbClr val="845034"/>
                </a:solidFill>
                <a:latin typeface="Arial MT"/>
                <a:cs typeface="Arial MT"/>
              </a:rPr>
              <a:t>Tea 28%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242310" y="1146611"/>
            <a:ext cx="2659380" cy="70485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850" b="1" spc="45" dirty="0">
                <a:solidFill>
                  <a:srgbClr val="FFE9D4"/>
                </a:solidFill>
                <a:latin typeface="Arial"/>
                <a:cs typeface="Arial"/>
              </a:rPr>
              <a:t>PRODUCT</a:t>
            </a:r>
            <a:r>
              <a:rPr sz="1850" b="1" spc="90" dirty="0">
                <a:solidFill>
                  <a:srgbClr val="FFE9D4"/>
                </a:solidFill>
                <a:latin typeface="Arial"/>
                <a:cs typeface="Arial"/>
              </a:rPr>
              <a:t> </a:t>
            </a:r>
            <a:r>
              <a:rPr sz="1850" b="1" spc="-10" dirty="0">
                <a:solidFill>
                  <a:srgbClr val="FFE9D4"/>
                </a:solidFill>
                <a:latin typeface="Arial"/>
                <a:cs typeface="Arial"/>
              </a:rPr>
              <a:t>CATEGORY</a:t>
            </a:r>
            <a:endParaRPr sz="1850">
              <a:latin typeface="Arial"/>
              <a:cs typeface="Arial"/>
            </a:endParaRPr>
          </a:p>
          <a:p>
            <a:pPr marR="196850" algn="ctr">
              <a:lnSpc>
                <a:spcPts val="1405"/>
              </a:lnSpc>
              <a:spcBef>
                <a:spcPts val="120"/>
              </a:spcBef>
            </a:pPr>
            <a:r>
              <a:rPr sz="1200" spc="-10" dirty="0">
                <a:solidFill>
                  <a:srgbClr val="845034"/>
                </a:solidFill>
                <a:latin typeface="Arial MT"/>
                <a:cs typeface="Arial MT"/>
              </a:rPr>
              <a:t>Bakery</a:t>
            </a:r>
            <a:endParaRPr sz="1200">
              <a:latin typeface="Arial MT"/>
              <a:cs typeface="Arial MT"/>
            </a:endParaRPr>
          </a:p>
          <a:p>
            <a:pPr marR="194945" algn="ctr">
              <a:lnSpc>
                <a:spcPts val="1405"/>
              </a:lnSpc>
            </a:pPr>
            <a:r>
              <a:rPr sz="1200" spc="-25" dirty="0">
                <a:solidFill>
                  <a:srgbClr val="845034"/>
                </a:solidFill>
                <a:latin typeface="Arial MT"/>
                <a:cs typeface="Arial MT"/>
              </a:rPr>
              <a:t>12%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174992" y="2319527"/>
            <a:ext cx="90170" cy="2044064"/>
            <a:chOff x="7174992" y="2319527"/>
            <a:chExt cx="90170" cy="2044064"/>
          </a:xfrm>
        </p:grpSpPr>
        <p:pic>
          <p:nvPicPr>
            <p:cNvPr id="60" name="object 6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74992" y="2319527"/>
              <a:ext cx="89916" cy="89916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174992" y="2563368"/>
              <a:ext cx="89916" cy="89916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174992" y="2807208"/>
              <a:ext cx="89916" cy="89916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174992" y="3054095"/>
              <a:ext cx="89916" cy="89916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174992" y="3297936"/>
              <a:ext cx="89916" cy="8991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174992" y="3541775"/>
              <a:ext cx="89916" cy="8991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174992" y="3785616"/>
              <a:ext cx="89916" cy="8991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174992" y="4029455"/>
              <a:ext cx="89916" cy="8991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174992" y="4273295"/>
              <a:ext cx="89916" cy="89915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7283577" y="2188016"/>
            <a:ext cx="1426845" cy="222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1650">
              <a:lnSpc>
                <a:spcPct val="133700"/>
              </a:lnSpc>
              <a:spcBef>
                <a:spcPts val="100"/>
              </a:spcBef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Bakery Branded Coffee</a:t>
            </a:r>
            <a:r>
              <a:rPr sz="1200" spc="500" dirty="0">
                <a:solidFill>
                  <a:srgbClr val="FFE9D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9D4"/>
                </a:solidFill>
                <a:latin typeface="Arial MT"/>
                <a:cs typeface="Arial MT"/>
              </a:rPr>
              <a:t>Coffee</a:t>
            </a:r>
            <a:r>
              <a:rPr sz="1200" spc="-40" dirty="0">
                <a:solidFill>
                  <a:srgbClr val="FFE9D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beans</a:t>
            </a:r>
            <a:endParaRPr sz="1200">
              <a:latin typeface="Arial MT"/>
              <a:cs typeface="Arial MT"/>
            </a:endParaRPr>
          </a:p>
          <a:p>
            <a:pPr marL="12700" marR="120650">
              <a:lnSpc>
                <a:spcPct val="133700"/>
              </a:lnSpc>
            </a:pPr>
            <a:r>
              <a:rPr sz="1200" dirty="0">
                <a:solidFill>
                  <a:srgbClr val="FFE9D4"/>
                </a:solidFill>
                <a:latin typeface="Arial MT"/>
                <a:cs typeface="Arial MT"/>
              </a:rPr>
              <a:t>Drinking</a:t>
            </a:r>
            <a:r>
              <a:rPr sz="1200" spc="-35" dirty="0">
                <a:solidFill>
                  <a:srgbClr val="FFE9D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Chocolate Flavours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33700"/>
              </a:lnSpc>
            </a:pPr>
            <a:r>
              <a:rPr sz="1200" dirty="0">
                <a:solidFill>
                  <a:srgbClr val="FFE9D4"/>
                </a:solidFill>
                <a:latin typeface="Arial MT"/>
                <a:cs typeface="Arial MT"/>
              </a:rPr>
              <a:t>Loose</a:t>
            </a:r>
            <a:r>
              <a:rPr sz="1200" spc="-40" dirty="0">
                <a:solidFill>
                  <a:srgbClr val="FFE9D4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E9D4"/>
                </a:solidFill>
                <a:latin typeface="Arial MT"/>
                <a:cs typeface="Arial MT"/>
              </a:rPr>
              <a:t>Tea</a:t>
            </a:r>
            <a:r>
              <a:rPr sz="1200" spc="500" dirty="0">
                <a:solidFill>
                  <a:srgbClr val="FFE9D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9D4"/>
                </a:solidFill>
                <a:latin typeface="Arial MT"/>
                <a:cs typeface="Arial MT"/>
              </a:rPr>
              <a:t>Packaged</a:t>
            </a:r>
            <a:r>
              <a:rPr sz="1200" spc="-50" dirty="0">
                <a:solidFill>
                  <a:srgbClr val="FFE9D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Chocolate </a:t>
            </a:r>
            <a:r>
              <a:rPr sz="1200" spc="-25" dirty="0">
                <a:solidFill>
                  <a:srgbClr val="FFE9D4"/>
                </a:solidFill>
                <a:latin typeface="Arial MT"/>
                <a:cs typeface="Arial MT"/>
              </a:rPr>
              <a:t>Tea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551177" y="4722672"/>
            <a:ext cx="49218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7345" indent="-334645">
              <a:lnSpc>
                <a:spcPct val="100000"/>
              </a:lnSpc>
              <a:spcBef>
                <a:spcPts val="90"/>
              </a:spcBef>
              <a:buClr>
                <a:srgbClr val="000000"/>
              </a:buClr>
              <a:buChar char="•"/>
              <a:tabLst>
                <a:tab pos="347345" algn="l"/>
              </a:tabLst>
            </a:pP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coffee</a:t>
            </a:r>
            <a:r>
              <a:rPr sz="1400" spc="-2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generates</a:t>
            </a:r>
            <a:r>
              <a:rPr sz="1400" spc="-1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more</a:t>
            </a:r>
            <a:r>
              <a:rPr sz="1400" spc="-3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revenue</a:t>
            </a:r>
            <a:r>
              <a:rPr sz="1400" spc="-2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for</a:t>
            </a:r>
            <a:r>
              <a:rPr sz="1400" spc="-6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the</a:t>
            </a:r>
            <a:r>
              <a:rPr sz="1400" spc="-4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company</a:t>
            </a:r>
            <a:r>
              <a:rPr sz="1400" spc="-3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with</a:t>
            </a:r>
            <a:r>
              <a:rPr sz="1400" spc="-25" dirty="0">
                <a:solidFill>
                  <a:srgbClr val="ECDAD0"/>
                </a:solidFill>
                <a:latin typeface="Arial MT"/>
                <a:cs typeface="Arial MT"/>
              </a:rPr>
              <a:t> 39%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9688" y="3264373"/>
            <a:ext cx="1734311" cy="18806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82840" y="3300983"/>
            <a:ext cx="1572768" cy="184403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79247"/>
            <a:ext cx="1048385" cy="1740535"/>
            <a:chOff x="0" y="79247"/>
            <a:chExt cx="1048385" cy="174053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79247"/>
              <a:ext cx="1048105" cy="17400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15823"/>
              <a:ext cx="947927" cy="1566672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674864" y="115862"/>
            <a:ext cx="1469390" cy="755650"/>
            <a:chOff x="7674864" y="115862"/>
            <a:chExt cx="1469390" cy="75565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74864" y="115862"/>
              <a:ext cx="1469135" cy="75548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48016" y="152399"/>
              <a:ext cx="1365503" cy="582168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0" y="4373879"/>
            <a:ext cx="1420495" cy="755650"/>
            <a:chOff x="0" y="4373879"/>
            <a:chExt cx="1420495" cy="755650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4373879"/>
              <a:ext cx="1419987" cy="75548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4410455"/>
              <a:ext cx="1319784" cy="582168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07591" y="310895"/>
            <a:ext cx="6639941" cy="1406398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583182" y="426846"/>
            <a:ext cx="597662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5825" marR="5080" indent="-2143760"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Store</a:t>
            </a:r>
            <a:r>
              <a:rPr spc="-40" dirty="0"/>
              <a:t> </a:t>
            </a:r>
            <a:r>
              <a:rPr spc="145" dirty="0"/>
              <a:t>Location</a:t>
            </a:r>
            <a:r>
              <a:rPr dirty="0"/>
              <a:t> </a:t>
            </a:r>
            <a:r>
              <a:rPr spc="105" dirty="0"/>
              <a:t>sales</a:t>
            </a:r>
            <a:r>
              <a:rPr spc="-20" dirty="0"/>
              <a:t> </a:t>
            </a:r>
            <a:r>
              <a:rPr spc="130" dirty="0"/>
              <a:t>by</a:t>
            </a:r>
            <a:r>
              <a:rPr spc="-35" dirty="0"/>
              <a:t> </a:t>
            </a:r>
            <a:r>
              <a:rPr spc="125" dirty="0"/>
              <a:t>product </a:t>
            </a:r>
            <a:r>
              <a:rPr spc="120" dirty="0"/>
              <a:t>category</a:t>
            </a:r>
          </a:p>
        </p:txBody>
      </p:sp>
      <p:sp>
        <p:nvSpPr>
          <p:cNvPr id="15" name="object 15"/>
          <p:cNvSpPr/>
          <p:nvPr/>
        </p:nvSpPr>
        <p:spPr>
          <a:xfrm>
            <a:off x="1043939" y="1860803"/>
            <a:ext cx="4520565" cy="0"/>
          </a:xfrm>
          <a:custGeom>
            <a:avLst/>
            <a:gdLst/>
            <a:ahLst/>
            <a:cxnLst/>
            <a:rect l="l" t="t" r="r" b="b"/>
            <a:pathLst>
              <a:path w="4520565">
                <a:moveTo>
                  <a:pt x="0" y="0"/>
                </a:moveTo>
                <a:lnTo>
                  <a:pt x="4520184" y="0"/>
                </a:lnTo>
              </a:path>
            </a:pathLst>
          </a:custGeom>
          <a:ln w="9144">
            <a:solidFill>
              <a:srgbClr val="FFF9F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1043939" y="2026919"/>
            <a:ext cx="4520565" cy="1743710"/>
            <a:chOff x="1043939" y="2026919"/>
            <a:chExt cx="4520565" cy="1743710"/>
          </a:xfrm>
        </p:grpSpPr>
        <p:sp>
          <p:nvSpPr>
            <p:cNvPr id="17" name="object 17"/>
            <p:cNvSpPr/>
            <p:nvPr/>
          </p:nvSpPr>
          <p:spPr>
            <a:xfrm>
              <a:off x="1043939" y="3573779"/>
              <a:ext cx="4520565" cy="0"/>
            </a:xfrm>
            <a:custGeom>
              <a:avLst/>
              <a:gdLst/>
              <a:ahLst/>
              <a:cxnLst/>
              <a:rect l="l" t="t" r="r" b="b"/>
              <a:pathLst>
                <a:path w="4520565">
                  <a:moveTo>
                    <a:pt x="4424172" y="0"/>
                  </a:moveTo>
                  <a:lnTo>
                    <a:pt x="4520184" y="0"/>
                  </a:lnTo>
                </a:path>
                <a:path w="4520565">
                  <a:moveTo>
                    <a:pt x="4314444" y="0"/>
                  </a:moveTo>
                  <a:lnTo>
                    <a:pt x="4338828" y="0"/>
                  </a:lnTo>
                </a:path>
                <a:path w="4520565">
                  <a:moveTo>
                    <a:pt x="1690115" y="0"/>
                  </a:moveTo>
                  <a:lnTo>
                    <a:pt x="1714500" y="0"/>
                  </a:lnTo>
                </a:path>
                <a:path w="4520565">
                  <a:moveTo>
                    <a:pt x="1802891" y="0"/>
                  </a:moveTo>
                  <a:lnTo>
                    <a:pt x="1824227" y="0"/>
                  </a:lnTo>
                </a:path>
                <a:path w="4520565">
                  <a:moveTo>
                    <a:pt x="1187196" y="0"/>
                  </a:moveTo>
                  <a:lnTo>
                    <a:pt x="1211580" y="0"/>
                  </a:lnTo>
                </a:path>
                <a:path w="4520565">
                  <a:moveTo>
                    <a:pt x="181356" y="0"/>
                  </a:moveTo>
                  <a:lnTo>
                    <a:pt x="205740" y="0"/>
                  </a:lnTo>
                </a:path>
                <a:path w="4520565">
                  <a:moveTo>
                    <a:pt x="0" y="0"/>
                  </a:moveTo>
                  <a:lnTo>
                    <a:pt x="96012" y="0"/>
                  </a:lnTo>
                </a:path>
                <a:path w="4520565">
                  <a:moveTo>
                    <a:pt x="1912620" y="0"/>
                  </a:moveTo>
                  <a:lnTo>
                    <a:pt x="2104643" y="0"/>
                  </a:lnTo>
                </a:path>
                <a:path w="4520565">
                  <a:moveTo>
                    <a:pt x="2302764" y="0"/>
                  </a:moveTo>
                  <a:lnTo>
                    <a:pt x="2327148" y="0"/>
                  </a:lnTo>
                </a:path>
                <a:path w="4520565">
                  <a:moveTo>
                    <a:pt x="2415540" y="0"/>
                  </a:moveTo>
                  <a:lnTo>
                    <a:pt x="4116324" y="0"/>
                  </a:lnTo>
                </a:path>
                <a:path w="4520565">
                  <a:moveTo>
                    <a:pt x="1409699" y="0"/>
                  </a:moveTo>
                  <a:lnTo>
                    <a:pt x="1601723" y="0"/>
                  </a:lnTo>
                </a:path>
                <a:path w="4520565">
                  <a:moveTo>
                    <a:pt x="1299972" y="0"/>
                  </a:moveTo>
                  <a:lnTo>
                    <a:pt x="1321308" y="0"/>
                  </a:lnTo>
                </a:path>
                <a:path w="4520565">
                  <a:moveTo>
                    <a:pt x="294131" y="0"/>
                  </a:moveTo>
                  <a:lnTo>
                    <a:pt x="318516" y="0"/>
                  </a:lnTo>
                </a:path>
                <a:path w="4520565">
                  <a:moveTo>
                    <a:pt x="403859" y="0"/>
                  </a:moveTo>
                  <a:lnTo>
                    <a:pt x="1098804" y="0"/>
                  </a:lnTo>
                </a:path>
                <a:path w="4520565">
                  <a:moveTo>
                    <a:pt x="2193036" y="0"/>
                  </a:moveTo>
                  <a:lnTo>
                    <a:pt x="2217420" y="0"/>
                  </a:lnTo>
                </a:path>
                <a:path w="4520565">
                  <a:moveTo>
                    <a:pt x="4201668" y="0"/>
                  </a:moveTo>
                  <a:lnTo>
                    <a:pt x="4226052" y="0"/>
                  </a:lnTo>
                </a:path>
              </a:pathLst>
            </a:custGeom>
            <a:ln w="9143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43939" y="2049779"/>
              <a:ext cx="4520565" cy="1335405"/>
            </a:xfrm>
            <a:custGeom>
              <a:avLst/>
              <a:gdLst/>
              <a:ahLst/>
              <a:cxnLst/>
              <a:rect l="l" t="t" r="r" b="b"/>
              <a:pathLst>
                <a:path w="4520565" h="1335404">
                  <a:moveTo>
                    <a:pt x="403859" y="1335024"/>
                  </a:moveTo>
                  <a:lnTo>
                    <a:pt x="1098804" y="1335024"/>
                  </a:lnTo>
                </a:path>
                <a:path w="4520565" h="1335404">
                  <a:moveTo>
                    <a:pt x="4201668" y="1335024"/>
                  </a:moveTo>
                  <a:lnTo>
                    <a:pt x="4226052" y="1335024"/>
                  </a:lnTo>
                </a:path>
                <a:path w="4520565" h="1335404">
                  <a:moveTo>
                    <a:pt x="4314444" y="1335024"/>
                  </a:moveTo>
                  <a:lnTo>
                    <a:pt x="4338828" y="1335024"/>
                  </a:lnTo>
                </a:path>
                <a:path w="4520565" h="1335404">
                  <a:moveTo>
                    <a:pt x="1187196" y="1335024"/>
                  </a:moveTo>
                  <a:lnTo>
                    <a:pt x="1211580" y="1335024"/>
                  </a:lnTo>
                </a:path>
                <a:path w="4520565" h="1335404">
                  <a:moveTo>
                    <a:pt x="2302764" y="1335024"/>
                  </a:moveTo>
                  <a:lnTo>
                    <a:pt x="2327148" y="1335024"/>
                  </a:lnTo>
                </a:path>
                <a:path w="4520565" h="1335404">
                  <a:moveTo>
                    <a:pt x="294131" y="1335024"/>
                  </a:moveTo>
                  <a:lnTo>
                    <a:pt x="318516" y="1335024"/>
                  </a:lnTo>
                </a:path>
                <a:path w="4520565" h="1335404">
                  <a:moveTo>
                    <a:pt x="2193036" y="1335024"/>
                  </a:moveTo>
                  <a:lnTo>
                    <a:pt x="2217420" y="1335024"/>
                  </a:lnTo>
                </a:path>
                <a:path w="4520565" h="1335404">
                  <a:moveTo>
                    <a:pt x="1409699" y="1335024"/>
                  </a:moveTo>
                  <a:lnTo>
                    <a:pt x="2104643" y="1335024"/>
                  </a:lnTo>
                </a:path>
                <a:path w="4520565" h="1335404">
                  <a:moveTo>
                    <a:pt x="181356" y="1335024"/>
                  </a:moveTo>
                  <a:lnTo>
                    <a:pt x="205740" y="1335024"/>
                  </a:lnTo>
                </a:path>
                <a:path w="4520565" h="1335404">
                  <a:moveTo>
                    <a:pt x="0" y="1335024"/>
                  </a:moveTo>
                  <a:lnTo>
                    <a:pt x="96012" y="1335024"/>
                  </a:lnTo>
                </a:path>
                <a:path w="4520565" h="1335404">
                  <a:moveTo>
                    <a:pt x="4424172" y="1335024"/>
                  </a:moveTo>
                  <a:lnTo>
                    <a:pt x="4520184" y="1335024"/>
                  </a:lnTo>
                </a:path>
                <a:path w="4520565" h="1335404">
                  <a:moveTo>
                    <a:pt x="1299972" y="1335024"/>
                  </a:moveTo>
                  <a:lnTo>
                    <a:pt x="1321308" y="1335024"/>
                  </a:lnTo>
                </a:path>
                <a:path w="4520565" h="1335404">
                  <a:moveTo>
                    <a:pt x="2415540" y="1335024"/>
                  </a:moveTo>
                  <a:lnTo>
                    <a:pt x="4116324" y="1335024"/>
                  </a:lnTo>
                </a:path>
                <a:path w="4520565" h="1335404">
                  <a:moveTo>
                    <a:pt x="1299972" y="1143000"/>
                  </a:moveTo>
                  <a:lnTo>
                    <a:pt x="1321308" y="1143000"/>
                  </a:lnTo>
                </a:path>
                <a:path w="4520565" h="1335404">
                  <a:moveTo>
                    <a:pt x="4424172" y="1143000"/>
                  </a:moveTo>
                  <a:lnTo>
                    <a:pt x="4520184" y="1143000"/>
                  </a:lnTo>
                </a:path>
                <a:path w="4520565" h="1335404">
                  <a:moveTo>
                    <a:pt x="1409699" y="1143000"/>
                  </a:moveTo>
                  <a:lnTo>
                    <a:pt x="4116324" y="1143000"/>
                  </a:lnTo>
                </a:path>
                <a:path w="4520565" h="1335404">
                  <a:moveTo>
                    <a:pt x="0" y="1143000"/>
                  </a:moveTo>
                  <a:lnTo>
                    <a:pt x="1098804" y="1143000"/>
                  </a:lnTo>
                </a:path>
                <a:path w="4520565" h="1335404">
                  <a:moveTo>
                    <a:pt x="4314444" y="1143000"/>
                  </a:moveTo>
                  <a:lnTo>
                    <a:pt x="4338828" y="1143000"/>
                  </a:lnTo>
                </a:path>
                <a:path w="4520565" h="1335404">
                  <a:moveTo>
                    <a:pt x="1187196" y="1143000"/>
                  </a:moveTo>
                  <a:lnTo>
                    <a:pt x="1211580" y="1143000"/>
                  </a:lnTo>
                </a:path>
                <a:path w="4520565" h="1335404">
                  <a:moveTo>
                    <a:pt x="4201668" y="1143000"/>
                  </a:moveTo>
                  <a:lnTo>
                    <a:pt x="4226052" y="1143000"/>
                  </a:lnTo>
                </a:path>
                <a:path w="4520565" h="1335404">
                  <a:moveTo>
                    <a:pt x="4424172" y="954024"/>
                  </a:moveTo>
                  <a:lnTo>
                    <a:pt x="4520184" y="954024"/>
                  </a:lnTo>
                </a:path>
                <a:path w="4520565" h="1335404">
                  <a:moveTo>
                    <a:pt x="4201668" y="954024"/>
                  </a:moveTo>
                  <a:lnTo>
                    <a:pt x="4226052" y="954024"/>
                  </a:lnTo>
                </a:path>
                <a:path w="4520565" h="1335404">
                  <a:moveTo>
                    <a:pt x="1187196" y="954024"/>
                  </a:moveTo>
                  <a:lnTo>
                    <a:pt x="1211580" y="954024"/>
                  </a:lnTo>
                </a:path>
                <a:path w="4520565" h="1335404">
                  <a:moveTo>
                    <a:pt x="4314444" y="954024"/>
                  </a:moveTo>
                  <a:lnTo>
                    <a:pt x="4338828" y="954024"/>
                  </a:lnTo>
                </a:path>
                <a:path w="4520565" h="1335404">
                  <a:moveTo>
                    <a:pt x="0" y="954024"/>
                  </a:moveTo>
                  <a:lnTo>
                    <a:pt x="1098804" y="954024"/>
                  </a:lnTo>
                </a:path>
                <a:path w="4520565" h="1335404">
                  <a:moveTo>
                    <a:pt x="1299972" y="954024"/>
                  </a:moveTo>
                  <a:lnTo>
                    <a:pt x="1321308" y="954024"/>
                  </a:lnTo>
                </a:path>
                <a:path w="4520565" h="1335404">
                  <a:moveTo>
                    <a:pt x="1409699" y="954024"/>
                  </a:moveTo>
                  <a:lnTo>
                    <a:pt x="4116324" y="954024"/>
                  </a:lnTo>
                </a:path>
                <a:path w="4520565" h="1335404">
                  <a:moveTo>
                    <a:pt x="1409699" y="762000"/>
                  </a:moveTo>
                  <a:lnTo>
                    <a:pt x="4116324" y="762000"/>
                  </a:lnTo>
                </a:path>
                <a:path w="4520565" h="1335404">
                  <a:moveTo>
                    <a:pt x="4314444" y="762000"/>
                  </a:moveTo>
                  <a:lnTo>
                    <a:pt x="4338828" y="762000"/>
                  </a:lnTo>
                </a:path>
                <a:path w="4520565" h="1335404">
                  <a:moveTo>
                    <a:pt x="1187196" y="762000"/>
                  </a:moveTo>
                  <a:lnTo>
                    <a:pt x="1211580" y="762000"/>
                  </a:lnTo>
                </a:path>
                <a:path w="4520565" h="1335404">
                  <a:moveTo>
                    <a:pt x="4201668" y="762000"/>
                  </a:moveTo>
                  <a:lnTo>
                    <a:pt x="4226052" y="762000"/>
                  </a:lnTo>
                </a:path>
                <a:path w="4520565" h="1335404">
                  <a:moveTo>
                    <a:pt x="1299972" y="762000"/>
                  </a:moveTo>
                  <a:lnTo>
                    <a:pt x="1321308" y="762000"/>
                  </a:lnTo>
                </a:path>
                <a:path w="4520565" h="1335404">
                  <a:moveTo>
                    <a:pt x="0" y="762000"/>
                  </a:moveTo>
                  <a:lnTo>
                    <a:pt x="1098804" y="762000"/>
                  </a:lnTo>
                </a:path>
                <a:path w="4520565" h="1335404">
                  <a:moveTo>
                    <a:pt x="4424172" y="762000"/>
                  </a:moveTo>
                  <a:lnTo>
                    <a:pt x="4520184" y="762000"/>
                  </a:lnTo>
                </a:path>
                <a:path w="4520565" h="1335404">
                  <a:moveTo>
                    <a:pt x="4424172" y="573024"/>
                  </a:moveTo>
                  <a:lnTo>
                    <a:pt x="4520184" y="573024"/>
                  </a:lnTo>
                </a:path>
                <a:path w="4520565" h="1335404">
                  <a:moveTo>
                    <a:pt x="1409699" y="573024"/>
                  </a:moveTo>
                  <a:lnTo>
                    <a:pt x="4116324" y="573024"/>
                  </a:lnTo>
                </a:path>
                <a:path w="4520565" h="1335404">
                  <a:moveTo>
                    <a:pt x="4314444" y="573024"/>
                  </a:moveTo>
                  <a:lnTo>
                    <a:pt x="4338828" y="573024"/>
                  </a:lnTo>
                </a:path>
                <a:path w="4520565" h="1335404">
                  <a:moveTo>
                    <a:pt x="4201668" y="573024"/>
                  </a:moveTo>
                  <a:lnTo>
                    <a:pt x="4226052" y="573024"/>
                  </a:lnTo>
                </a:path>
                <a:path w="4520565" h="1335404">
                  <a:moveTo>
                    <a:pt x="1299972" y="573024"/>
                  </a:moveTo>
                  <a:lnTo>
                    <a:pt x="1321308" y="573024"/>
                  </a:lnTo>
                </a:path>
                <a:path w="4520565" h="1335404">
                  <a:moveTo>
                    <a:pt x="0" y="573024"/>
                  </a:moveTo>
                  <a:lnTo>
                    <a:pt x="1098804" y="573024"/>
                  </a:lnTo>
                </a:path>
                <a:path w="4520565" h="1335404">
                  <a:moveTo>
                    <a:pt x="1187196" y="573024"/>
                  </a:moveTo>
                  <a:lnTo>
                    <a:pt x="1211580" y="573024"/>
                  </a:lnTo>
                </a:path>
                <a:path w="4520565" h="1335404">
                  <a:moveTo>
                    <a:pt x="1299972" y="381000"/>
                  </a:moveTo>
                  <a:lnTo>
                    <a:pt x="1321308" y="381000"/>
                  </a:lnTo>
                </a:path>
                <a:path w="4520565" h="1335404">
                  <a:moveTo>
                    <a:pt x="1409699" y="381000"/>
                  </a:moveTo>
                  <a:lnTo>
                    <a:pt x="4520184" y="381000"/>
                  </a:lnTo>
                </a:path>
                <a:path w="4520565" h="1335404">
                  <a:moveTo>
                    <a:pt x="1187196" y="381000"/>
                  </a:moveTo>
                  <a:lnTo>
                    <a:pt x="1211580" y="381000"/>
                  </a:lnTo>
                </a:path>
                <a:path w="4520565" h="1335404">
                  <a:moveTo>
                    <a:pt x="0" y="381000"/>
                  </a:moveTo>
                  <a:lnTo>
                    <a:pt x="1098804" y="381000"/>
                  </a:lnTo>
                </a:path>
                <a:path w="4520565" h="1335404">
                  <a:moveTo>
                    <a:pt x="0" y="192024"/>
                  </a:moveTo>
                  <a:lnTo>
                    <a:pt x="1098804" y="192024"/>
                  </a:lnTo>
                </a:path>
                <a:path w="4520565" h="1335404">
                  <a:moveTo>
                    <a:pt x="1187196" y="192024"/>
                  </a:moveTo>
                  <a:lnTo>
                    <a:pt x="1211580" y="192024"/>
                  </a:lnTo>
                </a:path>
                <a:path w="4520565" h="1335404">
                  <a:moveTo>
                    <a:pt x="1409699" y="192024"/>
                  </a:moveTo>
                  <a:lnTo>
                    <a:pt x="4520184" y="192024"/>
                  </a:lnTo>
                </a:path>
                <a:path w="4520565" h="1335404">
                  <a:moveTo>
                    <a:pt x="1299972" y="192024"/>
                  </a:moveTo>
                  <a:lnTo>
                    <a:pt x="1321308" y="192024"/>
                  </a:lnTo>
                </a:path>
                <a:path w="4520565" h="1335404">
                  <a:moveTo>
                    <a:pt x="0" y="0"/>
                  </a:moveTo>
                  <a:lnTo>
                    <a:pt x="1211580" y="0"/>
                  </a:lnTo>
                </a:path>
                <a:path w="4520565" h="1335404">
                  <a:moveTo>
                    <a:pt x="1299972" y="0"/>
                  </a:moveTo>
                  <a:lnTo>
                    <a:pt x="4520184" y="0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39952" y="2057399"/>
              <a:ext cx="4105910" cy="1706880"/>
            </a:xfrm>
            <a:custGeom>
              <a:avLst/>
              <a:gdLst/>
              <a:ahLst/>
              <a:cxnLst/>
              <a:rect l="l" t="t" r="r" b="b"/>
              <a:pathLst>
                <a:path w="4105910" h="1706879">
                  <a:moveTo>
                    <a:pt x="85344" y="1200912"/>
                  </a:moveTo>
                  <a:lnTo>
                    <a:pt x="0" y="1200912"/>
                  </a:lnTo>
                  <a:lnTo>
                    <a:pt x="0" y="1706880"/>
                  </a:lnTo>
                  <a:lnTo>
                    <a:pt x="85344" y="1706880"/>
                  </a:lnTo>
                  <a:lnTo>
                    <a:pt x="85344" y="1200912"/>
                  </a:lnTo>
                  <a:close/>
                </a:path>
                <a:path w="4105910" h="1706879">
                  <a:moveTo>
                    <a:pt x="588264" y="1603248"/>
                  </a:moveTo>
                  <a:lnTo>
                    <a:pt x="499872" y="1603248"/>
                  </a:lnTo>
                  <a:lnTo>
                    <a:pt x="499872" y="1706880"/>
                  </a:lnTo>
                  <a:lnTo>
                    <a:pt x="588264" y="1706880"/>
                  </a:lnTo>
                  <a:lnTo>
                    <a:pt x="588264" y="1603248"/>
                  </a:lnTo>
                  <a:close/>
                </a:path>
                <a:path w="4105910" h="1706879">
                  <a:moveTo>
                    <a:pt x="1091184" y="0"/>
                  </a:moveTo>
                  <a:lnTo>
                    <a:pt x="1002792" y="0"/>
                  </a:lnTo>
                  <a:lnTo>
                    <a:pt x="1002792" y="1706880"/>
                  </a:lnTo>
                  <a:lnTo>
                    <a:pt x="1091184" y="1706880"/>
                  </a:lnTo>
                  <a:lnTo>
                    <a:pt x="1091184" y="0"/>
                  </a:lnTo>
                  <a:close/>
                </a:path>
                <a:path w="4105910" h="1706879">
                  <a:moveTo>
                    <a:pt x="1594104" y="1511808"/>
                  </a:moveTo>
                  <a:lnTo>
                    <a:pt x="1505712" y="1511808"/>
                  </a:lnTo>
                  <a:lnTo>
                    <a:pt x="1505712" y="1706880"/>
                  </a:lnTo>
                  <a:lnTo>
                    <a:pt x="1594104" y="1706880"/>
                  </a:lnTo>
                  <a:lnTo>
                    <a:pt x="1594104" y="1511808"/>
                  </a:lnTo>
                  <a:close/>
                </a:path>
                <a:path w="4105910" h="1706879">
                  <a:moveTo>
                    <a:pt x="2097024" y="1207008"/>
                  </a:moveTo>
                  <a:lnTo>
                    <a:pt x="2008632" y="1207008"/>
                  </a:lnTo>
                  <a:lnTo>
                    <a:pt x="2008632" y="1706880"/>
                  </a:lnTo>
                  <a:lnTo>
                    <a:pt x="2097024" y="1706880"/>
                  </a:lnTo>
                  <a:lnTo>
                    <a:pt x="2097024" y="1207008"/>
                  </a:lnTo>
                  <a:close/>
                </a:path>
                <a:path w="4105910" h="1706879">
                  <a:moveTo>
                    <a:pt x="2599944" y="1673352"/>
                  </a:moveTo>
                  <a:lnTo>
                    <a:pt x="2511552" y="1673352"/>
                  </a:lnTo>
                  <a:lnTo>
                    <a:pt x="2511552" y="1706880"/>
                  </a:lnTo>
                  <a:lnTo>
                    <a:pt x="2599944" y="1706880"/>
                  </a:lnTo>
                  <a:lnTo>
                    <a:pt x="2599944" y="1673352"/>
                  </a:lnTo>
                  <a:close/>
                </a:path>
                <a:path w="4105910" h="1706879">
                  <a:moveTo>
                    <a:pt x="3102864" y="1645920"/>
                  </a:moveTo>
                  <a:lnTo>
                    <a:pt x="3014472" y="1645920"/>
                  </a:lnTo>
                  <a:lnTo>
                    <a:pt x="3014472" y="1706880"/>
                  </a:lnTo>
                  <a:lnTo>
                    <a:pt x="3102864" y="1706880"/>
                  </a:lnTo>
                  <a:lnTo>
                    <a:pt x="3102864" y="1645920"/>
                  </a:lnTo>
                  <a:close/>
                </a:path>
                <a:path w="4105910" h="1706879">
                  <a:moveTo>
                    <a:pt x="3602736" y="1685544"/>
                  </a:moveTo>
                  <a:lnTo>
                    <a:pt x="3517392" y="1685544"/>
                  </a:lnTo>
                  <a:lnTo>
                    <a:pt x="3517392" y="1706880"/>
                  </a:lnTo>
                  <a:lnTo>
                    <a:pt x="3602736" y="1706880"/>
                  </a:lnTo>
                  <a:lnTo>
                    <a:pt x="3602736" y="1685544"/>
                  </a:lnTo>
                  <a:close/>
                </a:path>
                <a:path w="4105910" h="1706879">
                  <a:moveTo>
                    <a:pt x="4105656" y="414528"/>
                  </a:moveTo>
                  <a:lnTo>
                    <a:pt x="4020312" y="414528"/>
                  </a:lnTo>
                  <a:lnTo>
                    <a:pt x="4020312" y="1706880"/>
                  </a:lnTo>
                  <a:lnTo>
                    <a:pt x="4105656" y="1706880"/>
                  </a:lnTo>
                  <a:lnTo>
                    <a:pt x="4105656" y="414528"/>
                  </a:lnTo>
                  <a:close/>
                </a:path>
              </a:pathLst>
            </a:custGeom>
            <a:solidFill>
              <a:srgbClr val="6C41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49680" y="2026919"/>
              <a:ext cx="4109085" cy="1737360"/>
            </a:xfrm>
            <a:custGeom>
              <a:avLst/>
              <a:gdLst/>
              <a:ahLst/>
              <a:cxnLst/>
              <a:rect l="l" t="t" r="r" b="b"/>
              <a:pathLst>
                <a:path w="4109085" h="1737360">
                  <a:moveTo>
                    <a:pt x="88392" y="1216152"/>
                  </a:moveTo>
                  <a:lnTo>
                    <a:pt x="0" y="1216152"/>
                  </a:lnTo>
                  <a:lnTo>
                    <a:pt x="0" y="1737360"/>
                  </a:lnTo>
                  <a:lnTo>
                    <a:pt x="88392" y="1737360"/>
                  </a:lnTo>
                  <a:lnTo>
                    <a:pt x="88392" y="1216152"/>
                  </a:lnTo>
                  <a:close/>
                </a:path>
                <a:path w="4109085" h="1737360">
                  <a:moveTo>
                    <a:pt x="591312" y="1700784"/>
                  </a:moveTo>
                  <a:lnTo>
                    <a:pt x="502920" y="1700784"/>
                  </a:lnTo>
                  <a:lnTo>
                    <a:pt x="502920" y="1737360"/>
                  </a:lnTo>
                  <a:lnTo>
                    <a:pt x="591312" y="1737360"/>
                  </a:lnTo>
                  <a:lnTo>
                    <a:pt x="591312" y="1700784"/>
                  </a:lnTo>
                  <a:close/>
                </a:path>
                <a:path w="4109085" h="1737360">
                  <a:moveTo>
                    <a:pt x="1094232" y="0"/>
                  </a:moveTo>
                  <a:lnTo>
                    <a:pt x="1005840" y="0"/>
                  </a:lnTo>
                  <a:lnTo>
                    <a:pt x="1005840" y="1737360"/>
                  </a:lnTo>
                  <a:lnTo>
                    <a:pt x="1094232" y="1737360"/>
                  </a:lnTo>
                  <a:lnTo>
                    <a:pt x="1094232" y="0"/>
                  </a:lnTo>
                  <a:close/>
                </a:path>
                <a:path w="4109085" h="1737360">
                  <a:moveTo>
                    <a:pt x="1597152" y="1383792"/>
                  </a:moveTo>
                  <a:lnTo>
                    <a:pt x="1508760" y="1383792"/>
                  </a:lnTo>
                  <a:lnTo>
                    <a:pt x="1508760" y="1737360"/>
                  </a:lnTo>
                  <a:lnTo>
                    <a:pt x="1597152" y="1737360"/>
                  </a:lnTo>
                  <a:lnTo>
                    <a:pt x="1597152" y="1383792"/>
                  </a:lnTo>
                  <a:close/>
                </a:path>
                <a:path w="4109085" h="1737360">
                  <a:moveTo>
                    <a:pt x="2097024" y="1289304"/>
                  </a:moveTo>
                  <a:lnTo>
                    <a:pt x="2011680" y="1289304"/>
                  </a:lnTo>
                  <a:lnTo>
                    <a:pt x="2011680" y="1737360"/>
                  </a:lnTo>
                  <a:lnTo>
                    <a:pt x="2097024" y="1737360"/>
                  </a:lnTo>
                  <a:lnTo>
                    <a:pt x="2097024" y="1289304"/>
                  </a:lnTo>
                  <a:close/>
                </a:path>
                <a:path w="4109085" h="1737360">
                  <a:moveTo>
                    <a:pt x="2599944" y="1682496"/>
                  </a:moveTo>
                  <a:lnTo>
                    <a:pt x="2511552" y="1682496"/>
                  </a:lnTo>
                  <a:lnTo>
                    <a:pt x="2511552" y="1737360"/>
                  </a:lnTo>
                  <a:lnTo>
                    <a:pt x="2599944" y="1737360"/>
                  </a:lnTo>
                  <a:lnTo>
                    <a:pt x="2599944" y="1682496"/>
                  </a:lnTo>
                  <a:close/>
                </a:path>
                <a:path w="4109085" h="1737360">
                  <a:moveTo>
                    <a:pt x="3102864" y="1652016"/>
                  </a:moveTo>
                  <a:lnTo>
                    <a:pt x="3014472" y="1652016"/>
                  </a:lnTo>
                  <a:lnTo>
                    <a:pt x="3014472" y="1737360"/>
                  </a:lnTo>
                  <a:lnTo>
                    <a:pt x="3102864" y="1737360"/>
                  </a:lnTo>
                  <a:lnTo>
                    <a:pt x="3102864" y="1652016"/>
                  </a:lnTo>
                  <a:close/>
                </a:path>
                <a:path w="4109085" h="1737360">
                  <a:moveTo>
                    <a:pt x="3605784" y="1706880"/>
                  </a:moveTo>
                  <a:lnTo>
                    <a:pt x="3517392" y="1706880"/>
                  </a:lnTo>
                  <a:lnTo>
                    <a:pt x="3517392" y="1737360"/>
                  </a:lnTo>
                  <a:lnTo>
                    <a:pt x="3605784" y="1737360"/>
                  </a:lnTo>
                  <a:lnTo>
                    <a:pt x="3605784" y="1706880"/>
                  </a:lnTo>
                  <a:close/>
                </a:path>
                <a:path w="4109085" h="1737360">
                  <a:moveTo>
                    <a:pt x="4108704" y="505968"/>
                  </a:moveTo>
                  <a:lnTo>
                    <a:pt x="4020312" y="505968"/>
                  </a:lnTo>
                  <a:lnTo>
                    <a:pt x="4020312" y="1737360"/>
                  </a:lnTo>
                  <a:lnTo>
                    <a:pt x="4108704" y="1737360"/>
                  </a:lnTo>
                  <a:lnTo>
                    <a:pt x="4108704" y="505968"/>
                  </a:lnTo>
                  <a:close/>
                </a:path>
              </a:pathLst>
            </a:custGeom>
            <a:solidFill>
              <a:srgbClr val="8450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62456" y="2069591"/>
              <a:ext cx="4105910" cy="1694814"/>
            </a:xfrm>
            <a:custGeom>
              <a:avLst/>
              <a:gdLst/>
              <a:ahLst/>
              <a:cxnLst/>
              <a:rect l="l" t="t" r="r" b="b"/>
              <a:pathLst>
                <a:path w="4105910" h="1694814">
                  <a:moveTo>
                    <a:pt x="85344" y="1155192"/>
                  </a:moveTo>
                  <a:lnTo>
                    <a:pt x="0" y="1155192"/>
                  </a:lnTo>
                  <a:lnTo>
                    <a:pt x="0" y="1694688"/>
                  </a:lnTo>
                  <a:lnTo>
                    <a:pt x="85344" y="1694688"/>
                  </a:lnTo>
                  <a:lnTo>
                    <a:pt x="85344" y="1155192"/>
                  </a:lnTo>
                  <a:close/>
                </a:path>
                <a:path w="4105910" h="1694814">
                  <a:moveTo>
                    <a:pt x="588264" y="1575816"/>
                  </a:moveTo>
                  <a:lnTo>
                    <a:pt x="502920" y="1575816"/>
                  </a:lnTo>
                  <a:lnTo>
                    <a:pt x="502920" y="1694688"/>
                  </a:lnTo>
                  <a:lnTo>
                    <a:pt x="588264" y="1694688"/>
                  </a:lnTo>
                  <a:lnTo>
                    <a:pt x="588264" y="1575816"/>
                  </a:lnTo>
                  <a:close/>
                </a:path>
                <a:path w="4105910" h="1694814">
                  <a:moveTo>
                    <a:pt x="1091184" y="0"/>
                  </a:moveTo>
                  <a:lnTo>
                    <a:pt x="1002792" y="0"/>
                  </a:lnTo>
                  <a:lnTo>
                    <a:pt x="1002792" y="1694688"/>
                  </a:lnTo>
                  <a:lnTo>
                    <a:pt x="1091184" y="1694688"/>
                  </a:lnTo>
                  <a:lnTo>
                    <a:pt x="1091184" y="0"/>
                  </a:lnTo>
                  <a:close/>
                </a:path>
                <a:path w="4105910" h="1694814">
                  <a:moveTo>
                    <a:pt x="1594104" y="1481328"/>
                  </a:moveTo>
                  <a:lnTo>
                    <a:pt x="1505712" y="1481328"/>
                  </a:lnTo>
                  <a:lnTo>
                    <a:pt x="1505712" y="1694688"/>
                  </a:lnTo>
                  <a:lnTo>
                    <a:pt x="1594104" y="1694688"/>
                  </a:lnTo>
                  <a:lnTo>
                    <a:pt x="1594104" y="1481328"/>
                  </a:lnTo>
                  <a:close/>
                </a:path>
                <a:path w="4105910" h="1694814">
                  <a:moveTo>
                    <a:pt x="2097024" y="1267968"/>
                  </a:moveTo>
                  <a:lnTo>
                    <a:pt x="2008632" y="1267968"/>
                  </a:lnTo>
                  <a:lnTo>
                    <a:pt x="2008632" y="1694688"/>
                  </a:lnTo>
                  <a:lnTo>
                    <a:pt x="2097024" y="1694688"/>
                  </a:lnTo>
                  <a:lnTo>
                    <a:pt x="2097024" y="1267968"/>
                  </a:lnTo>
                  <a:close/>
                </a:path>
                <a:path w="4105910" h="1694814">
                  <a:moveTo>
                    <a:pt x="2599944" y="1624584"/>
                  </a:moveTo>
                  <a:lnTo>
                    <a:pt x="2511552" y="1624584"/>
                  </a:lnTo>
                  <a:lnTo>
                    <a:pt x="2511552" y="1694688"/>
                  </a:lnTo>
                  <a:lnTo>
                    <a:pt x="2599944" y="1694688"/>
                  </a:lnTo>
                  <a:lnTo>
                    <a:pt x="2599944" y="1624584"/>
                  </a:lnTo>
                  <a:close/>
                </a:path>
                <a:path w="4105910" h="1694814">
                  <a:moveTo>
                    <a:pt x="3102864" y="1627632"/>
                  </a:moveTo>
                  <a:lnTo>
                    <a:pt x="3014472" y="1627632"/>
                  </a:lnTo>
                  <a:lnTo>
                    <a:pt x="3014472" y="1694688"/>
                  </a:lnTo>
                  <a:lnTo>
                    <a:pt x="3102864" y="1694688"/>
                  </a:lnTo>
                  <a:lnTo>
                    <a:pt x="3102864" y="1627632"/>
                  </a:lnTo>
                  <a:close/>
                </a:path>
                <a:path w="4105910" h="1694814">
                  <a:moveTo>
                    <a:pt x="3605784" y="1664208"/>
                  </a:moveTo>
                  <a:lnTo>
                    <a:pt x="3517392" y="1664208"/>
                  </a:lnTo>
                  <a:lnTo>
                    <a:pt x="3517392" y="1694688"/>
                  </a:lnTo>
                  <a:lnTo>
                    <a:pt x="3605784" y="1694688"/>
                  </a:lnTo>
                  <a:lnTo>
                    <a:pt x="3605784" y="1664208"/>
                  </a:lnTo>
                  <a:close/>
                </a:path>
                <a:path w="4105910" h="1694814">
                  <a:moveTo>
                    <a:pt x="4105656" y="478536"/>
                  </a:moveTo>
                  <a:lnTo>
                    <a:pt x="4020312" y="478536"/>
                  </a:lnTo>
                  <a:lnTo>
                    <a:pt x="4020312" y="1694688"/>
                  </a:lnTo>
                  <a:lnTo>
                    <a:pt x="4105656" y="1694688"/>
                  </a:lnTo>
                  <a:lnTo>
                    <a:pt x="4105656" y="478536"/>
                  </a:lnTo>
                  <a:close/>
                </a:path>
              </a:pathLst>
            </a:custGeom>
            <a:solidFill>
              <a:srgbClr val="BBAA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43939" y="3765803"/>
              <a:ext cx="4520565" cy="0"/>
            </a:xfrm>
            <a:custGeom>
              <a:avLst/>
              <a:gdLst/>
              <a:ahLst/>
              <a:cxnLst/>
              <a:rect l="l" t="t" r="r" b="b"/>
              <a:pathLst>
                <a:path w="4520565">
                  <a:moveTo>
                    <a:pt x="0" y="0"/>
                  </a:moveTo>
                  <a:lnTo>
                    <a:pt x="4520184" y="0"/>
                  </a:lnTo>
                </a:path>
              </a:pathLst>
            </a:custGeom>
            <a:ln w="9144">
              <a:solidFill>
                <a:srgbClr val="FFF9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24713" y="1744725"/>
            <a:ext cx="601345" cy="211328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96520" marR="5080" indent="-84455" algn="just">
              <a:lnSpc>
                <a:spcPct val="104200"/>
              </a:lnSpc>
              <a:spcBef>
                <a:spcPts val="40"/>
              </a:spcBef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R100.00 R90.00 R80.00 R70.00 R60.00 R50.00 R40.00 R30.00 R20.00 R10.00 R0.00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27138" y="3884510"/>
            <a:ext cx="899160" cy="467359"/>
          </a:xfrm>
          <a:custGeom>
            <a:avLst/>
            <a:gdLst/>
            <a:ahLst/>
            <a:cxnLst/>
            <a:rect l="l" t="t" r="r" b="b"/>
            <a:pathLst>
              <a:path w="899160" h="467360">
                <a:moveTo>
                  <a:pt x="122897" y="337134"/>
                </a:moveTo>
                <a:lnTo>
                  <a:pt x="122389" y="332054"/>
                </a:lnTo>
                <a:lnTo>
                  <a:pt x="119240" y="323164"/>
                </a:lnTo>
                <a:lnTo>
                  <a:pt x="117500" y="320624"/>
                </a:lnTo>
                <a:lnTo>
                  <a:pt x="116636" y="319354"/>
                </a:lnTo>
                <a:lnTo>
                  <a:pt x="109689" y="311734"/>
                </a:lnTo>
                <a:lnTo>
                  <a:pt x="108534" y="310464"/>
                </a:lnTo>
                <a:lnTo>
                  <a:pt x="108407" y="310413"/>
                </a:lnTo>
                <a:lnTo>
                  <a:pt x="108407" y="339674"/>
                </a:lnTo>
                <a:lnTo>
                  <a:pt x="107226" y="344754"/>
                </a:lnTo>
                <a:lnTo>
                  <a:pt x="105956" y="347294"/>
                </a:lnTo>
                <a:lnTo>
                  <a:pt x="102946" y="352374"/>
                </a:lnTo>
                <a:lnTo>
                  <a:pt x="100749" y="354914"/>
                </a:lnTo>
                <a:lnTo>
                  <a:pt x="78244" y="376504"/>
                </a:lnTo>
                <a:lnTo>
                  <a:pt x="51727" y="349834"/>
                </a:lnTo>
                <a:lnTo>
                  <a:pt x="85610" y="320624"/>
                </a:lnTo>
                <a:lnTo>
                  <a:pt x="108407" y="339674"/>
                </a:lnTo>
                <a:lnTo>
                  <a:pt x="108407" y="310413"/>
                </a:lnTo>
                <a:lnTo>
                  <a:pt x="103390" y="307924"/>
                </a:lnTo>
                <a:lnTo>
                  <a:pt x="91770" y="306654"/>
                </a:lnTo>
                <a:lnTo>
                  <a:pt x="85852" y="307924"/>
                </a:lnTo>
                <a:lnTo>
                  <a:pt x="79819" y="311734"/>
                </a:lnTo>
                <a:lnTo>
                  <a:pt x="81648" y="306654"/>
                </a:lnTo>
                <a:lnTo>
                  <a:pt x="81902" y="302844"/>
                </a:lnTo>
                <a:lnTo>
                  <a:pt x="82003" y="301574"/>
                </a:lnTo>
                <a:lnTo>
                  <a:pt x="79756" y="291414"/>
                </a:lnTo>
                <a:lnTo>
                  <a:pt x="79019" y="290144"/>
                </a:lnTo>
                <a:lnTo>
                  <a:pt x="77546" y="287604"/>
                </a:lnTo>
                <a:lnTo>
                  <a:pt x="70700" y="281254"/>
                </a:lnTo>
                <a:lnTo>
                  <a:pt x="70637" y="307924"/>
                </a:lnTo>
                <a:lnTo>
                  <a:pt x="69964" y="310464"/>
                </a:lnTo>
                <a:lnTo>
                  <a:pt x="66776" y="316814"/>
                </a:lnTo>
                <a:lnTo>
                  <a:pt x="63830" y="320624"/>
                </a:lnTo>
                <a:lnTo>
                  <a:pt x="42621" y="340944"/>
                </a:lnTo>
                <a:lnTo>
                  <a:pt x="19316" y="318084"/>
                </a:lnTo>
                <a:lnTo>
                  <a:pt x="40271" y="296494"/>
                </a:lnTo>
                <a:lnTo>
                  <a:pt x="44538" y="293954"/>
                </a:lnTo>
                <a:lnTo>
                  <a:pt x="50546" y="290144"/>
                </a:lnTo>
                <a:lnTo>
                  <a:pt x="53632" y="290144"/>
                </a:lnTo>
                <a:lnTo>
                  <a:pt x="59982" y="291414"/>
                </a:lnTo>
                <a:lnTo>
                  <a:pt x="62839" y="292684"/>
                </a:lnTo>
                <a:lnTo>
                  <a:pt x="68110" y="297764"/>
                </a:lnTo>
                <a:lnTo>
                  <a:pt x="69697" y="301574"/>
                </a:lnTo>
                <a:lnTo>
                  <a:pt x="70637" y="307924"/>
                </a:lnTo>
                <a:lnTo>
                  <a:pt x="70637" y="281228"/>
                </a:lnTo>
                <a:lnTo>
                  <a:pt x="66294" y="278714"/>
                </a:lnTo>
                <a:lnTo>
                  <a:pt x="55778" y="276174"/>
                </a:lnTo>
                <a:lnTo>
                  <a:pt x="50584" y="276174"/>
                </a:lnTo>
                <a:lnTo>
                  <a:pt x="40347" y="279984"/>
                </a:lnTo>
                <a:lnTo>
                  <a:pt x="34836" y="283794"/>
                </a:lnTo>
                <a:lnTo>
                  <a:pt x="0" y="319354"/>
                </a:lnTo>
                <a:lnTo>
                  <a:pt x="77139" y="395554"/>
                </a:lnTo>
                <a:lnTo>
                  <a:pt x="96202" y="376504"/>
                </a:lnTo>
                <a:lnTo>
                  <a:pt x="111467" y="361264"/>
                </a:lnTo>
                <a:lnTo>
                  <a:pt x="115189" y="357454"/>
                </a:lnTo>
                <a:lnTo>
                  <a:pt x="120230" y="348564"/>
                </a:lnTo>
                <a:lnTo>
                  <a:pt x="121780" y="344754"/>
                </a:lnTo>
                <a:lnTo>
                  <a:pt x="122897" y="337134"/>
                </a:lnTo>
                <a:close/>
              </a:path>
              <a:path w="899160" h="467360">
                <a:moveTo>
                  <a:pt x="195719" y="277444"/>
                </a:moveTo>
                <a:lnTo>
                  <a:pt x="174269" y="262204"/>
                </a:lnTo>
                <a:lnTo>
                  <a:pt x="168059" y="256057"/>
                </a:lnTo>
                <a:lnTo>
                  <a:pt x="168059" y="285064"/>
                </a:lnTo>
                <a:lnTo>
                  <a:pt x="165569" y="293954"/>
                </a:lnTo>
                <a:lnTo>
                  <a:pt x="163118" y="297764"/>
                </a:lnTo>
                <a:lnTo>
                  <a:pt x="155790" y="305384"/>
                </a:lnTo>
                <a:lnTo>
                  <a:pt x="152146" y="306654"/>
                </a:lnTo>
                <a:lnTo>
                  <a:pt x="144957" y="307924"/>
                </a:lnTo>
                <a:lnTo>
                  <a:pt x="141897" y="306654"/>
                </a:lnTo>
                <a:lnTo>
                  <a:pt x="137718" y="302844"/>
                </a:lnTo>
                <a:lnTo>
                  <a:pt x="136664" y="300304"/>
                </a:lnTo>
                <a:lnTo>
                  <a:pt x="135712" y="296494"/>
                </a:lnTo>
                <a:lnTo>
                  <a:pt x="135928" y="293954"/>
                </a:lnTo>
                <a:lnTo>
                  <a:pt x="137756" y="288874"/>
                </a:lnTo>
                <a:lnTo>
                  <a:pt x="139877" y="285064"/>
                </a:lnTo>
                <a:lnTo>
                  <a:pt x="149110" y="273634"/>
                </a:lnTo>
                <a:lnTo>
                  <a:pt x="153073" y="267284"/>
                </a:lnTo>
                <a:lnTo>
                  <a:pt x="168059" y="285064"/>
                </a:lnTo>
                <a:lnTo>
                  <a:pt x="168059" y="256057"/>
                </a:lnTo>
                <a:lnTo>
                  <a:pt x="158877" y="246964"/>
                </a:lnTo>
                <a:lnTo>
                  <a:pt x="152476" y="240614"/>
                </a:lnTo>
                <a:lnTo>
                  <a:pt x="149402" y="238074"/>
                </a:lnTo>
                <a:lnTo>
                  <a:pt x="147472" y="236804"/>
                </a:lnTo>
                <a:lnTo>
                  <a:pt x="144322" y="234264"/>
                </a:lnTo>
                <a:lnTo>
                  <a:pt x="141185" y="232994"/>
                </a:lnTo>
                <a:lnTo>
                  <a:pt x="131368" y="232994"/>
                </a:lnTo>
                <a:lnTo>
                  <a:pt x="123164" y="236804"/>
                </a:lnTo>
                <a:lnTo>
                  <a:pt x="99999" y="269824"/>
                </a:lnTo>
                <a:lnTo>
                  <a:pt x="101015" y="278714"/>
                </a:lnTo>
                <a:lnTo>
                  <a:pt x="102831" y="282524"/>
                </a:lnTo>
                <a:lnTo>
                  <a:pt x="105956" y="287604"/>
                </a:lnTo>
                <a:lnTo>
                  <a:pt x="116484" y="279984"/>
                </a:lnTo>
                <a:lnTo>
                  <a:pt x="113538" y="274904"/>
                </a:lnTo>
                <a:lnTo>
                  <a:pt x="112344" y="269824"/>
                </a:lnTo>
                <a:lnTo>
                  <a:pt x="113461" y="262204"/>
                </a:lnTo>
                <a:lnTo>
                  <a:pt x="115976" y="258394"/>
                </a:lnTo>
                <a:lnTo>
                  <a:pt x="125196" y="249504"/>
                </a:lnTo>
                <a:lnTo>
                  <a:pt x="129870" y="246964"/>
                </a:lnTo>
                <a:lnTo>
                  <a:pt x="137795" y="246964"/>
                </a:lnTo>
                <a:lnTo>
                  <a:pt x="141401" y="248234"/>
                </a:lnTo>
                <a:lnTo>
                  <a:pt x="145262" y="252044"/>
                </a:lnTo>
                <a:lnTo>
                  <a:pt x="147688" y="254584"/>
                </a:lnTo>
                <a:lnTo>
                  <a:pt x="145338" y="259664"/>
                </a:lnTo>
                <a:lnTo>
                  <a:pt x="140792" y="266014"/>
                </a:lnTo>
                <a:lnTo>
                  <a:pt x="130759" y="278714"/>
                </a:lnTo>
                <a:lnTo>
                  <a:pt x="128422" y="282524"/>
                </a:lnTo>
                <a:lnTo>
                  <a:pt x="127063" y="285064"/>
                </a:lnTo>
                <a:lnTo>
                  <a:pt x="125234" y="287604"/>
                </a:lnTo>
                <a:lnTo>
                  <a:pt x="124002" y="291414"/>
                </a:lnTo>
                <a:lnTo>
                  <a:pt x="122694" y="297764"/>
                </a:lnTo>
                <a:lnTo>
                  <a:pt x="122821" y="300304"/>
                </a:lnTo>
                <a:lnTo>
                  <a:pt x="122885" y="301574"/>
                </a:lnTo>
                <a:lnTo>
                  <a:pt x="124917" y="307924"/>
                </a:lnTo>
                <a:lnTo>
                  <a:pt x="126796" y="311734"/>
                </a:lnTo>
                <a:lnTo>
                  <a:pt x="134200" y="319354"/>
                </a:lnTo>
                <a:lnTo>
                  <a:pt x="139674" y="320624"/>
                </a:lnTo>
                <a:lnTo>
                  <a:pt x="152273" y="320624"/>
                </a:lnTo>
                <a:lnTo>
                  <a:pt x="176517" y="288874"/>
                </a:lnTo>
                <a:lnTo>
                  <a:pt x="176936" y="283794"/>
                </a:lnTo>
                <a:lnTo>
                  <a:pt x="177050" y="282524"/>
                </a:lnTo>
                <a:lnTo>
                  <a:pt x="179959" y="285064"/>
                </a:lnTo>
                <a:lnTo>
                  <a:pt x="185839" y="287604"/>
                </a:lnTo>
                <a:lnTo>
                  <a:pt x="190779" y="282524"/>
                </a:lnTo>
                <a:lnTo>
                  <a:pt x="195719" y="277444"/>
                </a:lnTo>
                <a:close/>
              </a:path>
              <a:path w="899160" h="467360">
                <a:moveTo>
                  <a:pt x="254177" y="219024"/>
                </a:moveTo>
                <a:lnTo>
                  <a:pt x="195503" y="207594"/>
                </a:lnTo>
                <a:lnTo>
                  <a:pt x="195618" y="199974"/>
                </a:lnTo>
                <a:lnTo>
                  <a:pt x="195707" y="193624"/>
                </a:lnTo>
                <a:lnTo>
                  <a:pt x="195821" y="186004"/>
                </a:lnTo>
                <a:lnTo>
                  <a:pt x="195935" y="178384"/>
                </a:lnTo>
                <a:lnTo>
                  <a:pt x="196049" y="170764"/>
                </a:lnTo>
                <a:lnTo>
                  <a:pt x="196138" y="165684"/>
                </a:lnTo>
                <a:lnTo>
                  <a:pt x="183883" y="177114"/>
                </a:lnTo>
                <a:lnTo>
                  <a:pt x="183959" y="189814"/>
                </a:lnTo>
                <a:lnTo>
                  <a:pt x="184086" y="207594"/>
                </a:lnTo>
                <a:lnTo>
                  <a:pt x="184200" y="222834"/>
                </a:lnTo>
                <a:lnTo>
                  <a:pt x="140208" y="178384"/>
                </a:lnTo>
                <a:lnTo>
                  <a:pt x="130733" y="188544"/>
                </a:lnTo>
                <a:lnTo>
                  <a:pt x="207873" y="266014"/>
                </a:lnTo>
                <a:lnTo>
                  <a:pt x="217347" y="255854"/>
                </a:lnTo>
                <a:lnTo>
                  <a:pt x="195199" y="234264"/>
                </a:lnTo>
                <a:lnTo>
                  <a:pt x="195402" y="222834"/>
                </a:lnTo>
                <a:lnTo>
                  <a:pt x="195453" y="220294"/>
                </a:lnTo>
                <a:lnTo>
                  <a:pt x="242493" y="230454"/>
                </a:lnTo>
                <a:lnTo>
                  <a:pt x="252869" y="220294"/>
                </a:lnTo>
                <a:lnTo>
                  <a:pt x="254177" y="219024"/>
                </a:lnTo>
                <a:close/>
              </a:path>
              <a:path w="899160" h="467360">
                <a:moveTo>
                  <a:pt x="298716" y="161874"/>
                </a:moveTo>
                <a:lnTo>
                  <a:pt x="297129" y="154254"/>
                </a:lnTo>
                <a:lnTo>
                  <a:pt x="292963" y="146634"/>
                </a:lnTo>
                <a:lnTo>
                  <a:pt x="281965" y="155524"/>
                </a:lnTo>
                <a:lnTo>
                  <a:pt x="284518" y="160604"/>
                </a:lnTo>
                <a:lnTo>
                  <a:pt x="285483" y="165684"/>
                </a:lnTo>
                <a:lnTo>
                  <a:pt x="284226" y="174574"/>
                </a:lnTo>
                <a:lnTo>
                  <a:pt x="282168" y="178384"/>
                </a:lnTo>
                <a:lnTo>
                  <a:pt x="274027" y="186004"/>
                </a:lnTo>
                <a:lnTo>
                  <a:pt x="268503" y="188544"/>
                </a:lnTo>
                <a:lnTo>
                  <a:pt x="255739" y="188544"/>
                </a:lnTo>
                <a:lnTo>
                  <a:pt x="249301" y="184734"/>
                </a:lnTo>
                <a:lnTo>
                  <a:pt x="242811" y="179654"/>
                </a:lnTo>
                <a:lnTo>
                  <a:pt x="251650" y="170764"/>
                </a:lnTo>
                <a:lnTo>
                  <a:pt x="284492" y="137744"/>
                </a:lnTo>
                <a:lnTo>
                  <a:pt x="283400" y="136474"/>
                </a:lnTo>
                <a:lnTo>
                  <a:pt x="279209" y="132664"/>
                </a:lnTo>
                <a:lnTo>
                  <a:pt x="275031" y="128854"/>
                </a:lnTo>
                <a:lnTo>
                  <a:pt x="267944" y="125044"/>
                </a:lnTo>
                <a:lnTo>
                  <a:pt x="266750" y="124625"/>
                </a:lnTo>
                <a:lnTo>
                  <a:pt x="266750" y="140284"/>
                </a:lnTo>
                <a:lnTo>
                  <a:pt x="235546" y="170764"/>
                </a:lnTo>
                <a:lnTo>
                  <a:pt x="230987" y="165684"/>
                </a:lnTo>
                <a:lnTo>
                  <a:pt x="228739" y="160604"/>
                </a:lnTo>
                <a:lnTo>
                  <a:pt x="228841" y="149174"/>
                </a:lnTo>
                <a:lnTo>
                  <a:pt x="231038" y="144094"/>
                </a:lnTo>
                <a:lnTo>
                  <a:pt x="240195" y="133934"/>
                </a:lnTo>
                <a:lnTo>
                  <a:pt x="245935" y="132664"/>
                </a:lnTo>
                <a:lnTo>
                  <a:pt x="256908" y="133934"/>
                </a:lnTo>
                <a:lnTo>
                  <a:pt x="261632" y="135204"/>
                </a:lnTo>
                <a:lnTo>
                  <a:pt x="266750" y="140284"/>
                </a:lnTo>
                <a:lnTo>
                  <a:pt x="266750" y="124625"/>
                </a:lnTo>
                <a:lnTo>
                  <a:pt x="260743" y="122504"/>
                </a:lnTo>
                <a:lnTo>
                  <a:pt x="253441" y="121234"/>
                </a:lnTo>
                <a:lnTo>
                  <a:pt x="246291" y="121234"/>
                </a:lnTo>
                <a:lnTo>
                  <a:pt x="216941" y="150444"/>
                </a:lnTo>
                <a:lnTo>
                  <a:pt x="216446" y="158064"/>
                </a:lnTo>
                <a:lnTo>
                  <a:pt x="217551" y="165684"/>
                </a:lnTo>
                <a:lnTo>
                  <a:pt x="244983" y="197434"/>
                </a:lnTo>
                <a:lnTo>
                  <a:pt x="259435" y="201244"/>
                </a:lnTo>
                <a:lnTo>
                  <a:pt x="266649" y="201244"/>
                </a:lnTo>
                <a:lnTo>
                  <a:pt x="273545" y="198704"/>
                </a:lnTo>
                <a:lnTo>
                  <a:pt x="280136" y="194894"/>
                </a:lnTo>
                <a:lnTo>
                  <a:pt x="286435" y="189814"/>
                </a:lnTo>
                <a:lnTo>
                  <a:pt x="287731" y="188544"/>
                </a:lnTo>
                <a:lnTo>
                  <a:pt x="292925" y="183464"/>
                </a:lnTo>
                <a:lnTo>
                  <a:pt x="296672" y="175844"/>
                </a:lnTo>
                <a:lnTo>
                  <a:pt x="298716" y="161874"/>
                </a:lnTo>
                <a:close/>
              </a:path>
              <a:path w="899160" h="467360">
                <a:moveTo>
                  <a:pt x="391248" y="119964"/>
                </a:moveTo>
                <a:lnTo>
                  <a:pt x="390867" y="116154"/>
                </a:lnTo>
                <a:lnTo>
                  <a:pt x="389470" y="111074"/>
                </a:lnTo>
                <a:lnTo>
                  <a:pt x="388327" y="107264"/>
                </a:lnTo>
                <a:lnTo>
                  <a:pt x="385914" y="102184"/>
                </a:lnTo>
                <a:lnTo>
                  <a:pt x="382104" y="93294"/>
                </a:lnTo>
                <a:lnTo>
                  <a:pt x="378663" y="85674"/>
                </a:lnTo>
                <a:lnTo>
                  <a:pt x="346544" y="14554"/>
                </a:lnTo>
                <a:lnTo>
                  <a:pt x="337007" y="24714"/>
                </a:lnTo>
                <a:lnTo>
                  <a:pt x="357593" y="69164"/>
                </a:lnTo>
                <a:lnTo>
                  <a:pt x="360260" y="74244"/>
                </a:lnTo>
                <a:lnTo>
                  <a:pt x="363181" y="80594"/>
                </a:lnTo>
                <a:lnTo>
                  <a:pt x="366483" y="85674"/>
                </a:lnTo>
                <a:lnTo>
                  <a:pt x="360768" y="81864"/>
                </a:lnTo>
                <a:lnTo>
                  <a:pt x="355053" y="79324"/>
                </a:lnTo>
                <a:lnTo>
                  <a:pt x="327469" y="66624"/>
                </a:lnTo>
                <a:lnTo>
                  <a:pt x="305498" y="56464"/>
                </a:lnTo>
                <a:lnTo>
                  <a:pt x="295287" y="66624"/>
                </a:lnTo>
                <a:lnTo>
                  <a:pt x="296303" y="67081"/>
                </a:lnTo>
                <a:lnTo>
                  <a:pt x="292887" y="67894"/>
                </a:lnTo>
                <a:lnTo>
                  <a:pt x="288620" y="70434"/>
                </a:lnTo>
                <a:lnTo>
                  <a:pt x="283222" y="75514"/>
                </a:lnTo>
                <a:lnTo>
                  <a:pt x="281825" y="78054"/>
                </a:lnTo>
                <a:lnTo>
                  <a:pt x="280670" y="84404"/>
                </a:lnTo>
                <a:lnTo>
                  <a:pt x="281266" y="89484"/>
                </a:lnTo>
                <a:lnTo>
                  <a:pt x="283057" y="95834"/>
                </a:lnTo>
                <a:lnTo>
                  <a:pt x="274586" y="86944"/>
                </a:lnTo>
                <a:lnTo>
                  <a:pt x="266065" y="95834"/>
                </a:lnTo>
                <a:lnTo>
                  <a:pt x="321945" y="151714"/>
                </a:lnTo>
                <a:lnTo>
                  <a:pt x="331419" y="141554"/>
                </a:lnTo>
                <a:lnTo>
                  <a:pt x="298157" y="108534"/>
                </a:lnTo>
                <a:lnTo>
                  <a:pt x="295008" y="104724"/>
                </a:lnTo>
                <a:lnTo>
                  <a:pt x="292684" y="99644"/>
                </a:lnTo>
                <a:lnTo>
                  <a:pt x="291185" y="97104"/>
                </a:lnTo>
                <a:lnTo>
                  <a:pt x="290906" y="95834"/>
                </a:lnTo>
                <a:lnTo>
                  <a:pt x="300050" y="79324"/>
                </a:lnTo>
                <a:lnTo>
                  <a:pt x="303733" y="79324"/>
                </a:lnTo>
                <a:lnTo>
                  <a:pt x="298907" y="68237"/>
                </a:lnTo>
                <a:lnTo>
                  <a:pt x="372452" y="100914"/>
                </a:lnTo>
                <a:lnTo>
                  <a:pt x="373087" y="102184"/>
                </a:lnTo>
                <a:lnTo>
                  <a:pt x="373595" y="103454"/>
                </a:lnTo>
                <a:lnTo>
                  <a:pt x="373976" y="104724"/>
                </a:lnTo>
                <a:lnTo>
                  <a:pt x="376389" y="109804"/>
                </a:lnTo>
                <a:lnTo>
                  <a:pt x="377786" y="112344"/>
                </a:lnTo>
                <a:lnTo>
                  <a:pt x="378167" y="113614"/>
                </a:lnTo>
                <a:lnTo>
                  <a:pt x="378548" y="116154"/>
                </a:lnTo>
                <a:lnTo>
                  <a:pt x="378548" y="118694"/>
                </a:lnTo>
                <a:lnTo>
                  <a:pt x="377913" y="119964"/>
                </a:lnTo>
                <a:lnTo>
                  <a:pt x="377405" y="122504"/>
                </a:lnTo>
                <a:lnTo>
                  <a:pt x="376008" y="123774"/>
                </a:lnTo>
                <a:lnTo>
                  <a:pt x="372452" y="127584"/>
                </a:lnTo>
                <a:lnTo>
                  <a:pt x="370293" y="128854"/>
                </a:lnTo>
                <a:lnTo>
                  <a:pt x="367626" y="131394"/>
                </a:lnTo>
                <a:lnTo>
                  <a:pt x="377659" y="139014"/>
                </a:lnTo>
                <a:lnTo>
                  <a:pt x="380707" y="137744"/>
                </a:lnTo>
                <a:lnTo>
                  <a:pt x="383120" y="135204"/>
                </a:lnTo>
                <a:lnTo>
                  <a:pt x="384898" y="133934"/>
                </a:lnTo>
                <a:lnTo>
                  <a:pt x="387946" y="131394"/>
                </a:lnTo>
                <a:lnTo>
                  <a:pt x="389724" y="127584"/>
                </a:lnTo>
                <a:lnTo>
                  <a:pt x="391248" y="119964"/>
                </a:lnTo>
                <a:close/>
              </a:path>
              <a:path w="899160" h="467360">
                <a:moveTo>
                  <a:pt x="553554" y="408927"/>
                </a:moveTo>
                <a:lnTo>
                  <a:pt x="553046" y="403847"/>
                </a:lnTo>
                <a:lnTo>
                  <a:pt x="549998" y="394957"/>
                </a:lnTo>
                <a:lnTo>
                  <a:pt x="548220" y="392417"/>
                </a:lnTo>
                <a:lnTo>
                  <a:pt x="547331" y="391147"/>
                </a:lnTo>
                <a:lnTo>
                  <a:pt x="543775" y="387337"/>
                </a:lnTo>
                <a:lnTo>
                  <a:pt x="540346" y="383527"/>
                </a:lnTo>
                <a:lnTo>
                  <a:pt x="539203" y="382257"/>
                </a:lnTo>
                <a:lnTo>
                  <a:pt x="539076" y="382193"/>
                </a:lnTo>
                <a:lnTo>
                  <a:pt x="539076" y="411467"/>
                </a:lnTo>
                <a:lnTo>
                  <a:pt x="538568" y="414007"/>
                </a:lnTo>
                <a:lnTo>
                  <a:pt x="537933" y="416547"/>
                </a:lnTo>
                <a:lnTo>
                  <a:pt x="536663" y="419087"/>
                </a:lnTo>
                <a:lnTo>
                  <a:pt x="534758" y="421627"/>
                </a:lnTo>
                <a:lnTo>
                  <a:pt x="533615" y="424167"/>
                </a:lnTo>
                <a:lnTo>
                  <a:pt x="531456" y="426707"/>
                </a:lnTo>
                <a:lnTo>
                  <a:pt x="508977" y="448297"/>
                </a:lnTo>
                <a:lnTo>
                  <a:pt x="482434" y="421627"/>
                </a:lnTo>
                <a:lnTo>
                  <a:pt x="491324" y="412737"/>
                </a:lnTo>
                <a:lnTo>
                  <a:pt x="500214" y="403847"/>
                </a:lnTo>
                <a:lnTo>
                  <a:pt x="505167" y="400037"/>
                </a:lnTo>
                <a:lnTo>
                  <a:pt x="509358" y="396227"/>
                </a:lnTo>
                <a:lnTo>
                  <a:pt x="512787" y="393687"/>
                </a:lnTo>
                <a:lnTo>
                  <a:pt x="516343" y="392417"/>
                </a:lnTo>
                <a:lnTo>
                  <a:pt x="519899" y="392417"/>
                </a:lnTo>
                <a:lnTo>
                  <a:pt x="538187" y="406387"/>
                </a:lnTo>
                <a:lnTo>
                  <a:pt x="538949" y="408927"/>
                </a:lnTo>
                <a:lnTo>
                  <a:pt x="539076" y="411467"/>
                </a:lnTo>
                <a:lnTo>
                  <a:pt x="539076" y="382193"/>
                </a:lnTo>
                <a:lnTo>
                  <a:pt x="534123" y="379717"/>
                </a:lnTo>
                <a:lnTo>
                  <a:pt x="522439" y="378447"/>
                </a:lnTo>
                <a:lnTo>
                  <a:pt x="516597" y="379717"/>
                </a:lnTo>
                <a:lnTo>
                  <a:pt x="510501" y="383527"/>
                </a:lnTo>
                <a:lnTo>
                  <a:pt x="512406" y="377177"/>
                </a:lnTo>
                <a:lnTo>
                  <a:pt x="512572" y="374637"/>
                </a:lnTo>
                <a:lnTo>
                  <a:pt x="512660" y="373367"/>
                </a:lnTo>
                <a:lnTo>
                  <a:pt x="511644" y="368287"/>
                </a:lnTo>
                <a:lnTo>
                  <a:pt x="510501" y="363207"/>
                </a:lnTo>
                <a:lnTo>
                  <a:pt x="509739" y="361937"/>
                </a:lnTo>
                <a:lnTo>
                  <a:pt x="508215" y="359397"/>
                </a:lnTo>
                <a:lnTo>
                  <a:pt x="501357" y="353047"/>
                </a:lnTo>
                <a:lnTo>
                  <a:pt x="501357" y="379717"/>
                </a:lnTo>
                <a:lnTo>
                  <a:pt x="500722" y="382257"/>
                </a:lnTo>
                <a:lnTo>
                  <a:pt x="497547" y="388607"/>
                </a:lnTo>
                <a:lnTo>
                  <a:pt x="494499" y="392417"/>
                </a:lnTo>
                <a:lnTo>
                  <a:pt x="490054" y="396227"/>
                </a:lnTo>
                <a:lnTo>
                  <a:pt x="473290" y="412737"/>
                </a:lnTo>
                <a:lnTo>
                  <a:pt x="450049" y="389877"/>
                </a:lnTo>
                <a:lnTo>
                  <a:pt x="465416" y="374637"/>
                </a:lnTo>
                <a:lnTo>
                  <a:pt x="471004" y="368287"/>
                </a:lnTo>
                <a:lnTo>
                  <a:pt x="475195" y="365747"/>
                </a:lnTo>
                <a:lnTo>
                  <a:pt x="481291" y="361937"/>
                </a:lnTo>
                <a:lnTo>
                  <a:pt x="484339" y="361937"/>
                </a:lnTo>
                <a:lnTo>
                  <a:pt x="501357" y="379717"/>
                </a:lnTo>
                <a:lnTo>
                  <a:pt x="501357" y="353047"/>
                </a:lnTo>
                <a:lnTo>
                  <a:pt x="497039" y="350507"/>
                </a:lnTo>
                <a:lnTo>
                  <a:pt x="486498" y="347967"/>
                </a:lnTo>
                <a:lnTo>
                  <a:pt x="481291" y="347967"/>
                </a:lnTo>
                <a:lnTo>
                  <a:pt x="476211" y="350507"/>
                </a:lnTo>
                <a:lnTo>
                  <a:pt x="471004" y="351777"/>
                </a:lnTo>
                <a:lnTo>
                  <a:pt x="465543" y="355587"/>
                </a:lnTo>
                <a:lnTo>
                  <a:pt x="459701" y="361937"/>
                </a:lnTo>
                <a:lnTo>
                  <a:pt x="430745" y="391147"/>
                </a:lnTo>
                <a:lnTo>
                  <a:pt x="507834" y="467347"/>
                </a:lnTo>
                <a:lnTo>
                  <a:pt x="527050" y="448297"/>
                </a:lnTo>
                <a:lnTo>
                  <a:pt x="537298" y="438137"/>
                </a:lnTo>
                <a:lnTo>
                  <a:pt x="542124" y="433057"/>
                </a:lnTo>
                <a:lnTo>
                  <a:pt x="545934" y="429247"/>
                </a:lnTo>
                <a:lnTo>
                  <a:pt x="548474" y="425437"/>
                </a:lnTo>
                <a:lnTo>
                  <a:pt x="550887" y="420357"/>
                </a:lnTo>
                <a:lnTo>
                  <a:pt x="552538" y="416547"/>
                </a:lnTo>
                <a:lnTo>
                  <a:pt x="553554" y="408927"/>
                </a:lnTo>
                <a:close/>
              </a:path>
              <a:path w="899160" h="467360">
                <a:moveTo>
                  <a:pt x="587590" y="388607"/>
                </a:moveTo>
                <a:lnTo>
                  <a:pt x="558253" y="359397"/>
                </a:lnTo>
                <a:lnTo>
                  <a:pt x="554316" y="355587"/>
                </a:lnTo>
                <a:lnTo>
                  <a:pt x="551141" y="350507"/>
                </a:lnTo>
                <a:lnTo>
                  <a:pt x="547331" y="342887"/>
                </a:lnTo>
                <a:lnTo>
                  <a:pt x="547077" y="341617"/>
                </a:lnTo>
                <a:lnTo>
                  <a:pt x="546823" y="340347"/>
                </a:lnTo>
                <a:lnTo>
                  <a:pt x="559904" y="325107"/>
                </a:lnTo>
                <a:lnTo>
                  <a:pt x="554316" y="313677"/>
                </a:lnTo>
                <a:lnTo>
                  <a:pt x="548982" y="314947"/>
                </a:lnTo>
                <a:lnTo>
                  <a:pt x="544791" y="316217"/>
                </a:lnTo>
                <a:lnTo>
                  <a:pt x="541616" y="320027"/>
                </a:lnTo>
                <a:lnTo>
                  <a:pt x="539330" y="322567"/>
                </a:lnTo>
                <a:lnTo>
                  <a:pt x="537933" y="325107"/>
                </a:lnTo>
                <a:lnTo>
                  <a:pt x="537425" y="327647"/>
                </a:lnTo>
                <a:lnTo>
                  <a:pt x="536790" y="331457"/>
                </a:lnTo>
                <a:lnTo>
                  <a:pt x="537425" y="335267"/>
                </a:lnTo>
                <a:lnTo>
                  <a:pt x="539203" y="341617"/>
                </a:lnTo>
                <a:lnTo>
                  <a:pt x="530694" y="332727"/>
                </a:lnTo>
                <a:lnTo>
                  <a:pt x="522185" y="341617"/>
                </a:lnTo>
                <a:lnTo>
                  <a:pt x="578065" y="397497"/>
                </a:lnTo>
                <a:lnTo>
                  <a:pt x="587590" y="388607"/>
                </a:lnTo>
                <a:close/>
              </a:path>
              <a:path w="899160" h="467360">
                <a:moveTo>
                  <a:pt x="663028" y="312407"/>
                </a:moveTo>
                <a:lnTo>
                  <a:pt x="659726" y="312407"/>
                </a:lnTo>
                <a:lnTo>
                  <a:pt x="656678" y="309867"/>
                </a:lnTo>
                <a:lnTo>
                  <a:pt x="654011" y="308597"/>
                </a:lnTo>
                <a:lnTo>
                  <a:pt x="651217" y="306057"/>
                </a:lnTo>
                <a:lnTo>
                  <a:pt x="645502" y="300977"/>
                </a:lnTo>
                <a:lnTo>
                  <a:pt x="641692" y="297167"/>
                </a:lnTo>
                <a:lnTo>
                  <a:pt x="636612" y="292087"/>
                </a:lnTo>
                <a:lnTo>
                  <a:pt x="635469" y="290969"/>
                </a:lnTo>
                <a:lnTo>
                  <a:pt x="635469" y="320027"/>
                </a:lnTo>
                <a:lnTo>
                  <a:pt x="632929" y="328917"/>
                </a:lnTo>
                <a:lnTo>
                  <a:pt x="630516" y="332727"/>
                </a:lnTo>
                <a:lnTo>
                  <a:pt x="623150" y="340347"/>
                </a:lnTo>
                <a:lnTo>
                  <a:pt x="619467" y="342887"/>
                </a:lnTo>
                <a:lnTo>
                  <a:pt x="612355" y="342887"/>
                </a:lnTo>
                <a:lnTo>
                  <a:pt x="609307" y="341617"/>
                </a:lnTo>
                <a:lnTo>
                  <a:pt x="605116" y="337807"/>
                </a:lnTo>
                <a:lnTo>
                  <a:pt x="603973" y="335267"/>
                </a:lnTo>
                <a:lnTo>
                  <a:pt x="603592" y="332727"/>
                </a:lnTo>
                <a:lnTo>
                  <a:pt x="603084" y="331457"/>
                </a:lnTo>
                <a:lnTo>
                  <a:pt x="603338" y="328917"/>
                </a:lnTo>
                <a:lnTo>
                  <a:pt x="605116" y="323837"/>
                </a:lnTo>
                <a:lnTo>
                  <a:pt x="607275" y="321297"/>
                </a:lnTo>
                <a:lnTo>
                  <a:pt x="616419" y="308597"/>
                </a:lnTo>
                <a:lnTo>
                  <a:pt x="620356" y="302247"/>
                </a:lnTo>
                <a:lnTo>
                  <a:pt x="622515" y="297167"/>
                </a:lnTo>
                <a:lnTo>
                  <a:pt x="625944" y="300977"/>
                </a:lnTo>
                <a:lnTo>
                  <a:pt x="635381" y="317487"/>
                </a:lnTo>
                <a:lnTo>
                  <a:pt x="635469" y="320027"/>
                </a:lnTo>
                <a:lnTo>
                  <a:pt x="635469" y="290969"/>
                </a:lnTo>
                <a:lnTo>
                  <a:pt x="626287" y="281927"/>
                </a:lnTo>
                <a:lnTo>
                  <a:pt x="619848" y="275577"/>
                </a:lnTo>
                <a:lnTo>
                  <a:pt x="616800" y="273037"/>
                </a:lnTo>
                <a:lnTo>
                  <a:pt x="614768" y="271767"/>
                </a:lnTo>
                <a:lnTo>
                  <a:pt x="611720" y="269227"/>
                </a:lnTo>
                <a:lnTo>
                  <a:pt x="608545" y="267957"/>
                </a:lnTo>
                <a:lnTo>
                  <a:pt x="598766" y="267957"/>
                </a:lnTo>
                <a:lnTo>
                  <a:pt x="594575" y="270497"/>
                </a:lnTo>
                <a:lnTo>
                  <a:pt x="590511" y="271767"/>
                </a:lnTo>
                <a:lnTo>
                  <a:pt x="586066" y="275577"/>
                </a:lnTo>
                <a:lnTo>
                  <a:pt x="581367" y="280657"/>
                </a:lnTo>
                <a:lnTo>
                  <a:pt x="576541" y="284467"/>
                </a:lnTo>
                <a:lnTo>
                  <a:pt x="572985" y="289547"/>
                </a:lnTo>
                <a:lnTo>
                  <a:pt x="570572" y="294627"/>
                </a:lnTo>
                <a:lnTo>
                  <a:pt x="568286" y="299707"/>
                </a:lnTo>
                <a:lnTo>
                  <a:pt x="567397" y="304787"/>
                </a:lnTo>
                <a:lnTo>
                  <a:pt x="568413" y="313677"/>
                </a:lnTo>
                <a:lnTo>
                  <a:pt x="570191" y="317487"/>
                </a:lnTo>
                <a:lnTo>
                  <a:pt x="573366" y="322567"/>
                </a:lnTo>
                <a:lnTo>
                  <a:pt x="583780" y="314947"/>
                </a:lnTo>
                <a:lnTo>
                  <a:pt x="580859" y="309867"/>
                </a:lnTo>
                <a:lnTo>
                  <a:pt x="579716" y="304787"/>
                </a:lnTo>
                <a:lnTo>
                  <a:pt x="580224" y="302247"/>
                </a:lnTo>
                <a:lnTo>
                  <a:pt x="580859" y="298437"/>
                </a:lnTo>
                <a:lnTo>
                  <a:pt x="583272" y="293357"/>
                </a:lnTo>
                <a:lnTo>
                  <a:pt x="587717" y="289547"/>
                </a:lnTo>
                <a:lnTo>
                  <a:pt x="592543" y="284467"/>
                </a:lnTo>
                <a:lnTo>
                  <a:pt x="597242" y="281927"/>
                </a:lnTo>
                <a:lnTo>
                  <a:pt x="605116" y="281927"/>
                </a:lnTo>
                <a:lnTo>
                  <a:pt x="608799" y="283197"/>
                </a:lnTo>
                <a:lnTo>
                  <a:pt x="612609" y="287007"/>
                </a:lnTo>
                <a:lnTo>
                  <a:pt x="612990" y="288277"/>
                </a:lnTo>
                <a:lnTo>
                  <a:pt x="613752" y="288277"/>
                </a:lnTo>
                <a:lnTo>
                  <a:pt x="615022" y="289547"/>
                </a:lnTo>
                <a:lnTo>
                  <a:pt x="612736" y="294627"/>
                </a:lnTo>
                <a:lnTo>
                  <a:pt x="608164" y="300977"/>
                </a:lnTo>
                <a:lnTo>
                  <a:pt x="598131" y="313677"/>
                </a:lnTo>
                <a:lnTo>
                  <a:pt x="595718" y="317487"/>
                </a:lnTo>
                <a:lnTo>
                  <a:pt x="594448" y="320027"/>
                </a:lnTo>
                <a:lnTo>
                  <a:pt x="592543" y="322567"/>
                </a:lnTo>
                <a:lnTo>
                  <a:pt x="591400" y="326377"/>
                </a:lnTo>
                <a:lnTo>
                  <a:pt x="590638" y="330187"/>
                </a:lnTo>
                <a:lnTo>
                  <a:pt x="590003" y="332727"/>
                </a:lnTo>
                <a:lnTo>
                  <a:pt x="590169" y="335267"/>
                </a:lnTo>
                <a:lnTo>
                  <a:pt x="590257" y="336537"/>
                </a:lnTo>
                <a:lnTo>
                  <a:pt x="592289" y="344157"/>
                </a:lnTo>
                <a:lnTo>
                  <a:pt x="594194" y="346697"/>
                </a:lnTo>
                <a:lnTo>
                  <a:pt x="596861" y="349237"/>
                </a:lnTo>
                <a:lnTo>
                  <a:pt x="601560" y="354317"/>
                </a:lnTo>
                <a:lnTo>
                  <a:pt x="607021" y="356857"/>
                </a:lnTo>
                <a:lnTo>
                  <a:pt x="619594" y="355587"/>
                </a:lnTo>
                <a:lnTo>
                  <a:pt x="625817" y="353047"/>
                </a:lnTo>
                <a:lnTo>
                  <a:pt x="644359" y="317487"/>
                </a:lnTo>
                <a:lnTo>
                  <a:pt x="647280" y="320027"/>
                </a:lnTo>
                <a:lnTo>
                  <a:pt x="653122" y="322567"/>
                </a:lnTo>
                <a:lnTo>
                  <a:pt x="658075" y="317487"/>
                </a:lnTo>
                <a:lnTo>
                  <a:pt x="663028" y="312407"/>
                </a:lnTo>
                <a:close/>
              </a:path>
              <a:path w="899160" h="467360">
                <a:moveTo>
                  <a:pt x="720559" y="255257"/>
                </a:moveTo>
                <a:lnTo>
                  <a:pt x="687539" y="222237"/>
                </a:lnTo>
                <a:lnTo>
                  <a:pt x="686269" y="220967"/>
                </a:lnTo>
                <a:lnTo>
                  <a:pt x="681824" y="215887"/>
                </a:lnTo>
                <a:lnTo>
                  <a:pt x="678649" y="213347"/>
                </a:lnTo>
                <a:lnTo>
                  <a:pt x="673188" y="209537"/>
                </a:lnTo>
                <a:lnTo>
                  <a:pt x="669886" y="208267"/>
                </a:lnTo>
                <a:lnTo>
                  <a:pt x="663155" y="206997"/>
                </a:lnTo>
                <a:lnTo>
                  <a:pt x="659472" y="208267"/>
                </a:lnTo>
                <a:lnTo>
                  <a:pt x="651344" y="210807"/>
                </a:lnTo>
                <a:lnTo>
                  <a:pt x="635114" y="236207"/>
                </a:lnTo>
                <a:lnTo>
                  <a:pt x="635723" y="243827"/>
                </a:lnTo>
                <a:lnTo>
                  <a:pt x="627849" y="236207"/>
                </a:lnTo>
                <a:lnTo>
                  <a:pt x="619340" y="245097"/>
                </a:lnTo>
                <a:lnTo>
                  <a:pt x="675220" y="300977"/>
                </a:lnTo>
                <a:lnTo>
                  <a:pt x="684618" y="290817"/>
                </a:lnTo>
                <a:lnTo>
                  <a:pt x="654138" y="260337"/>
                </a:lnTo>
                <a:lnTo>
                  <a:pt x="647026" y="253987"/>
                </a:lnTo>
                <a:lnTo>
                  <a:pt x="643597" y="247637"/>
                </a:lnTo>
                <a:lnTo>
                  <a:pt x="643763" y="245097"/>
                </a:lnTo>
                <a:lnTo>
                  <a:pt x="643851" y="243827"/>
                </a:lnTo>
                <a:lnTo>
                  <a:pt x="644359" y="236207"/>
                </a:lnTo>
                <a:lnTo>
                  <a:pt x="646518" y="231127"/>
                </a:lnTo>
                <a:lnTo>
                  <a:pt x="653122" y="224777"/>
                </a:lnTo>
                <a:lnTo>
                  <a:pt x="655789" y="223507"/>
                </a:lnTo>
                <a:lnTo>
                  <a:pt x="661885" y="222237"/>
                </a:lnTo>
                <a:lnTo>
                  <a:pt x="664679" y="222237"/>
                </a:lnTo>
                <a:lnTo>
                  <a:pt x="670013" y="224777"/>
                </a:lnTo>
                <a:lnTo>
                  <a:pt x="673315" y="227317"/>
                </a:lnTo>
                <a:lnTo>
                  <a:pt x="677125" y="231127"/>
                </a:lnTo>
                <a:lnTo>
                  <a:pt x="711161" y="264147"/>
                </a:lnTo>
                <a:lnTo>
                  <a:pt x="720559" y="255257"/>
                </a:lnTo>
                <a:close/>
              </a:path>
              <a:path w="899160" h="467360">
                <a:moveTo>
                  <a:pt x="737222" y="156197"/>
                </a:moveTo>
                <a:lnTo>
                  <a:pt x="701255" y="120637"/>
                </a:lnTo>
                <a:lnTo>
                  <a:pt x="691857" y="129527"/>
                </a:lnTo>
                <a:lnTo>
                  <a:pt x="718273" y="156197"/>
                </a:lnTo>
                <a:lnTo>
                  <a:pt x="737222" y="156197"/>
                </a:lnTo>
                <a:close/>
              </a:path>
              <a:path w="899160" h="467360">
                <a:moveTo>
                  <a:pt x="778344" y="196837"/>
                </a:moveTo>
                <a:lnTo>
                  <a:pt x="754341" y="173113"/>
                </a:lnTo>
                <a:lnTo>
                  <a:pt x="754341" y="204457"/>
                </a:lnTo>
                <a:lnTo>
                  <a:pt x="752436" y="210807"/>
                </a:lnTo>
                <a:lnTo>
                  <a:pt x="744308" y="218427"/>
                </a:lnTo>
                <a:lnTo>
                  <a:pt x="738974" y="219697"/>
                </a:lnTo>
                <a:lnTo>
                  <a:pt x="725766" y="219697"/>
                </a:lnTo>
                <a:lnTo>
                  <a:pt x="718908" y="215887"/>
                </a:lnTo>
                <a:lnTo>
                  <a:pt x="711796" y="208267"/>
                </a:lnTo>
                <a:lnTo>
                  <a:pt x="704430" y="200647"/>
                </a:lnTo>
                <a:lnTo>
                  <a:pt x="700366" y="194297"/>
                </a:lnTo>
                <a:lnTo>
                  <a:pt x="699096" y="181597"/>
                </a:lnTo>
                <a:lnTo>
                  <a:pt x="700989" y="176517"/>
                </a:lnTo>
                <a:lnTo>
                  <a:pt x="709510" y="167627"/>
                </a:lnTo>
                <a:lnTo>
                  <a:pt x="714832" y="166357"/>
                </a:lnTo>
                <a:lnTo>
                  <a:pt x="727925" y="167627"/>
                </a:lnTo>
                <a:lnTo>
                  <a:pt x="735037" y="171437"/>
                </a:lnTo>
                <a:lnTo>
                  <a:pt x="742657" y="179057"/>
                </a:lnTo>
                <a:lnTo>
                  <a:pt x="749642" y="185407"/>
                </a:lnTo>
                <a:lnTo>
                  <a:pt x="753325" y="193027"/>
                </a:lnTo>
                <a:lnTo>
                  <a:pt x="754341" y="204457"/>
                </a:lnTo>
                <a:lnTo>
                  <a:pt x="754341" y="173113"/>
                </a:lnTo>
                <a:lnTo>
                  <a:pt x="747509" y="166357"/>
                </a:lnTo>
                <a:lnTo>
                  <a:pt x="738505" y="157467"/>
                </a:lnTo>
                <a:lnTo>
                  <a:pt x="719543" y="157467"/>
                </a:lnTo>
                <a:lnTo>
                  <a:pt x="711542" y="157467"/>
                </a:lnTo>
                <a:lnTo>
                  <a:pt x="707605" y="158737"/>
                </a:lnTo>
                <a:lnTo>
                  <a:pt x="703541" y="160007"/>
                </a:lnTo>
                <a:lnTo>
                  <a:pt x="699731" y="161277"/>
                </a:lnTo>
                <a:lnTo>
                  <a:pt x="696429" y="165087"/>
                </a:lnTo>
                <a:lnTo>
                  <a:pt x="691857" y="170167"/>
                </a:lnTo>
                <a:lnTo>
                  <a:pt x="688936" y="175247"/>
                </a:lnTo>
                <a:lnTo>
                  <a:pt x="687539" y="181597"/>
                </a:lnTo>
                <a:lnTo>
                  <a:pt x="686269" y="187947"/>
                </a:lnTo>
                <a:lnTo>
                  <a:pt x="687031" y="193027"/>
                </a:lnTo>
                <a:lnTo>
                  <a:pt x="713828" y="227317"/>
                </a:lnTo>
                <a:lnTo>
                  <a:pt x="726770" y="232397"/>
                </a:lnTo>
                <a:lnTo>
                  <a:pt x="733120" y="232397"/>
                </a:lnTo>
                <a:lnTo>
                  <a:pt x="745451" y="229857"/>
                </a:lnTo>
                <a:lnTo>
                  <a:pt x="750785" y="227317"/>
                </a:lnTo>
                <a:lnTo>
                  <a:pt x="755230" y="223507"/>
                </a:lnTo>
                <a:lnTo>
                  <a:pt x="757821" y="219697"/>
                </a:lnTo>
                <a:lnTo>
                  <a:pt x="759548" y="217157"/>
                </a:lnTo>
                <a:lnTo>
                  <a:pt x="762241" y="212077"/>
                </a:lnTo>
                <a:lnTo>
                  <a:pt x="763257" y="205727"/>
                </a:lnTo>
                <a:lnTo>
                  <a:pt x="762596" y="199377"/>
                </a:lnTo>
                <a:lnTo>
                  <a:pt x="769581" y="205727"/>
                </a:lnTo>
                <a:lnTo>
                  <a:pt x="775830" y="199377"/>
                </a:lnTo>
                <a:lnTo>
                  <a:pt x="778344" y="196837"/>
                </a:lnTo>
                <a:close/>
              </a:path>
              <a:path w="899160" h="467360">
                <a:moveTo>
                  <a:pt x="830668" y="132067"/>
                </a:moveTo>
                <a:lnTo>
                  <a:pt x="829144" y="124447"/>
                </a:lnTo>
                <a:lnTo>
                  <a:pt x="824953" y="116827"/>
                </a:lnTo>
                <a:lnTo>
                  <a:pt x="814031" y="125717"/>
                </a:lnTo>
                <a:lnTo>
                  <a:pt x="816571" y="130797"/>
                </a:lnTo>
                <a:lnTo>
                  <a:pt x="817460" y="135877"/>
                </a:lnTo>
                <a:lnTo>
                  <a:pt x="800569" y="158737"/>
                </a:lnTo>
                <a:lnTo>
                  <a:pt x="787742" y="158737"/>
                </a:lnTo>
                <a:lnTo>
                  <a:pt x="781265" y="156197"/>
                </a:lnTo>
                <a:lnTo>
                  <a:pt x="774788" y="149847"/>
                </a:lnTo>
                <a:lnTo>
                  <a:pt x="782358" y="142227"/>
                </a:lnTo>
                <a:lnTo>
                  <a:pt x="816444" y="107937"/>
                </a:lnTo>
                <a:lnTo>
                  <a:pt x="815428" y="106667"/>
                </a:lnTo>
                <a:lnTo>
                  <a:pt x="814539" y="106667"/>
                </a:lnTo>
                <a:lnTo>
                  <a:pt x="814031" y="105397"/>
                </a:lnTo>
                <a:lnTo>
                  <a:pt x="811225" y="102857"/>
                </a:lnTo>
                <a:lnTo>
                  <a:pt x="807021" y="99047"/>
                </a:lnTo>
                <a:lnTo>
                  <a:pt x="799934" y="95237"/>
                </a:lnTo>
                <a:lnTo>
                  <a:pt x="798791" y="94843"/>
                </a:lnTo>
                <a:lnTo>
                  <a:pt x="798791" y="110477"/>
                </a:lnTo>
                <a:lnTo>
                  <a:pt x="767549" y="142227"/>
                </a:lnTo>
                <a:lnTo>
                  <a:pt x="762977" y="135877"/>
                </a:lnTo>
                <a:lnTo>
                  <a:pt x="760691" y="130797"/>
                </a:lnTo>
                <a:lnTo>
                  <a:pt x="760818" y="119367"/>
                </a:lnTo>
                <a:lnTo>
                  <a:pt x="763104" y="114287"/>
                </a:lnTo>
                <a:lnTo>
                  <a:pt x="767422" y="109207"/>
                </a:lnTo>
                <a:lnTo>
                  <a:pt x="772248" y="105397"/>
                </a:lnTo>
                <a:lnTo>
                  <a:pt x="777963" y="102857"/>
                </a:lnTo>
                <a:lnTo>
                  <a:pt x="788885" y="104127"/>
                </a:lnTo>
                <a:lnTo>
                  <a:pt x="793584" y="106667"/>
                </a:lnTo>
                <a:lnTo>
                  <a:pt x="798791" y="110477"/>
                </a:lnTo>
                <a:lnTo>
                  <a:pt x="798791" y="94843"/>
                </a:lnTo>
                <a:lnTo>
                  <a:pt x="792734" y="92697"/>
                </a:lnTo>
                <a:lnTo>
                  <a:pt x="785456" y="91427"/>
                </a:lnTo>
                <a:lnTo>
                  <a:pt x="778332" y="91427"/>
                </a:lnTo>
                <a:lnTo>
                  <a:pt x="748969" y="121907"/>
                </a:lnTo>
                <a:lnTo>
                  <a:pt x="748499" y="128257"/>
                </a:lnTo>
                <a:lnTo>
                  <a:pt x="749566" y="135877"/>
                </a:lnTo>
                <a:lnTo>
                  <a:pt x="776973" y="167627"/>
                </a:lnTo>
                <a:lnTo>
                  <a:pt x="791425" y="171437"/>
                </a:lnTo>
                <a:lnTo>
                  <a:pt x="798664" y="171437"/>
                </a:lnTo>
                <a:lnTo>
                  <a:pt x="805561" y="168897"/>
                </a:lnTo>
                <a:lnTo>
                  <a:pt x="812152" y="165087"/>
                </a:lnTo>
                <a:lnTo>
                  <a:pt x="818476" y="160007"/>
                </a:lnTo>
                <a:lnTo>
                  <a:pt x="819772" y="158737"/>
                </a:lnTo>
                <a:lnTo>
                  <a:pt x="824953" y="153657"/>
                </a:lnTo>
                <a:lnTo>
                  <a:pt x="828636" y="146037"/>
                </a:lnTo>
                <a:lnTo>
                  <a:pt x="830668" y="132067"/>
                </a:lnTo>
                <a:close/>
              </a:path>
              <a:path w="899160" h="467360">
                <a:moveTo>
                  <a:pt x="857935" y="35547"/>
                </a:moveTo>
                <a:lnTo>
                  <a:pt x="821905" y="0"/>
                </a:lnTo>
                <a:lnTo>
                  <a:pt x="812507" y="8877"/>
                </a:lnTo>
                <a:lnTo>
                  <a:pt x="838923" y="35547"/>
                </a:lnTo>
                <a:lnTo>
                  <a:pt x="857935" y="35547"/>
                </a:lnTo>
                <a:close/>
              </a:path>
              <a:path w="899160" h="467360">
                <a:moveTo>
                  <a:pt x="899121" y="76187"/>
                </a:moveTo>
                <a:lnTo>
                  <a:pt x="874991" y="52374"/>
                </a:lnTo>
                <a:lnTo>
                  <a:pt x="874991" y="83807"/>
                </a:lnTo>
                <a:lnTo>
                  <a:pt x="873213" y="90157"/>
                </a:lnTo>
                <a:lnTo>
                  <a:pt x="869022" y="93967"/>
                </a:lnTo>
                <a:lnTo>
                  <a:pt x="864958" y="97777"/>
                </a:lnTo>
                <a:lnTo>
                  <a:pt x="859624" y="99047"/>
                </a:lnTo>
                <a:lnTo>
                  <a:pt x="846543" y="99047"/>
                </a:lnTo>
                <a:lnTo>
                  <a:pt x="839685" y="95237"/>
                </a:lnTo>
                <a:lnTo>
                  <a:pt x="832446" y="87617"/>
                </a:lnTo>
                <a:lnTo>
                  <a:pt x="825080" y="79997"/>
                </a:lnTo>
                <a:lnTo>
                  <a:pt x="821016" y="73647"/>
                </a:lnTo>
                <a:lnTo>
                  <a:pt x="820508" y="67297"/>
                </a:lnTo>
                <a:lnTo>
                  <a:pt x="819873" y="60947"/>
                </a:lnTo>
                <a:lnTo>
                  <a:pt x="821651" y="55867"/>
                </a:lnTo>
                <a:lnTo>
                  <a:pt x="830160" y="46977"/>
                </a:lnTo>
                <a:lnTo>
                  <a:pt x="835621" y="45707"/>
                </a:lnTo>
                <a:lnTo>
                  <a:pt x="848575" y="46977"/>
                </a:lnTo>
                <a:lnTo>
                  <a:pt x="855687" y="50800"/>
                </a:lnTo>
                <a:lnTo>
                  <a:pt x="863434" y="58407"/>
                </a:lnTo>
                <a:lnTo>
                  <a:pt x="870292" y="64757"/>
                </a:lnTo>
                <a:lnTo>
                  <a:pt x="873975" y="72377"/>
                </a:lnTo>
                <a:lnTo>
                  <a:pt x="874991" y="83807"/>
                </a:lnTo>
                <a:lnTo>
                  <a:pt x="874991" y="52374"/>
                </a:lnTo>
                <a:lnTo>
                  <a:pt x="868235" y="45707"/>
                </a:lnTo>
                <a:lnTo>
                  <a:pt x="859218" y="36817"/>
                </a:lnTo>
                <a:lnTo>
                  <a:pt x="840193" y="36817"/>
                </a:lnTo>
                <a:lnTo>
                  <a:pt x="832319" y="36817"/>
                </a:lnTo>
                <a:lnTo>
                  <a:pt x="808316" y="60947"/>
                </a:lnTo>
                <a:lnTo>
                  <a:pt x="806919" y="66027"/>
                </a:lnTo>
                <a:lnTo>
                  <a:pt x="828509" y="102857"/>
                </a:lnTo>
                <a:lnTo>
                  <a:pt x="847432" y="111747"/>
                </a:lnTo>
                <a:lnTo>
                  <a:pt x="853782" y="111747"/>
                </a:lnTo>
                <a:lnTo>
                  <a:pt x="866228" y="109207"/>
                </a:lnTo>
                <a:lnTo>
                  <a:pt x="871435" y="106667"/>
                </a:lnTo>
                <a:lnTo>
                  <a:pt x="876007" y="102857"/>
                </a:lnTo>
                <a:lnTo>
                  <a:pt x="878586" y="99047"/>
                </a:lnTo>
                <a:lnTo>
                  <a:pt x="880313" y="96507"/>
                </a:lnTo>
                <a:lnTo>
                  <a:pt x="882954" y="91427"/>
                </a:lnTo>
                <a:lnTo>
                  <a:pt x="883932" y="85077"/>
                </a:lnTo>
                <a:lnTo>
                  <a:pt x="883246" y="78727"/>
                </a:lnTo>
                <a:lnTo>
                  <a:pt x="890358" y="85077"/>
                </a:lnTo>
                <a:lnTo>
                  <a:pt x="896607" y="78727"/>
                </a:lnTo>
                <a:lnTo>
                  <a:pt x="899121" y="76187"/>
                </a:lnTo>
                <a:close/>
              </a:path>
            </a:pathLst>
          </a:custGeom>
          <a:solidFill>
            <a:srgbClr val="FFE9D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966769" y="3911906"/>
            <a:ext cx="2865120" cy="1025525"/>
            <a:chOff x="1966769" y="3911906"/>
            <a:chExt cx="2865120" cy="1025525"/>
          </a:xfrm>
        </p:grpSpPr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66769" y="3911906"/>
              <a:ext cx="1359360" cy="94125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63087" y="3912527"/>
              <a:ext cx="1468754" cy="1024432"/>
            </a:xfrm>
            <a:prstGeom prst="rect">
              <a:avLst/>
            </a:prstGeom>
          </p:spPr>
        </p:pic>
      </p:grpSp>
      <p:sp>
        <p:nvSpPr>
          <p:cNvPr id="28" name="object 28"/>
          <p:cNvSpPr/>
          <p:nvPr/>
        </p:nvSpPr>
        <p:spPr>
          <a:xfrm>
            <a:off x="5091176" y="3913149"/>
            <a:ext cx="255270" cy="198120"/>
          </a:xfrm>
          <a:custGeom>
            <a:avLst/>
            <a:gdLst/>
            <a:ahLst/>
            <a:cxnLst/>
            <a:rect l="l" t="t" r="r" b="b"/>
            <a:pathLst>
              <a:path w="255270" h="198120">
                <a:moveTo>
                  <a:pt x="54920" y="129489"/>
                </a:moveTo>
                <a:lnTo>
                  <a:pt x="34544" y="129489"/>
                </a:lnTo>
                <a:lnTo>
                  <a:pt x="102615" y="197523"/>
                </a:lnTo>
                <a:lnTo>
                  <a:pt x="112775" y="187312"/>
                </a:lnTo>
                <a:lnTo>
                  <a:pt x="54920" y="129489"/>
                </a:lnTo>
                <a:close/>
              </a:path>
              <a:path w="255270" h="198120">
                <a:moveTo>
                  <a:pt x="61213" y="84658"/>
                </a:moveTo>
                <a:lnTo>
                  <a:pt x="0" y="145795"/>
                </a:lnTo>
                <a:lnTo>
                  <a:pt x="9144" y="154901"/>
                </a:lnTo>
                <a:lnTo>
                  <a:pt x="34544" y="129489"/>
                </a:lnTo>
                <a:lnTo>
                  <a:pt x="54920" y="129489"/>
                </a:lnTo>
                <a:lnTo>
                  <a:pt x="44703" y="119278"/>
                </a:lnTo>
                <a:lnTo>
                  <a:pt x="70231" y="93764"/>
                </a:lnTo>
                <a:lnTo>
                  <a:pt x="61213" y="84658"/>
                </a:lnTo>
                <a:close/>
              </a:path>
              <a:path w="255270" h="198120">
                <a:moveTo>
                  <a:pt x="138175" y="62941"/>
                </a:moveTo>
                <a:lnTo>
                  <a:pt x="130741" y="63423"/>
                </a:lnTo>
                <a:lnTo>
                  <a:pt x="130928" y="63423"/>
                </a:lnTo>
                <a:lnTo>
                  <a:pt x="123684" y="65506"/>
                </a:lnTo>
                <a:lnTo>
                  <a:pt x="123952" y="65506"/>
                </a:lnTo>
                <a:lnTo>
                  <a:pt x="117977" y="68747"/>
                </a:lnTo>
                <a:lnTo>
                  <a:pt x="112140" y="73621"/>
                </a:lnTo>
                <a:lnTo>
                  <a:pt x="107164" y="79622"/>
                </a:lnTo>
                <a:lnTo>
                  <a:pt x="103663" y="86059"/>
                </a:lnTo>
                <a:lnTo>
                  <a:pt x="101639" y="92933"/>
                </a:lnTo>
                <a:lnTo>
                  <a:pt x="101091" y="100241"/>
                </a:lnTo>
                <a:lnTo>
                  <a:pt x="102230" y="107746"/>
                </a:lnTo>
                <a:lnTo>
                  <a:pt x="129651" y="139704"/>
                </a:lnTo>
                <a:lnTo>
                  <a:pt x="144145" y="143382"/>
                </a:lnTo>
                <a:lnTo>
                  <a:pt x="151334" y="142782"/>
                </a:lnTo>
                <a:lnTo>
                  <a:pt x="158226" y="140601"/>
                </a:lnTo>
                <a:lnTo>
                  <a:pt x="164808" y="136839"/>
                </a:lnTo>
                <a:lnTo>
                  <a:pt x="171069" y="131495"/>
                </a:lnTo>
                <a:lnTo>
                  <a:pt x="171981" y="130581"/>
                </a:lnTo>
                <a:lnTo>
                  <a:pt x="153162" y="130581"/>
                </a:lnTo>
                <a:lnTo>
                  <a:pt x="140462" y="130301"/>
                </a:lnTo>
                <a:lnTo>
                  <a:pt x="133985" y="127342"/>
                </a:lnTo>
                <a:lnTo>
                  <a:pt x="127508" y="121551"/>
                </a:lnTo>
                <a:lnTo>
                  <a:pt x="135823" y="113233"/>
                </a:lnTo>
                <a:lnTo>
                  <a:pt x="120269" y="113233"/>
                </a:lnTo>
                <a:lnTo>
                  <a:pt x="115697" y="108051"/>
                </a:lnTo>
                <a:lnTo>
                  <a:pt x="113411" y="102514"/>
                </a:lnTo>
                <a:lnTo>
                  <a:pt x="113537" y="90766"/>
                </a:lnTo>
                <a:lnTo>
                  <a:pt x="115697" y="85648"/>
                </a:lnTo>
                <a:lnTo>
                  <a:pt x="120014" y="81292"/>
                </a:lnTo>
                <a:lnTo>
                  <a:pt x="124840" y="76492"/>
                </a:lnTo>
                <a:lnTo>
                  <a:pt x="130556" y="74409"/>
                </a:lnTo>
                <a:lnTo>
                  <a:pt x="163422" y="74409"/>
                </a:lnTo>
                <a:lnTo>
                  <a:pt x="159750" y="71213"/>
                </a:lnTo>
                <a:lnTo>
                  <a:pt x="152653" y="66789"/>
                </a:lnTo>
                <a:lnTo>
                  <a:pt x="145462" y="64031"/>
                </a:lnTo>
                <a:lnTo>
                  <a:pt x="138175" y="62941"/>
                </a:lnTo>
                <a:close/>
              </a:path>
              <a:path w="255270" h="198120">
                <a:moveTo>
                  <a:pt x="177673" y="88874"/>
                </a:moveTo>
                <a:lnTo>
                  <a:pt x="166624" y="97447"/>
                </a:lnTo>
                <a:lnTo>
                  <a:pt x="169163" y="102895"/>
                </a:lnTo>
                <a:lnTo>
                  <a:pt x="170179" y="107746"/>
                </a:lnTo>
                <a:lnTo>
                  <a:pt x="168910" y="116306"/>
                </a:lnTo>
                <a:lnTo>
                  <a:pt x="166877" y="120180"/>
                </a:lnTo>
                <a:lnTo>
                  <a:pt x="163322" y="123659"/>
                </a:lnTo>
                <a:lnTo>
                  <a:pt x="158750" y="128320"/>
                </a:lnTo>
                <a:lnTo>
                  <a:pt x="153162" y="130581"/>
                </a:lnTo>
                <a:lnTo>
                  <a:pt x="171981" y="130581"/>
                </a:lnTo>
                <a:lnTo>
                  <a:pt x="177546" y="125006"/>
                </a:lnTo>
                <a:lnTo>
                  <a:pt x="181356" y="118097"/>
                </a:lnTo>
                <a:lnTo>
                  <a:pt x="183387" y="103428"/>
                </a:lnTo>
                <a:lnTo>
                  <a:pt x="181863" y="96138"/>
                </a:lnTo>
                <a:lnTo>
                  <a:pt x="177673" y="88874"/>
                </a:lnTo>
                <a:close/>
              </a:path>
              <a:path w="255270" h="198120">
                <a:moveTo>
                  <a:pt x="163422" y="74409"/>
                </a:moveTo>
                <a:lnTo>
                  <a:pt x="130556" y="74409"/>
                </a:lnTo>
                <a:lnTo>
                  <a:pt x="141604" y="75425"/>
                </a:lnTo>
                <a:lnTo>
                  <a:pt x="146303" y="77762"/>
                </a:lnTo>
                <a:lnTo>
                  <a:pt x="151384" y="82029"/>
                </a:lnTo>
                <a:lnTo>
                  <a:pt x="120269" y="113233"/>
                </a:lnTo>
                <a:lnTo>
                  <a:pt x="135823" y="113233"/>
                </a:lnTo>
                <a:lnTo>
                  <a:pt x="169163" y="79882"/>
                </a:lnTo>
                <a:lnTo>
                  <a:pt x="168021" y="78714"/>
                </a:lnTo>
                <a:lnTo>
                  <a:pt x="166750" y="77304"/>
                </a:lnTo>
                <a:lnTo>
                  <a:pt x="163422" y="74409"/>
                </a:lnTo>
                <a:close/>
              </a:path>
              <a:path w="255270" h="198120">
                <a:moveTo>
                  <a:pt x="217854" y="14008"/>
                </a:moveTo>
                <a:lnTo>
                  <a:pt x="197103" y="14008"/>
                </a:lnTo>
                <a:lnTo>
                  <a:pt x="200660" y="15824"/>
                </a:lnTo>
                <a:lnTo>
                  <a:pt x="204470" y="19684"/>
                </a:lnTo>
                <a:lnTo>
                  <a:pt x="205739" y="20878"/>
                </a:lnTo>
                <a:lnTo>
                  <a:pt x="206523" y="21793"/>
                </a:lnTo>
                <a:lnTo>
                  <a:pt x="206853" y="22275"/>
                </a:lnTo>
                <a:lnTo>
                  <a:pt x="204597" y="27089"/>
                </a:lnTo>
                <a:lnTo>
                  <a:pt x="200025" y="33807"/>
                </a:lnTo>
                <a:lnTo>
                  <a:pt x="189991" y="46570"/>
                </a:lnTo>
                <a:lnTo>
                  <a:pt x="187706" y="49860"/>
                </a:lnTo>
                <a:lnTo>
                  <a:pt x="186309" y="52209"/>
                </a:lnTo>
                <a:lnTo>
                  <a:pt x="184531" y="55435"/>
                </a:lnTo>
                <a:lnTo>
                  <a:pt x="183261" y="58737"/>
                </a:lnTo>
                <a:lnTo>
                  <a:pt x="181990" y="65506"/>
                </a:lnTo>
                <a:lnTo>
                  <a:pt x="182038" y="66789"/>
                </a:lnTo>
                <a:lnTo>
                  <a:pt x="182118" y="68960"/>
                </a:lnTo>
                <a:lnTo>
                  <a:pt x="184150" y="75971"/>
                </a:lnTo>
                <a:lnTo>
                  <a:pt x="186054" y="79095"/>
                </a:lnTo>
                <a:lnTo>
                  <a:pt x="188849" y="81826"/>
                </a:lnTo>
                <a:lnTo>
                  <a:pt x="193421" y="86499"/>
                </a:lnTo>
                <a:lnTo>
                  <a:pt x="198882" y="88684"/>
                </a:lnTo>
                <a:lnTo>
                  <a:pt x="211582" y="88087"/>
                </a:lnTo>
                <a:lnTo>
                  <a:pt x="217804" y="84861"/>
                </a:lnTo>
                <a:lnTo>
                  <a:pt x="227445" y="75145"/>
                </a:lnTo>
                <a:lnTo>
                  <a:pt x="204215" y="75145"/>
                </a:lnTo>
                <a:lnTo>
                  <a:pt x="201168" y="73990"/>
                </a:lnTo>
                <a:lnTo>
                  <a:pt x="196976" y="69811"/>
                </a:lnTo>
                <a:lnTo>
                  <a:pt x="195961" y="67881"/>
                </a:lnTo>
                <a:lnTo>
                  <a:pt x="194945" y="63423"/>
                </a:lnTo>
                <a:lnTo>
                  <a:pt x="194998" y="62941"/>
                </a:lnTo>
                <a:lnTo>
                  <a:pt x="195108" y="61963"/>
                </a:lnTo>
                <a:lnTo>
                  <a:pt x="208310" y="40944"/>
                </a:lnTo>
                <a:lnTo>
                  <a:pt x="208407" y="40817"/>
                </a:lnTo>
                <a:lnTo>
                  <a:pt x="212344" y="34480"/>
                </a:lnTo>
                <a:lnTo>
                  <a:pt x="214375" y="29629"/>
                </a:lnTo>
                <a:lnTo>
                  <a:pt x="233518" y="29629"/>
                </a:lnTo>
                <a:lnTo>
                  <a:pt x="228600" y="24688"/>
                </a:lnTo>
                <a:lnTo>
                  <a:pt x="217854" y="14008"/>
                </a:lnTo>
                <a:close/>
              </a:path>
              <a:path w="255270" h="198120">
                <a:moveTo>
                  <a:pt x="233518" y="29629"/>
                </a:moveTo>
                <a:lnTo>
                  <a:pt x="214375" y="29629"/>
                </a:lnTo>
                <a:lnTo>
                  <a:pt x="217804" y="33108"/>
                </a:lnTo>
                <a:lnTo>
                  <a:pt x="221996" y="37274"/>
                </a:lnTo>
                <a:lnTo>
                  <a:pt x="224570" y="40817"/>
                </a:lnTo>
                <a:lnTo>
                  <a:pt x="224662" y="40944"/>
                </a:lnTo>
                <a:lnTo>
                  <a:pt x="225823" y="44157"/>
                </a:lnTo>
                <a:lnTo>
                  <a:pt x="227202" y="48209"/>
                </a:lnTo>
                <a:lnTo>
                  <a:pt x="227329" y="52476"/>
                </a:lnTo>
                <a:lnTo>
                  <a:pt x="224848" y="61150"/>
                </a:lnTo>
                <a:lnTo>
                  <a:pt x="224789" y="61353"/>
                </a:lnTo>
                <a:lnTo>
                  <a:pt x="204215" y="75145"/>
                </a:lnTo>
                <a:lnTo>
                  <a:pt x="227445" y="75145"/>
                </a:lnTo>
                <a:lnTo>
                  <a:pt x="236347" y="49999"/>
                </a:lnTo>
                <a:lnTo>
                  <a:pt x="250107" y="49999"/>
                </a:lnTo>
                <a:lnTo>
                  <a:pt x="255015" y="45097"/>
                </a:lnTo>
                <a:lnTo>
                  <a:pt x="251713" y="44157"/>
                </a:lnTo>
                <a:lnTo>
                  <a:pt x="248665" y="42722"/>
                </a:lnTo>
                <a:lnTo>
                  <a:pt x="245908" y="40817"/>
                </a:lnTo>
                <a:lnTo>
                  <a:pt x="243204" y="38861"/>
                </a:lnTo>
                <a:lnTo>
                  <a:pt x="237362" y="33489"/>
                </a:lnTo>
                <a:lnTo>
                  <a:pt x="233518" y="29629"/>
                </a:lnTo>
                <a:close/>
              </a:path>
              <a:path w="255270" h="198120">
                <a:moveTo>
                  <a:pt x="194183" y="0"/>
                </a:moveTo>
                <a:lnTo>
                  <a:pt x="190626" y="787"/>
                </a:lnTo>
                <a:lnTo>
                  <a:pt x="186562" y="2641"/>
                </a:lnTo>
                <a:lnTo>
                  <a:pt x="182372" y="4495"/>
                </a:lnTo>
                <a:lnTo>
                  <a:pt x="177889" y="7848"/>
                </a:lnTo>
                <a:lnTo>
                  <a:pt x="173227" y="12585"/>
                </a:lnTo>
                <a:lnTo>
                  <a:pt x="168401" y="17386"/>
                </a:lnTo>
                <a:lnTo>
                  <a:pt x="164846" y="22275"/>
                </a:lnTo>
                <a:lnTo>
                  <a:pt x="162630" y="27089"/>
                </a:lnTo>
                <a:lnTo>
                  <a:pt x="160147" y="32207"/>
                </a:lnTo>
                <a:lnTo>
                  <a:pt x="159258" y="36868"/>
                </a:lnTo>
                <a:lnTo>
                  <a:pt x="160105" y="44157"/>
                </a:lnTo>
                <a:lnTo>
                  <a:pt x="160214" y="45097"/>
                </a:lnTo>
                <a:lnTo>
                  <a:pt x="160274" y="45605"/>
                </a:lnTo>
                <a:lnTo>
                  <a:pt x="161923" y="49860"/>
                </a:lnTo>
                <a:lnTo>
                  <a:pt x="161978" y="49999"/>
                </a:lnTo>
                <a:lnTo>
                  <a:pt x="162051" y="50190"/>
                </a:lnTo>
                <a:lnTo>
                  <a:pt x="165226" y="54990"/>
                </a:lnTo>
                <a:lnTo>
                  <a:pt x="175768" y="47002"/>
                </a:lnTo>
                <a:lnTo>
                  <a:pt x="172847" y="42011"/>
                </a:lnTo>
                <a:lnTo>
                  <a:pt x="171576" y="37680"/>
                </a:lnTo>
                <a:lnTo>
                  <a:pt x="172128" y="34480"/>
                </a:lnTo>
                <a:lnTo>
                  <a:pt x="172238" y="33807"/>
                </a:lnTo>
                <a:lnTo>
                  <a:pt x="172720" y="30314"/>
                </a:lnTo>
                <a:lnTo>
                  <a:pt x="175260" y="26250"/>
                </a:lnTo>
                <a:lnTo>
                  <a:pt x="179704" y="21793"/>
                </a:lnTo>
                <a:lnTo>
                  <a:pt x="184403" y="17017"/>
                </a:lnTo>
                <a:lnTo>
                  <a:pt x="189102" y="14490"/>
                </a:lnTo>
                <a:lnTo>
                  <a:pt x="197103" y="14008"/>
                </a:lnTo>
                <a:lnTo>
                  <a:pt x="217854" y="14008"/>
                </a:lnTo>
                <a:lnTo>
                  <a:pt x="211709" y="7848"/>
                </a:lnTo>
                <a:lnTo>
                  <a:pt x="208661" y="5092"/>
                </a:lnTo>
                <a:lnTo>
                  <a:pt x="206756" y="3797"/>
                </a:lnTo>
                <a:lnTo>
                  <a:pt x="203581" y="1765"/>
                </a:lnTo>
                <a:lnTo>
                  <a:pt x="200406" y="596"/>
                </a:lnTo>
                <a:lnTo>
                  <a:pt x="194183" y="0"/>
                </a:lnTo>
                <a:close/>
              </a:path>
              <a:path w="255270" h="198120">
                <a:moveTo>
                  <a:pt x="250107" y="49999"/>
                </a:moveTo>
                <a:lnTo>
                  <a:pt x="236347" y="49999"/>
                </a:lnTo>
                <a:lnTo>
                  <a:pt x="239268" y="52349"/>
                </a:lnTo>
                <a:lnTo>
                  <a:pt x="242188" y="54013"/>
                </a:lnTo>
                <a:lnTo>
                  <a:pt x="245110" y="54990"/>
                </a:lnTo>
                <a:lnTo>
                  <a:pt x="250107" y="49999"/>
                </a:lnTo>
                <a:close/>
              </a:path>
            </a:pathLst>
          </a:custGeom>
          <a:solidFill>
            <a:srgbClr val="FFE9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9191" y="1888296"/>
            <a:ext cx="212725" cy="8616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sz="1300" spc="-10" dirty="0">
                <a:solidFill>
                  <a:srgbClr val="FFE9D4"/>
                </a:solidFill>
                <a:latin typeface="Arial MT"/>
                <a:cs typeface="Arial MT"/>
              </a:rPr>
              <a:t>Thousands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62173" y="1394586"/>
            <a:ext cx="181737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FFE9D4"/>
                </a:solidFill>
                <a:latin typeface="Arial MT"/>
                <a:cs typeface="Arial MT"/>
              </a:rPr>
              <a:t>Product</a:t>
            </a:r>
            <a:r>
              <a:rPr sz="1850" spc="15" dirty="0">
                <a:solidFill>
                  <a:srgbClr val="FFE9D4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FFE9D4"/>
                </a:solidFill>
                <a:latin typeface="Arial MT"/>
                <a:cs typeface="Arial MT"/>
              </a:rPr>
              <a:t>category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772911" y="309981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0" y="762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6C41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772911" y="334365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0" y="762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8450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870828" y="2960242"/>
            <a:ext cx="942340" cy="51435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Astoria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200" dirty="0">
                <a:solidFill>
                  <a:srgbClr val="FFE9D4"/>
                </a:solidFill>
                <a:latin typeface="Arial MT"/>
                <a:cs typeface="Arial MT"/>
              </a:rPr>
              <a:t>Hell's</a:t>
            </a:r>
            <a:r>
              <a:rPr sz="1200" spc="-20" dirty="0">
                <a:solidFill>
                  <a:srgbClr val="FFE9D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Kitchen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772911" y="358749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0" y="76199"/>
                </a:lnTo>
                <a:lnTo>
                  <a:pt x="76200" y="76199"/>
                </a:lnTo>
                <a:lnTo>
                  <a:pt x="76200" y="0"/>
                </a:lnTo>
                <a:close/>
              </a:path>
            </a:pathLst>
          </a:custGeom>
          <a:solidFill>
            <a:srgbClr val="BBAA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870828" y="3510788"/>
            <a:ext cx="1200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E9D4"/>
                </a:solidFill>
                <a:latin typeface="Arial MT"/>
                <a:cs typeface="Arial MT"/>
              </a:rPr>
              <a:t>Lower</a:t>
            </a:r>
            <a:r>
              <a:rPr sz="1200" spc="-15" dirty="0">
                <a:solidFill>
                  <a:srgbClr val="FFE9D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9D4"/>
                </a:solidFill>
                <a:latin typeface="Arial MT"/>
                <a:cs typeface="Arial MT"/>
              </a:rPr>
              <a:t>Manhattan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27544" y="1449400"/>
            <a:ext cx="85661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ECDAD0"/>
                </a:solidFill>
                <a:latin typeface="Arial MT"/>
                <a:cs typeface="Arial MT"/>
              </a:rPr>
              <a:t>INSIGHTS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027544" y="1876805"/>
            <a:ext cx="2004060" cy="30130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0"/>
              </a:spcBef>
              <a:buClr>
                <a:srgbClr val="000000"/>
              </a:buClr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The</a:t>
            </a:r>
            <a:r>
              <a:rPr sz="1400" spc="-5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coffee at</a:t>
            </a:r>
            <a:r>
              <a:rPr sz="1400" spc="-5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ECDAD0"/>
                </a:solidFill>
                <a:latin typeface="Arial MT"/>
                <a:cs typeface="Arial MT"/>
              </a:rPr>
              <a:t>Hell’s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kitchen</a:t>
            </a:r>
            <a:r>
              <a:rPr sz="1400" spc="-5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generates</a:t>
            </a:r>
            <a:r>
              <a:rPr sz="1400" spc="-3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ECDAD0"/>
                </a:solidFill>
                <a:latin typeface="Arial MT"/>
                <a:cs typeface="Arial MT"/>
              </a:rPr>
              <a:t>the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company</a:t>
            </a:r>
            <a:r>
              <a:rPr sz="1400" spc="-7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ECDAD0"/>
                </a:solidFill>
                <a:latin typeface="Arial MT"/>
                <a:cs typeface="Arial MT"/>
              </a:rPr>
              <a:t>R91,222.65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being</a:t>
            </a:r>
            <a:r>
              <a:rPr sz="1400" spc="-2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the</a:t>
            </a:r>
            <a:r>
              <a:rPr sz="1400" spc="-2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ECDAD0"/>
                </a:solidFill>
                <a:latin typeface="Arial MT"/>
                <a:cs typeface="Arial MT"/>
              </a:rPr>
              <a:t>highest revenue</a:t>
            </a:r>
            <a:endParaRPr sz="1400">
              <a:latin typeface="Arial MT"/>
              <a:cs typeface="Arial MT"/>
            </a:endParaRPr>
          </a:p>
          <a:p>
            <a:pPr marL="299085" marR="34925" indent="-28702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The</a:t>
            </a:r>
            <a:r>
              <a:rPr sz="1400" spc="-6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company</a:t>
            </a:r>
            <a:r>
              <a:rPr sz="1400" spc="-3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has</a:t>
            </a:r>
            <a:r>
              <a:rPr sz="1400" spc="-3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ECDAD0"/>
                </a:solidFill>
                <a:latin typeface="Arial MT"/>
                <a:cs typeface="Arial MT"/>
              </a:rPr>
              <a:t>a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total</a:t>
            </a:r>
            <a:r>
              <a:rPr sz="1400" spc="-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of</a:t>
            </a:r>
            <a:r>
              <a:rPr sz="1400" spc="-1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9</a:t>
            </a:r>
            <a:r>
              <a:rPr sz="1400" spc="-3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ECDAD0"/>
                </a:solidFill>
                <a:latin typeface="Arial MT"/>
                <a:cs typeface="Arial MT"/>
              </a:rPr>
              <a:t>unique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product</a:t>
            </a:r>
            <a:r>
              <a:rPr sz="1400" spc="-6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category</a:t>
            </a:r>
            <a:r>
              <a:rPr sz="1400" spc="-6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ECDAD0"/>
                </a:solidFill>
                <a:latin typeface="Arial MT"/>
                <a:cs typeface="Arial MT"/>
              </a:rPr>
              <a:t>that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are</a:t>
            </a:r>
            <a:r>
              <a:rPr sz="1400" spc="-2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split</a:t>
            </a:r>
            <a:r>
              <a:rPr sz="1400" spc="-2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into</a:t>
            </a:r>
            <a:r>
              <a:rPr sz="1400" spc="-25" dirty="0">
                <a:solidFill>
                  <a:srgbClr val="ECDAD0"/>
                </a:solidFill>
                <a:latin typeface="Arial MT"/>
                <a:cs typeface="Arial MT"/>
              </a:rPr>
              <a:t> 29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product</a:t>
            </a:r>
            <a:r>
              <a:rPr sz="1400" spc="-6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ECDAD0"/>
                </a:solidFill>
                <a:latin typeface="Arial MT"/>
                <a:cs typeface="Arial MT"/>
              </a:rPr>
              <a:t>groups</a:t>
            </a:r>
            <a:endParaRPr sz="1400">
              <a:latin typeface="Arial MT"/>
              <a:cs typeface="Arial MT"/>
            </a:endParaRPr>
          </a:p>
          <a:p>
            <a:pPr marL="299085" marR="74295" indent="-28702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Packaged</a:t>
            </a:r>
            <a:r>
              <a:rPr sz="1400" spc="-7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ECDAD0"/>
                </a:solidFill>
                <a:latin typeface="Arial MT"/>
                <a:cs typeface="Arial MT"/>
              </a:rPr>
              <a:t>chocolate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generates</a:t>
            </a:r>
            <a:r>
              <a:rPr sz="1400" spc="-5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the</a:t>
            </a:r>
            <a:r>
              <a:rPr sz="1400" spc="-70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ECDAD0"/>
                </a:solidFill>
                <a:latin typeface="Arial MT"/>
                <a:cs typeface="Arial MT"/>
              </a:rPr>
              <a:t>least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amount</a:t>
            </a:r>
            <a:r>
              <a:rPr sz="1400" spc="-4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of</a:t>
            </a:r>
            <a:r>
              <a:rPr sz="1400" spc="-5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money</a:t>
            </a:r>
            <a:r>
              <a:rPr sz="1400" spc="-35" dirty="0">
                <a:solidFill>
                  <a:srgbClr val="ECDAD0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ECDAD0"/>
                </a:solidFill>
                <a:latin typeface="Arial MT"/>
                <a:cs typeface="Arial MT"/>
              </a:rPr>
              <a:t>for </a:t>
            </a:r>
            <a:r>
              <a:rPr sz="1400" dirty="0">
                <a:solidFill>
                  <a:srgbClr val="ECDAD0"/>
                </a:solidFill>
                <a:latin typeface="Arial MT"/>
                <a:cs typeface="Arial MT"/>
              </a:rPr>
              <a:t>the</a:t>
            </a:r>
            <a:r>
              <a:rPr sz="1400" spc="-10" dirty="0">
                <a:solidFill>
                  <a:srgbClr val="ECDAD0"/>
                </a:solidFill>
                <a:latin typeface="Arial MT"/>
                <a:cs typeface="Arial MT"/>
              </a:rPr>
              <a:t> company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160792"/>
            <a:ext cx="1261491" cy="19842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197351"/>
            <a:ext cx="1161288" cy="194767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272271" y="0"/>
            <a:ext cx="871855" cy="2035810"/>
            <a:chOff x="8272271" y="0"/>
            <a:chExt cx="871855" cy="203581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72271" y="0"/>
              <a:ext cx="871727" cy="203568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5423" y="0"/>
              <a:ext cx="798576" cy="1898903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723631" y="3962401"/>
            <a:ext cx="1420495" cy="1183005"/>
            <a:chOff x="7723631" y="3962401"/>
            <a:chExt cx="1420495" cy="118300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3631" y="3962401"/>
              <a:ext cx="1420368" cy="11826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94523" y="4000715"/>
              <a:ext cx="1349476" cy="1144308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0" y="0"/>
            <a:ext cx="1350010" cy="1466215"/>
            <a:chOff x="0" y="0"/>
            <a:chExt cx="1350010" cy="1466215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349883" cy="146570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0"/>
              <a:ext cx="1248918" cy="1329054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89760" y="335279"/>
            <a:ext cx="5472430" cy="1376045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147442" y="426846"/>
            <a:ext cx="484505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4555" marR="5080" indent="-872490">
              <a:lnSpc>
                <a:spcPct val="100000"/>
              </a:lnSpc>
              <a:spcBef>
                <a:spcPts val="100"/>
              </a:spcBef>
            </a:pPr>
            <a:r>
              <a:rPr spc="310" dirty="0"/>
              <a:t>FACTORS</a:t>
            </a:r>
            <a:r>
              <a:rPr dirty="0"/>
              <a:t> </a:t>
            </a:r>
            <a:r>
              <a:rPr spc="270" dirty="0"/>
              <a:t>INFLUENCING </a:t>
            </a:r>
            <a:r>
              <a:rPr spc="285" dirty="0"/>
              <a:t>CONSUMPTION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86485" y="1507362"/>
            <a:ext cx="2057400" cy="10045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105"/>
              </a:spcBef>
            </a:pPr>
            <a:r>
              <a:rPr sz="1600" b="1" u="sng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1.</a:t>
            </a:r>
            <a:r>
              <a:rPr sz="1600" b="1" u="sng" spc="-20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-10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Products</a:t>
            </a:r>
            <a:endParaRPr sz="1600">
              <a:latin typeface="Arial"/>
              <a:cs typeface="Arial"/>
            </a:endParaRPr>
          </a:p>
          <a:p>
            <a:pPr marL="182880" marR="5080" indent="-170815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Char char="•"/>
              <a:tabLst>
                <a:tab pos="182880" algn="l"/>
              </a:tabLst>
            </a:pP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Store</a:t>
            </a:r>
            <a:r>
              <a:rPr sz="1200" spc="-3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location,</a:t>
            </a:r>
            <a:r>
              <a:rPr sz="1200" spc="-7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income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level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and</a:t>
            </a:r>
            <a:r>
              <a:rPr sz="1200" spc="-1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lifestyle</a:t>
            </a:r>
            <a:r>
              <a:rPr sz="1200" spc="-6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are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 significant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factors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driving</a:t>
            </a:r>
            <a:r>
              <a:rPr sz="1200" spc="-7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sales</a:t>
            </a:r>
            <a:endParaRPr sz="1200">
              <a:latin typeface="Arial MT"/>
              <a:cs typeface="Arial MT"/>
            </a:endParaRPr>
          </a:p>
          <a:p>
            <a:pPr marL="268605" indent="-255904">
              <a:lnSpc>
                <a:spcPct val="100000"/>
              </a:lnSpc>
              <a:buClr>
                <a:srgbClr val="000000"/>
              </a:buClr>
              <a:buChar char="•"/>
              <a:tabLst>
                <a:tab pos="268605" algn="l"/>
              </a:tabLst>
            </a:pP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coffee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being</a:t>
            </a:r>
            <a:r>
              <a:rPr sz="1200" spc="-3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the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popular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7173" y="2486405"/>
            <a:ext cx="1970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products</a:t>
            </a:r>
            <a:r>
              <a:rPr sz="1200" spc="-4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that</a:t>
            </a:r>
            <a:r>
              <a:rPr sz="1200" spc="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is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trending</a:t>
            </a:r>
            <a:r>
              <a:rPr sz="1200" spc="-8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as</a:t>
            </a:r>
            <a:r>
              <a:rPr sz="1200" spc="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it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spikes</a:t>
            </a:r>
            <a:r>
              <a:rPr sz="1200" spc="-4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revenue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84275" y="3489197"/>
            <a:ext cx="2049145" cy="1370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5280">
              <a:lnSpc>
                <a:spcPct val="100000"/>
              </a:lnSpc>
              <a:spcBef>
                <a:spcPts val="105"/>
              </a:spcBef>
            </a:pPr>
            <a:r>
              <a:rPr sz="1600" b="1" u="sng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2.</a:t>
            </a:r>
            <a:r>
              <a:rPr sz="1600" b="1" u="sng" spc="-20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Store</a:t>
            </a:r>
            <a:r>
              <a:rPr sz="1600" b="1" u="sng" spc="-10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 locations</a:t>
            </a:r>
            <a:endParaRPr sz="1600">
              <a:latin typeface="Arial"/>
              <a:cs typeface="Arial"/>
            </a:endParaRPr>
          </a:p>
          <a:p>
            <a:pPr marL="182880" marR="92710" indent="-170815">
              <a:lnSpc>
                <a:spcPct val="100000"/>
              </a:lnSpc>
              <a:spcBef>
                <a:spcPts val="15"/>
              </a:spcBef>
              <a:buClr>
                <a:srgbClr val="000000"/>
              </a:buClr>
              <a:buChar char="•"/>
              <a:tabLst>
                <a:tab pos="182880" algn="l"/>
              </a:tabLst>
            </a:pP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Accessibility,</a:t>
            </a:r>
            <a:r>
              <a:rPr sz="1200" spc="-3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proximity</a:t>
            </a:r>
            <a:r>
              <a:rPr sz="1200" spc="5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to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customers</a:t>
            </a:r>
            <a:r>
              <a:rPr sz="1200" spc="-3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and</a:t>
            </a:r>
            <a:r>
              <a:rPr sz="1200" spc="-4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visibility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influence</a:t>
            </a:r>
            <a:r>
              <a:rPr sz="1200" spc="-6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the</a:t>
            </a:r>
            <a:r>
              <a:rPr sz="1200" spc="-1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consumption</a:t>
            </a:r>
            <a:endParaRPr sz="1200">
              <a:latin typeface="Arial MT"/>
              <a:cs typeface="Arial MT"/>
            </a:endParaRPr>
          </a:p>
          <a:p>
            <a:pPr marL="182880" marR="180340" indent="-17081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Char char="•"/>
              <a:tabLst>
                <a:tab pos="182880" algn="l"/>
              </a:tabLst>
            </a:pP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Safety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of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the</a:t>
            </a:r>
            <a:r>
              <a:rPr sz="1200" spc="-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area</a:t>
            </a:r>
            <a:r>
              <a:rPr sz="1200" spc="-5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will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influences</a:t>
            </a:r>
            <a:r>
              <a:rPr sz="1200" spc="-6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the</a:t>
            </a:r>
            <a:r>
              <a:rPr sz="1200" spc="-1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customers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visiting</a:t>
            </a:r>
            <a:r>
              <a:rPr sz="1200" spc="-8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the</a:t>
            </a:r>
            <a:r>
              <a:rPr sz="1200" spc="-1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stores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44873" y="2387345"/>
            <a:ext cx="2298065" cy="5149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600" b="1" u="sng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3.</a:t>
            </a:r>
            <a:r>
              <a:rPr sz="1600" b="1" u="sng" spc="-40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Transaction</a:t>
            </a:r>
            <a:r>
              <a:rPr sz="1600" b="1" u="sng" spc="-25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date</a:t>
            </a:r>
            <a:r>
              <a:rPr sz="1600" b="1" u="sng" spc="-35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-25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</a:pPr>
            <a:r>
              <a:rPr sz="1600" b="1" u="sng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transaction</a:t>
            </a:r>
            <a:r>
              <a:rPr sz="1600" b="1" u="sng" spc="-90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-20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time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32682" y="2878327"/>
            <a:ext cx="231457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Char char="•"/>
              <a:tabLst>
                <a:tab pos="299085" algn="l"/>
              </a:tabLst>
            </a:pP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If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majority</a:t>
            </a:r>
            <a:r>
              <a:rPr sz="1200" spc="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of</a:t>
            </a:r>
            <a:r>
              <a:rPr sz="1200" spc="-4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the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customers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visiting</a:t>
            </a:r>
            <a:r>
              <a:rPr sz="1200" spc="-7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the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coffee</a:t>
            </a:r>
            <a:r>
              <a:rPr sz="1200" spc="-1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are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working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most</a:t>
            </a:r>
            <a:r>
              <a:rPr sz="1200" spc="2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likely</a:t>
            </a:r>
            <a:r>
              <a:rPr sz="1200" spc="-7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be</a:t>
            </a:r>
            <a:r>
              <a:rPr sz="1200" spc="-1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getting</a:t>
            </a:r>
            <a:r>
              <a:rPr sz="1200" spc="-3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a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lot</a:t>
            </a:r>
            <a:r>
              <a:rPr sz="1200" spc="-1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of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customers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in</a:t>
            </a:r>
            <a:r>
              <a:rPr sz="1200" spc="-3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the</a:t>
            </a:r>
            <a:r>
              <a:rPr sz="1200" spc="-3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morning</a:t>
            </a:r>
            <a:r>
              <a:rPr sz="1200" spc="-3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and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on</a:t>
            </a:r>
            <a:r>
              <a:rPr sz="1200" spc="-3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the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weekdays</a:t>
            </a:r>
            <a:r>
              <a:rPr sz="1200" spc="-3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thus</a:t>
            </a:r>
            <a:r>
              <a:rPr sz="1200" spc="-3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the 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Transaction</a:t>
            </a:r>
            <a:r>
              <a:rPr sz="1200" spc="-4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date</a:t>
            </a:r>
            <a:r>
              <a:rPr sz="1200" spc="3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and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transaction</a:t>
            </a:r>
            <a:r>
              <a:rPr sz="1200" spc="-8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time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are</a:t>
            </a:r>
            <a:r>
              <a:rPr sz="1200" spc="-3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highly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influences</a:t>
            </a:r>
            <a:r>
              <a:rPr sz="1200" spc="-6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by</a:t>
            </a:r>
            <a:r>
              <a:rPr sz="1200" spc="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occupations.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76058" y="2030983"/>
            <a:ext cx="1861185" cy="17360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1630">
              <a:lnSpc>
                <a:spcPct val="100000"/>
              </a:lnSpc>
              <a:spcBef>
                <a:spcPts val="105"/>
              </a:spcBef>
            </a:pPr>
            <a:r>
              <a:rPr sz="1600" b="1" u="sng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4.</a:t>
            </a:r>
            <a:r>
              <a:rPr sz="1600" b="1" u="sng" spc="-20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Unit</a:t>
            </a:r>
            <a:r>
              <a:rPr sz="1600" b="1" u="sng" spc="-10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-20" dirty="0">
                <a:solidFill>
                  <a:srgbClr val="FFEFE2"/>
                </a:solidFill>
                <a:uFill>
                  <a:solidFill>
                    <a:srgbClr val="FFEFE2"/>
                  </a:solidFill>
                </a:uFill>
                <a:latin typeface="Arial"/>
                <a:cs typeface="Arial"/>
              </a:rPr>
              <a:t>Price</a:t>
            </a:r>
            <a:endParaRPr sz="1600">
              <a:latin typeface="Arial"/>
              <a:cs typeface="Arial"/>
            </a:endParaRPr>
          </a:p>
          <a:p>
            <a:pPr marL="183515" marR="5080" indent="-17145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Char char="•"/>
              <a:tabLst>
                <a:tab pos="183515" algn="l"/>
              </a:tabLst>
            </a:pP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Store</a:t>
            </a:r>
            <a:r>
              <a:rPr sz="1200" spc="-1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location,</a:t>
            </a:r>
            <a:r>
              <a:rPr sz="1200" spc="-6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income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level</a:t>
            </a:r>
            <a:r>
              <a:rPr sz="1200" spc="-3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and lifestyle</a:t>
            </a:r>
            <a:r>
              <a:rPr sz="1200" spc="-7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are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significant</a:t>
            </a:r>
            <a:r>
              <a:rPr sz="1200" spc="-7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factors</a:t>
            </a:r>
            <a:r>
              <a:rPr sz="1200" spc="-3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driving sales</a:t>
            </a:r>
            <a:endParaRPr sz="1200">
              <a:latin typeface="Arial MT"/>
              <a:cs typeface="Arial MT"/>
            </a:endParaRPr>
          </a:p>
          <a:p>
            <a:pPr marL="183515" marR="90170" indent="-171450">
              <a:lnSpc>
                <a:spcPct val="100000"/>
              </a:lnSpc>
              <a:buChar char="•"/>
              <a:tabLst>
                <a:tab pos="183515" algn="l"/>
                <a:tab pos="268605" algn="l"/>
              </a:tabLst>
            </a:pPr>
            <a:r>
              <a:rPr sz="1200" dirty="0">
                <a:latin typeface="Arial MT"/>
                <a:cs typeface="Arial MT"/>
              </a:rPr>
              <a:t>	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coffee</a:t>
            </a:r>
            <a:r>
              <a:rPr sz="1200" spc="-1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being</a:t>
            </a:r>
            <a:r>
              <a:rPr sz="1200" spc="-3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the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popular</a:t>
            </a:r>
            <a:r>
              <a:rPr sz="1200" spc="-7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products</a:t>
            </a:r>
            <a:r>
              <a:rPr sz="1200" spc="-4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that</a:t>
            </a:r>
            <a:r>
              <a:rPr sz="1200" spc="-2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EFE2"/>
                </a:solidFill>
                <a:latin typeface="Arial MT"/>
                <a:cs typeface="Arial MT"/>
              </a:rPr>
              <a:t>is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trending</a:t>
            </a:r>
            <a:r>
              <a:rPr sz="1200" spc="-60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as</a:t>
            </a:r>
            <a:r>
              <a:rPr sz="1200" spc="-1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EFE2"/>
                </a:solidFill>
                <a:latin typeface="Arial MT"/>
                <a:cs typeface="Arial MT"/>
              </a:rPr>
              <a:t>it</a:t>
            </a:r>
            <a:r>
              <a:rPr sz="1200" spc="-5" dirty="0">
                <a:solidFill>
                  <a:srgbClr val="FFEFE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EFE2"/>
                </a:solidFill>
                <a:latin typeface="Arial MT"/>
                <a:cs typeface="Arial MT"/>
              </a:rPr>
              <a:t>spikes revenue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37273" cy="22124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6575"/>
            <a:ext cx="637032" cy="203911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241792" y="2980923"/>
            <a:ext cx="902335" cy="2164715"/>
            <a:chOff x="8241792" y="2980923"/>
            <a:chExt cx="902335" cy="216471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41792" y="2980923"/>
              <a:ext cx="902207" cy="21641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14944" y="3017519"/>
              <a:ext cx="829056" cy="211836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0" y="3569261"/>
            <a:ext cx="865505" cy="1576070"/>
            <a:chOff x="0" y="3569261"/>
            <a:chExt cx="865505" cy="157607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3569261"/>
              <a:ext cx="865263" cy="157576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819" y="3606088"/>
              <a:ext cx="691272" cy="140945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325880" y="18287"/>
            <a:ext cx="7818120" cy="1359535"/>
            <a:chOff x="1325880" y="18287"/>
            <a:chExt cx="7818120" cy="1359535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51064" y="18287"/>
              <a:ext cx="1392935" cy="13590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23098" y="55371"/>
              <a:ext cx="1320901" cy="11872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25880" y="295592"/>
              <a:ext cx="6516243" cy="975042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2135">
              <a:lnSpc>
                <a:spcPct val="100000"/>
              </a:lnSpc>
              <a:spcBef>
                <a:spcPts val="100"/>
              </a:spcBef>
            </a:pPr>
            <a:r>
              <a:rPr spc="365" dirty="0"/>
              <a:t>HOW</a:t>
            </a:r>
            <a:r>
              <a:rPr spc="-25" dirty="0"/>
              <a:t> </a:t>
            </a:r>
            <a:r>
              <a:rPr spc="280" dirty="0"/>
              <a:t>TO</a:t>
            </a:r>
            <a:r>
              <a:rPr spc="-5" dirty="0"/>
              <a:t> </a:t>
            </a:r>
            <a:r>
              <a:rPr spc="305" dirty="0"/>
              <a:t>INCREASE</a:t>
            </a:r>
            <a:r>
              <a:rPr spc="-30" dirty="0"/>
              <a:t> </a:t>
            </a:r>
            <a:r>
              <a:rPr spc="275" dirty="0"/>
              <a:t>REVENUE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11733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b="0" dirty="0">
                <a:latin typeface="Times New Roman"/>
                <a:cs typeface="Times New Roman"/>
              </a:rPr>
              <a:t>Introduce</a:t>
            </a:r>
            <a:r>
              <a:rPr sz="1600" b="0" spc="-1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combo</a:t>
            </a:r>
            <a:r>
              <a:rPr sz="1600" b="0" spc="-5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deals</a:t>
            </a:r>
            <a:r>
              <a:rPr sz="1600" b="0" spc="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like</a:t>
            </a:r>
            <a:r>
              <a:rPr sz="1600" b="0" spc="-4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Coffee</a:t>
            </a:r>
            <a:r>
              <a:rPr sz="1600" b="0" spc="-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+</a:t>
            </a:r>
            <a:r>
              <a:rPr sz="1600" b="0" spc="-4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Muffin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at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a</a:t>
            </a:r>
            <a:r>
              <a:rPr sz="1600" b="0" spc="-4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small</a:t>
            </a:r>
            <a:r>
              <a:rPr sz="1600" b="0" spc="-10" dirty="0">
                <a:latin typeface="Times New Roman"/>
                <a:cs typeface="Times New Roman"/>
              </a:rPr>
              <a:t> discount.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b="0" dirty="0">
                <a:latin typeface="Times New Roman"/>
                <a:cs typeface="Times New Roman"/>
              </a:rPr>
              <a:t>Upselling</a:t>
            </a:r>
            <a:r>
              <a:rPr sz="1600" b="0" spc="-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getting</a:t>
            </a:r>
            <a:r>
              <a:rPr sz="1600" b="0" spc="-6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to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train</a:t>
            </a:r>
            <a:r>
              <a:rPr sz="1600" b="0" spc="-2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staff</a:t>
            </a:r>
            <a:r>
              <a:rPr sz="1600" b="0" spc="-5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to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suggest</a:t>
            </a:r>
            <a:r>
              <a:rPr sz="1600" b="0" spc="-2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add-ons</a:t>
            </a:r>
            <a:r>
              <a:rPr sz="1600" b="0" spc="-4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(“Would</a:t>
            </a:r>
            <a:r>
              <a:rPr sz="1600" b="0" spc="1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you</a:t>
            </a:r>
            <a:r>
              <a:rPr sz="1600" b="0" spc="1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like</a:t>
            </a:r>
            <a:r>
              <a:rPr sz="1600" b="0" spc="-4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a</a:t>
            </a:r>
            <a:r>
              <a:rPr sz="1600" b="0" spc="-4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croissant</a:t>
            </a:r>
            <a:r>
              <a:rPr sz="1600" b="0" spc="-40" dirty="0">
                <a:latin typeface="Times New Roman"/>
                <a:cs typeface="Times New Roman"/>
              </a:rPr>
              <a:t> </a:t>
            </a:r>
            <a:r>
              <a:rPr sz="1600" b="0" spc="-20" dirty="0">
                <a:latin typeface="Times New Roman"/>
                <a:cs typeface="Times New Roman"/>
              </a:rPr>
              <a:t>with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1600" b="0" dirty="0">
                <a:latin typeface="Times New Roman"/>
                <a:cs typeface="Times New Roman"/>
              </a:rPr>
              <a:t>that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latte?”).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b="0" dirty="0">
                <a:latin typeface="Times New Roman"/>
                <a:cs typeface="Times New Roman"/>
              </a:rPr>
              <a:t>Add</a:t>
            </a:r>
            <a:r>
              <a:rPr sz="1600" b="0" spc="-4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premium</a:t>
            </a:r>
            <a:r>
              <a:rPr sz="1600" b="0" spc="-1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options,</a:t>
            </a:r>
            <a:r>
              <a:rPr sz="1600" b="0" spc="-5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Include</a:t>
            </a:r>
            <a:r>
              <a:rPr sz="1600" b="0" spc="-2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specialty</a:t>
            </a:r>
            <a:r>
              <a:rPr sz="1600" b="0" spc="-3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drinks,</a:t>
            </a:r>
            <a:r>
              <a:rPr sz="1600" b="0" spc="-8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plant-based</a:t>
            </a:r>
            <a:r>
              <a:rPr sz="1600" b="0" spc="-6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milks,</a:t>
            </a:r>
            <a:r>
              <a:rPr sz="1600" b="0" spc="-4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or</a:t>
            </a:r>
            <a:r>
              <a:rPr sz="1600" b="0" spc="-10" dirty="0">
                <a:latin typeface="Times New Roman"/>
                <a:cs typeface="Times New Roman"/>
              </a:rPr>
              <a:t> signature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1600" b="0" dirty="0">
                <a:latin typeface="Times New Roman"/>
                <a:cs typeface="Times New Roman"/>
              </a:rPr>
              <a:t>blends</a:t>
            </a:r>
            <a:r>
              <a:rPr sz="1600" b="0" spc="-4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with</a:t>
            </a:r>
            <a:r>
              <a:rPr sz="1600" b="0" spc="-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higher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margins</a:t>
            </a:r>
            <a:r>
              <a:rPr sz="1600" b="0" spc="-4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at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a</a:t>
            </a:r>
            <a:r>
              <a:rPr sz="1600" b="0" spc="-2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premium</a:t>
            </a:r>
            <a:r>
              <a:rPr sz="1600" b="0" spc="-45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price.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b="0" spc="-20" dirty="0">
                <a:latin typeface="Times New Roman"/>
                <a:cs typeface="Times New Roman"/>
              </a:rPr>
              <a:t>Limited-</a:t>
            </a:r>
            <a:r>
              <a:rPr sz="1600" b="0" dirty="0">
                <a:latin typeface="Times New Roman"/>
                <a:cs typeface="Times New Roman"/>
              </a:rPr>
              <a:t>time</a:t>
            </a:r>
            <a:r>
              <a:rPr sz="1600" b="0" spc="-1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offers</a:t>
            </a:r>
            <a:r>
              <a:rPr sz="1600" b="0" spc="2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Rotate</a:t>
            </a:r>
            <a:r>
              <a:rPr sz="1600" b="0" spc="-5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seasonal</a:t>
            </a:r>
            <a:r>
              <a:rPr sz="1600" b="0" spc="-1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drinks</a:t>
            </a:r>
            <a:r>
              <a:rPr sz="1600" b="0" spc="-9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(e.g.,</a:t>
            </a:r>
            <a:r>
              <a:rPr sz="1600" b="0" spc="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Pumpkin</a:t>
            </a:r>
            <a:r>
              <a:rPr sz="1600" b="0" spc="-10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Latte,</a:t>
            </a:r>
            <a:r>
              <a:rPr sz="1600" b="0" spc="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Iced</a:t>
            </a:r>
            <a:r>
              <a:rPr sz="1600" b="0" spc="30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Caramel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1600" b="0" dirty="0">
                <a:latin typeface="Times New Roman"/>
                <a:cs typeface="Times New Roman"/>
              </a:rPr>
              <a:t>Mocha)</a:t>
            </a:r>
            <a:r>
              <a:rPr sz="1600" b="0" spc="-6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to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create</a:t>
            </a:r>
            <a:r>
              <a:rPr sz="1600" b="0" spc="-5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urgency.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b="0" spc="-10" dirty="0">
                <a:latin typeface="Times New Roman"/>
                <a:cs typeface="Times New Roman"/>
              </a:rPr>
              <a:t>Cross-</a:t>
            </a:r>
            <a:r>
              <a:rPr sz="1600" b="0" dirty="0">
                <a:latin typeface="Times New Roman"/>
                <a:cs typeface="Times New Roman"/>
              </a:rPr>
              <a:t>sell items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Promote</a:t>
            </a:r>
            <a:r>
              <a:rPr sz="1600" b="0" spc="-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snacks,</a:t>
            </a:r>
            <a:r>
              <a:rPr sz="1600" b="0" spc="-9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bottled</a:t>
            </a:r>
            <a:r>
              <a:rPr sz="1600" b="0" spc="-2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water,</a:t>
            </a:r>
            <a:r>
              <a:rPr sz="1600" b="0" spc="-3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or</a:t>
            </a:r>
            <a:r>
              <a:rPr sz="1600" b="0" spc="-1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merchandise</a:t>
            </a:r>
            <a:r>
              <a:rPr sz="1600" b="0" spc="-6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with</a:t>
            </a:r>
            <a:r>
              <a:rPr sz="1600" b="0" spc="-4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coffee</a:t>
            </a:r>
            <a:r>
              <a:rPr sz="1600" b="0" spc="-5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orders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739" y="-156260"/>
            <a:ext cx="1689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DDBD"/>
                </a:solidFill>
                <a:latin typeface="Arial MT"/>
                <a:cs typeface="Arial MT"/>
              </a:rPr>
              <a:t>•.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776471" y="3483924"/>
            <a:ext cx="2491740" cy="1661160"/>
            <a:chOff x="3776471" y="3483924"/>
            <a:chExt cx="2491740" cy="1661160"/>
          </a:xfrm>
        </p:grpSpPr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76471" y="3483924"/>
              <a:ext cx="2491486" cy="16610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35907" y="3514915"/>
              <a:ext cx="2343975" cy="16301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8494" cy="232219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3804"/>
            <a:ext cx="907986" cy="21725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871023"/>
            <a:ext cx="1712595" cy="1274445"/>
            <a:chOff x="0" y="3871023"/>
            <a:chExt cx="1712595" cy="127444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871023"/>
              <a:ext cx="1712595" cy="1274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3907535"/>
              <a:ext cx="1612392" cy="1237488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037831" y="0"/>
            <a:ext cx="2106295" cy="1938655"/>
            <a:chOff x="7037831" y="0"/>
            <a:chExt cx="2106295" cy="193865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37831" y="0"/>
              <a:ext cx="2106168" cy="19381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10983" y="0"/>
              <a:ext cx="2033016" cy="1801367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7309104" y="3910522"/>
            <a:ext cx="1835150" cy="1235075"/>
            <a:chOff x="7309104" y="3910522"/>
            <a:chExt cx="1835150" cy="1235075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09104" y="3910522"/>
              <a:ext cx="1834896" cy="12345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82256" y="3947159"/>
              <a:ext cx="1761744" cy="1197864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0" y="0"/>
            <a:ext cx="2148840" cy="2398395"/>
            <a:chOff x="0" y="0"/>
            <a:chExt cx="2148840" cy="2398395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0"/>
              <a:ext cx="2148459" cy="239839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0"/>
              <a:ext cx="2046338" cy="2261615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6470903" y="4440937"/>
            <a:ext cx="2099945" cy="704215"/>
            <a:chOff x="6470903" y="4440937"/>
            <a:chExt cx="2099945" cy="704215"/>
          </a:xfrm>
        </p:grpSpPr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70903" y="4440937"/>
              <a:ext cx="2099691" cy="70408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42658" y="4479162"/>
              <a:ext cx="1925561" cy="66586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464689" y="3729634"/>
            <a:ext cx="4215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485" marR="5080" indent="-58419">
              <a:lnSpc>
                <a:spcPct val="100000"/>
              </a:lnSpc>
              <a:spcBef>
                <a:spcPts val="100"/>
              </a:spcBef>
            </a:pPr>
            <a:r>
              <a:rPr sz="1200" b="1" spc="-105" dirty="0">
                <a:solidFill>
                  <a:srgbClr val="FFFFFF"/>
                </a:solidFill>
                <a:latin typeface="Tahoma"/>
                <a:cs typeface="Tahoma"/>
              </a:rPr>
              <a:t>CREDITS:</a:t>
            </a:r>
            <a:r>
              <a:rPr sz="12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70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12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80" dirty="0">
                <a:solidFill>
                  <a:srgbClr val="FFFFFF"/>
                </a:solidFill>
                <a:latin typeface="Tahoma"/>
                <a:cs typeface="Tahoma"/>
              </a:rPr>
              <a:t>presentation</a:t>
            </a:r>
            <a:r>
              <a:rPr sz="1200" b="1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90" dirty="0">
                <a:solidFill>
                  <a:srgbClr val="FFFFFF"/>
                </a:solidFill>
                <a:latin typeface="Tahoma"/>
                <a:cs typeface="Tahoma"/>
              </a:rPr>
              <a:t>template</a:t>
            </a:r>
            <a:r>
              <a:rPr sz="12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100" dirty="0">
                <a:solidFill>
                  <a:srgbClr val="FFFFFF"/>
                </a:solidFill>
                <a:latin typeface="Tahoma"/>
                <a:cs typeface="Tahoma"/>
              </a:rPr>
              <a:t>was</a:t>
            </a:r>
            <a:r>
              <a:rPr sz="12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70" dirty="0">
                <a:solidFill>
                  <a:srgbClr val="FFFFFF"/>
                </a:solidFill>
                <a:latin typeface="Tahoma"/>
                <a:cs typeface="Tahoma"/>
              </a:rPr>
              <a:t>created</a:t>
            </a:r>
            <a:r>
              <a:rPr sz="1200" b="1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11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2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45" dirty="0">
                <a:solidFill>
                  <a:srgbClr val="FFFFFF"/>
                </a:solidFill>
                <a:latin typeface="Tahoma"/>
                <a:cs typeface="Tahoma"/>
                <a:hlinkClick r:id="rId14"/>
              </a:rPr>
              <a:t>Slidesgo</a:t>
            </a:r>
            <a:r>
              <a:rPr sz="1200" b="1" spc="-45" dirty="0">
                <a:solidFill>
                  <a:srgbClr val="FFFFFF"/>
                </a:solidFill>
                <a:latin typeface="Tahoma"/>
                <a:cs typeface="Tahoma"/>
              </a:rPr>
              <a:t>, </a:t>
            </a:r>
            <a:r>
              <a:rPr sz="1200" b="1" spc="-90" dirty="0">
                <a:solidFill>
                  <a:srgbClr val="FFFFFF"/>
                </a:solidFill>
                <a:latin typeface="Tahoma"/>
                <a:cs typeface="Tahoma"/>
              </a:rPr>
              <a:t>including</a:t>
            </a:r>
            <a:r>
              <a:rPr sz="1200" b="1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65" dirty="0">
                <a:solidFill>
                  <a:srgbClr val="FFFFFF"/>
                </a:solidFill>
                <a:latin typeface="Tahoma"/>
                <a:cs typeface="Tahoma"/>
              </a:rPr>
              <a:t>icons</a:t>
            </a:r>
            <a:r>
              <a:rPr sz="12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11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2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70" dirty="0">
                <a:solidFill>
                  <a:srgbClr val="FFFFFF"/>
                </a:solidFill>
                <a:latin typeface="Tahoma"/>
                <a:cs typeface="Tahoma"/>
                <a:hlinkClick r:id="rId15"/>
              </a:rPr>
              <a:t>Flaticon</a:t>
            </a:r>
            <a:r>
              <a:rPr sz="1200" b="1" spc="-70" dirty="0">
                <a:solidFill>
                  <a:srgbClr val="FFFFFF"/>
                </a:solidFill>
                <a:latin typeface="Tahoma"/>
                <a:cs typeface="Tahoma"/>
              </a:rPr>
              <a:t>,</a:t>
            </a:r>
            <a:r>
              <a:rPr sz="1200" b="1" spc="-75" dirty="0">
                <a:solidFill>
                  <a:srgbClr val="FFFFFF"/>
                </a:solidFill>
                <a:latin typeface="Tahoma"/>
                <a:cs typeface="Tahoma"/>
              </a:rPr>
              <a:t> infographics</a:t>
            </a:r>
            <a:r>
              <a:rPr sz="1200" b="1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12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2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95" dirty="0">
                <a:solidFill>
                  <a:srgbClr val="FFFFFF"/>
                </a:solidFill>
                <a:latin typeface="Tahoma"/>
                <a:cs typeface="Tahoma"/>
              </a:rPr>
              <a:t>images</a:t>
            </a:r>
            <a:r>
              <a:rPr sz="12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11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2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ahoma"/>
                <a:cs typeface="Tahoma"/>
                <a:hlinkClick r:id="rId16"/>
              </a:rPr>
              <a:t>Freepik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194560" y="758888"/>
            <a:ext cx="5265166" cy="3296285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364740" marR="5080" indent="-494030">
              <a:lnSpc>
                <a:spcPct val="100000"/>
              </a:lnSpc>
              <a:spcBef>
                <a:spcPts val="114"/>
              </a:spcBef>
            </a:pPr>
            <a:r>
              <a:rPr spc="850" dirty="0"/>
              <a:t>THANK </a:t>
            </a:r>
            <a:r>
              <a:rPr spc="385" dirty="0"/>
              <a:t>YOU!!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774</Words>
  <Application>Microsoft Office PowerPoint</Application>
  <PresentationFormat>Custom</PresentationFormat>
  <Paragraphs>209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MT</vt:lpstr>
      <vt:lpstr>Cambria</vt:lpstr>
      <vt:lpstr>Tahoma</vt:lpstr>
      <vt:lpstr>Times New Roman</vt:lpstr>
      <vt:lpstr>Office Theme</vt:lpstr>
      <vt:lpstr>BrightLearn Coffee Analysis</vt:lpstr>
      <vt:lpstr>Table of contents</vt:lpstr>
      <vt:lpstr>698,800</vt:lpstr>
      <vt:lpstr>PowerPoint Presentation</vt:lpstr>
      <vt:lpstr>MONTHLY AND WEEKLY REVENUE</vt:lpstr>
      <vt:lpstr>01: STORE PERFORMANCE ANALYSIS</vt:lpstr>
      <vt:lpstr>REVENUE BY STORE LOCATION</vt:lpstr>
      <vt:lpstr>MONTHLY SALES BY STORE LOCATION</vt:lpstr>
      <vt:lpstr>SALES BY TIME SPLIT</vt:lpstr>
      <vt:lpstr>PRODUCT PERFORMANCE ANALYSIS</vt:lpstr>
      <vt:lpstr>BEST SELLING PRODUCTS</vt:lpstr>
      <vt:lpstr>Sales performance by product Category</vt:lpstr>
      <vt:lpstr>Store Location sales by product category</vt:lpstr>
      <vt:lpstr>FACTORS INFLUENCING CONSUMPTION</vt:lpstr>
      <vt:lpstr>HOW TO INCREASE REVENUE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BrightLearn Coffee Analysis</dc:title>
  <cp:lastModifiedBy>Microsoft account</cp:lastModifiedBy>
  <cp:revision>1</cp:revision>
  <dcterms:created xsi:type="dcterms:W3CDTF">2025-11-04T09:27:27Z</dcterms:created>
  <dcterms:modified xsi:type="dcterms:W3CDTF">2025-11-04T09:36:36Z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2025-11-04T00:00:00Z</vt:filetime>
  </property>
  <property fmtid="{D5CDD505-2E9C-101B-9397-08002B2CF9AE}" pid="5" name="Producer">
    <vt:lpwstr>iLovePDF</vt:lpwstr>
  </property>
</Properties>
</file>